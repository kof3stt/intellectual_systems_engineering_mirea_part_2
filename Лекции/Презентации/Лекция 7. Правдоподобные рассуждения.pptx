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0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3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5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4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3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2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83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41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31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7240" y="1581913"/>
            <a:ext cx="10515600" cy="1946284"/>
          </a:xfrm>
        </p:spPr>
        <p:txBody>
          <a:bodyPr>
            <a:normAutofit/>
          </a:bodyPr>
          <a:lstStyle/>
          <a:p>
            <a:pPr algn="ctr">
              <a:spcAft>
                <a:spcPts val="0"/>
              </a:spcAft>
              <a:tabLst>
                <a:tab pos="5832475" algn="l"/>
                <a:tab pos="6049010" algn="r"/>
              </a:tabLs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Правдоподобные рассуждения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859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117" y="694944"/>
            <a:ext cx="8403873" cy="572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4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141" y="713232"/>
            <a:ext cx="8935944" cy="546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87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8282" y="382352"/>
            <a:ext cx="20639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6200" marR="96520" indent="228600" algn="ctr">
              <a:lnSpc>
                <a:spcPct val="120000"/>
              </a:lnSpc>
              <a:spcAft>
                <a:spcPts val="0"/>
              </a:spcAft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Факты в БФ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891182"/>
              </p:ext>
            </p:extLst>
          </p:nvPr>
        </p:nvGraphicFramePr>
        <p:xfrm>
          <a:off x="805053" y="1038638"/>
          <a:ext cx="10252710" cy="189509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383394">
                  <a:extLst>
                    <a:ext uri="{9D8B030D-6E8A-4147-A177-3AD203B41FA5}">
                      <a16:colId xmlns:a16="http://schemas.microsoft.com/office/drawing/2014/main" val="96739619"/>
                    </a:ext>
                  </a:extLst>
                </a:gridCol>
                <a:gridCol w="2163322">
                  <a:extLst>
                    <a:ext uri="{9D8B030D-6E8A-4147-A177-3AD203B41FA5}">
                      <a16:colId xmlns:a16="http://schemas.microsoft.com/office/drawing/2014/main" val="1708266192"/>
                    </a:ext>
                  </a:extLst>
                </a:gridCol>
                <a:gridCol w="2286354">
                  <a:extLst>
                    <a:ext uri="{9D8B030D-6E8A-4147-A177-3AD203B41FA5}">
                      <a16:colId xmlns:a16="http://schemas.microsoft.com/office/drawing/2014/main" val="4160218240"/>
                    </a:ext>
                  </a:extLst>
                </a:gridCol>
                <a:gridCol w="2419640">
                  <a:extLst>
                    <a:ext uri="{9D8B030D-6E8A-4147-A177-3AD203B41FA5}">
                      <a16:colId xmlns:a16="http://schemas.microsoft.com/office/drawing/2014/main" val="4173020195"/>
                    </a:ext>
                  </a:extLst>
                </a:gridCol>
              </a:tblGrid>
              <a:tr h="457835">
                <a:tc>
                  <a:txBody>
                    <a:bodyPr/>
                    <a:lstStyle/>
                    <a:p>
                      <a:pPr marL="76200" marR="96520" indent="228600" algn="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Ходить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Летать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Плавать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756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Человек Вася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–1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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384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Рыба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–1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–1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838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Птица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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669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Змея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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70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Человек Петя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τ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τ</a:t>
                      </a:r>
                      <a:r>
                        <a:rPr lang="ru-RU" sz="1600" i="1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Τ</a:t>
                      </a:r>
                      <a:r>
                        <a:rPr lang="ru-RU" sz="1600" i="1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654824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2526792" y="3128353"/>
            <a:ext cx="7604760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6200" marR="96520"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объекты, для которых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= +1 являются положительными примерами; 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объекты, для которых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= </a:t>
            </a:r>
            <a:r>
              <a:rPr lang="ru-RU" sz="16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</a:rPr>
              <a:t>-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 являются отрицательными примерами; 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объекты, для которых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=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 являются противоречивыми примерами; 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объекты, для которых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= τ являют неизвестность.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227832" y="4927676"/>
            <a:ext cx="7445882" cy="92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97155" lvl="0" indent="-342900" algn="just">
              <a:lnSpc>
                <a:spcPct val="120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08940" algn="l"/>
              </a:tabLs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ИНДУКЦИЯ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— ей соответствуют правила первого рода;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96520" lvl="0" indent="-342900" algn="just">
              <a:lnSpc>
                <a:spcPct val="120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08940" algn="l"/>
              </a:tabLs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АНАЛОГИЯ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— ей соответствуют правила второго рода;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АБДУКЦИЯ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используется для проверки каузальной (причинной) 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595079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3152" y="254729"/>
            <a:ext cx="10442448" cy="24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6200" marR="96520" indent="450215" algn="ctr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Формализуем идею первого шага ДСМ-метода.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ctr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Пусть: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(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…,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z="16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— множество объектов;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ctr"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(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…,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11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— множество фрагментов объектов. 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ctr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Допустим известно, что: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ctr">
              <a:lnSpc>
                <a:spcPct val="120000"/>
              </a:lnSpc>
              <a:spcAft>
                <a:spcPts val="0"/>
              </a:spcAft>
            </a:pP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ctr">
              <a:lnSpc>
                <a:spcPct val="120000"/>
              </a:lnSpc>
              <a:spcAft>
                <a:spcPts val="0"/>
              </a:spcAft>
            </a:pP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9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ctr">
              <a:lnSpc>
                <a:spcPct val="120000"/>
              </a:lnSpc>
              <a:spcAft>
                <a:spcPts val="0"/>
              </a:spcAft>
            </a:pP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9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ctr">
              <a:lnSpc>
                <a:spcPct val="120000"/>
              </a:lnSpc>
              <a:spcAft>
                <a:spcPts val="0"/>
              </a:spcAft>
            </a:pP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s-ES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11</a:t>
            </a:r>
            <a:r>
              <a:rPr lang="es-E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712264" y="2887808"/>
            <a:ext cx="5005216" cy="4294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6200" marR="96520" indent="228600" algn="ctr">
              <a:lnSpc>
                <a:spcPct val="120000"/>
              </a:lnSpc>
              <a:spcAft>
                <a:spcPts val="0"/>
              </a:spcAft>
            </a:pP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Доопределение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данных БФ таблицы </a:t>
            </a:r>
            <a:r>
              <a:rPr lang="ru-RU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379486"/>
              </p:ext>
            </p:extLst>
          </p:nvPr>
        </p:nvGraphicFramePr>
        <p:xfrm>
          <a:off x="1050798" y="3754406"/>
          <a:ext cx="10200131" cy="189509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356230">
                  <a:extLst>
                    <a:ext uri="{9D8B030D-6E8A-4147-A177-3AD203B41FA5}">
                      <a16:colId xmlns:a16="http://schemas.microsoft.com/office/drawing/2014/main" val="318737624"/>
                    </a:ext>
                  </a:extLst>
                </a:gridCol>
                <a:gridCol w="1450459">
                  <a:extLst>
                    <a:ext uri="{9D8B030D-6E8A-4147-A177-3AD203B41FA5}">
                      <a16:colId xmlns:a16="http://schemas.microsoft.com/office/drawing/2014/main" val="4134905133"/>
                    </a:ext>
                  </a:extLst>
                </a:gridCol>
                <a:gridCol w="1425978">
                  <a:extLst>
                    <a:ext uri="{9D8B030D-6E8A-4147-A177-3AD203B41FA5}">
                      <a16:colId xmlns:a16="http://schemas.microsoft.com/office/drawing/2014/main" val="1361131920"/>
                    </a:ext>
                  </a:extLst>
                </a:gridCol>
                <a:gridCol w="1744223">
                  <a:extLst>
                    <a:ext uri="{9D8B030D-6E8A-4147-A177-3AD203B41FA5}">
                      <a16:colId xmlns:a16="http://schemas.microsoft.com/office/drawing/2014/main" val="2706982728"/>
                    </a:ext>
                  </a:extLst>
                </a:gridCol>
                <a:gridCol w="1499419">
                  <a:extLst>
                    <a:ext uri="{9D8B030D-6E8A-4147-A177-3AD203B41FA5}">
                      <a16:colId xmlns:a16="http://schemas.microsoft.com/office/drawing/2014/main" val="2235007173"/>
                    </a:ext>
                  </a:extLst>
                </a:gridCol>
                <a:gridCol w="1723822">
                  <a:extLst>
                    <a:ext uri="{9D8B030D-6E8A-4147-A177-3AD203B41FA5}">
                      <a16:colId xmlns:a16="http://schemas.microsoft.com/office/drawing/2014/main" val="118123452"/>
                    </a:ext>
                  </a:extLst>
                </a:gridCol>
              </a:tblGrid>
              <a:tr h="457835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76200" marR="96520" indent="-254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Ноги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4191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Руки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-127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Плавники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-29845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Глаза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-14605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Крылья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718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Человек Вася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94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Рыба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–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–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301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Птица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745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Змея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592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Человек Петя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−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531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808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384" y="337698"/>
            <a:ext cx="7253824" cy="628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62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1" y="237744"/>
            <a:ext cx="6943999" cy="636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9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301812"/>
            <a:ext cx="6998742" cy="378438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704088" y="4352491"/>
            <a:ext cx="10872216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6200" marR="96520"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соответствии с правилами второго рода определим функцию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: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×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где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[+1, </a:t>
            </a:r>
            <a:r>
              <a:rPr lang="ru-RU" sz="16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</a:rPr>
              <a:t>-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1,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0, τ] — множество истинностных оценок.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+, если фрагмент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16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является возможной причиной наличия </a:t>
            </a:r>
            <a:r>
              <a:rPr 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16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ru-RU" sz="16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</a:rPr>
              <a:t>-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если фрагмент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16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является возможной причиной отсутствия </a:t>
            </a:r>
            <a:r>
              <a:rPr 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16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если фрагмент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16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является возможной причиной как наличия, так и отсутствия </a:t>
            </a:r>
            <a:r>
              <a:rPr 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16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6200" marR="96520"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ru-RU" sz="16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τ, если о фрагментах </a:t>
            </a:r>
            <a:r>
              <a:rPr lang="es-E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16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16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ничего не известно.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319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22339" y="217760"/>
            <a:ext cx="5436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6200" marR="96520" indent="228600" algn="ctr">
              <a:lnSpc>
                <a:spcPct val="120000"/>
              </a:lnSpc>
              <a:spcAft>
                <a:spcPts val="0"/>
              </a:spcAft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Развитие данных (гипотез) БФ таблицы </a:t>
            </a:r>
            <a:r>
              <a:rPr lang="ru-RU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637877"/>
              </p:ext>
            </p:extLst>
          </p:nvPr>
        </p:nvGraphicFramePr>
        <p:xfrm>
          <a:off x="1519428" y="1047782"/>
          <a:ext cx="9043416" cy="189509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499600">
                  <a:extLst>
                    <a:ext uri="{9D8B030D-6E8A-4147-A177-3AD203B41FA5}">
                      <a16:colId xmlns:a16="http://schemas.microsoft.com/office/drawing/2014/main" val="773155237"/>
                    </a:ext>
                  </a:extLst>
                </a:gridCol>
                <a:gridCol w="2112542">
                  <a:extLst>
                    <a:ext uri="{9D8B030D-6E8A-4147-A177-3AD203B41FA5}">
                      <a16:colId xmlns:a16="http://schemas.microsoft.com/office/drawing/2014/main" val="2298136035"/>
                    </a:ext>
                  </a:extLst>
                </a:gridCol>
                <a:gridCol w="2141481">
                  <a:extLst>
                    <a:ext uri="{9D8B030D-6E8A-4147-A177-3AD203B41FA5}">
                      <a16:colId xmlns:a16="http://schemas.microsoft.com/office/drawing/2014/main" val="3471558218"/>
                    </a:ext>
                  </a:extLst>
                </a:gridCol>
                <a:gridCol w="2289793">
                  <a:extLst>
                    <a:ext uri="{9D8B030D-6E8A-4147-A177-3AD203B41FA5}">
                      <a16:colId xmlns:a16="http://schemas.microsoft.com/office/drawing/2014/main" val="2719157436"/>
                    </a:ext>
                  </a:extLst>
                </a:gridCol>
              </a:tblGrid>
              <a:tr h="457835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76200" marR="96520" indent="46355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Ходить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10033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Летать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73025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Плавать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620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Ноги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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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191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Руки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τ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τ</a:t>
                      </a:r>
                      <a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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386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Плавники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τ</a:t>
                      </a:r>
                      <a:r>
                        <a:rPr lang="ru-RU" sz="16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τ</a:t>
                      </a:r>
                      <a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τ</a:t>
                      </a:r>
                      <a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8303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Глаза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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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482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Крылья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τ</a:t>
                      </a:r>
                      <a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τ</a:t>
                      </a:r>
                      <a:r>
                        <a:rPr lang="ru-RU" sz="16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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0684536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3769722" y="3253568"/>
            <a:ext cx="46525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6200" marR="96520" indent="228600" algn="ctr">
              <a:lnSpc>
                <a:spcPct val="120000"/>
              </a:lnSpc>
              <a:spcAft>
                <a:spcPts val="0"/>
              </a:spcAft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Дополнение данных БФ таблицы </a:t>
            </a:r>
            <a:r>
              <a:rPr lang="ru-RU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1685"/>
              </p:ext>
            </p:extLst>
          </p:nvPr>
        </p:nvGraphicFramePr>
        <p:xfrm>
          <a:off x="749136" y="4092734"/>
          <a:ext cx="10254813" cy="189509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382714">
                  <a:extLst>
                    <a:ext uri="{9D8B030D-6E8A-4147-A177-3AD203B41FA5}">
                      <a16:colId xmlns:a16="http://schemas.microsoft.com/office/drawing/2014/main" val="3333947556"/>
                    </a:ext>
                  </a:extLst>
                </a:gridCol>
                <a:gridCol w="2164199">
                  <a:extLst>
                    <a:ext uri="{9D8B030D-6E8A-4147-A177-3AD203B41FA5}">
                      <a16:colId xmlns:a16="http://schemas.microsoft.com/office/drawing/2014/main" val="3409808571"/>
                    </a:ext>
                  </a:extLst>
                </a:gridCol>
                <a:gridCol w="2287280">
                  <a:extLst>
                    <a:ext uri="{9D8B030D-6E8A-4147-A177-3AD203B41FA5}">
                      <a16:colId xmlns:a16="http://schemas.microsoft.com/office/drawing/2014/main" val="3865498407"/>
                    </a:ext>
                  </a:extLst>
                </a:gridCol>
                <a:gridCol w="2420620">
                  <a:extLst>
                    <a:ext uri="{9D8B030D-6E8A-4147-A177-3AD203B41FA5}">
                      <a16:colId xmlns:a16="http://schemas.microsoft.com/office/drawing/2014/main" val="322986427"/>
                    </a:ext>
                  </a:extLst>
                </a:gridCol>
              </a:tblGrid>
              <a:tr h="457835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76200" marR="96520" indent="2286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76200" marR="96520" indent="-3048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Ходить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53975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Летать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65405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Плавать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811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Человек Вася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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9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Рыба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254143"/>
                  </a:ext>
                </a:extLst>
              </a:tr>
              <a:tr h="29845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Птица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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361162"/>
                  </a:ext>
                </a:extLst>
              </a:tr>
              <a:tr h="3556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Змея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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459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Человек Петя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τ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96520" indent="228600"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sym typeface="Symbol" panose="05050102010706020507" pitchFamily="18" charset="2"/>
                        </a:rPr>
                        <a:t>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337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155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774" y="234755"/>
            <a:ext cx="4553882" cy="637119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77569" y="234755"/>
            <a:ext cx="45498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Схема алгоритма работы ДСМ-системы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183675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456</Words>
  <Application>Microsoft Office PowerPoint</Application>
  <PresentationFormat>Широкоэкранный</PresentationFormat>
  <Paragraphs>138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Times New Roman</vt:lpstr>
      <vt:lpstr>Тема Office</vt:lpstr>
      <vt:lpstr>Правдоподобные рассуждения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ALEKSEY</cp:lastModifiedBy>
  <cp:revision>38</cp:revision>
  <dcterms:created xsi:type="dcterms:W3CDTF">2020-10-06T14:10:24Z</dcterms:created>
  <dcterms:modified xsi:type="dcterms:W3CDTF">2023-09-14T17:23:40Z</dcterms:modified>
</cp:coreProperties>
</file>