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48" r:id="rId1"/>
  </p:sldMasterIdLst>
  <p:sldIdLst>
    <p:sldId id="257" r:id="rId2"/>
    <p:sldId id="282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4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47" autoAdjust="0"/>
    <p:restoredTop sz="94660"/>
  </p:normalViewPr>
  <p:slideViewPr>
    <p:cSldViewPr snapToGrid="0">
      <p:cViewPr varScale="1">
        <p:scale>
          <a:sx n="84" d="100"/>
          <a:sy n="84" d="100"/>
        </p:scale>
        <p:origin x="53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14.09.2023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6607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14.09.2023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0330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14.09.2023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6579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14.09.2023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0559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14.09.2023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246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14.09.2023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1846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14.09.2023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7318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14.09.2023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825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14.09.2023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9832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14.09.2023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8215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14.09.2023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6418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85646-FAEB-4AB3-A326-0A08349E2827}" type="datetimeFigureOut">
              <a:rPr lang="ru-RU" smtClean="0"/>
              <a:t>14.09.2023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5316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77240" y="2202633"/>
            <a:ext cx="10515600" cy="1325563"/>
          </a:xfrm>
        </p:spPr>
        <p:txBody>
          <a:bodyPr>
            <a:normAutofit/>
          </a:bodyPr>
          <a:lstStyle/>
          <a:p>
            <a:pPr marL="342900" lvl="0" indent="-342900" algn="ctr">
              <a:lnSpc>
                <a:spcPct val="150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Нечеткие алгоритмы обучения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8597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-251942" y="199472"/>
            <a:ext cx="45577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20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Обучающийся нечеткий автомат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164592" y="941696"/>
                <a:ext cx="11384280" cy="13191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Рассмотрим автомат с четким входом i(t) и зависимым от времени нечетким отношением перехода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𝛿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(t). Пусть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∽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s(t) — нечеткое состояние автомата в момент времени t на конечном множестве состояний S={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1  </m:t>
                        </m:r>
                      </m:sub>
                    </m:sSub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 …., 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}, 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𝑙</m:t>
                        </m:r>
                      </m:sub>
                    </m:sSub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- оценка значения i(t).Состояние автомата в момент времени (t+1) определяется 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min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- 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max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композицией:</a:t>
                </a:r>
              </a:p>
              <a:p>
                <a:pPr indent="450215" algn="ctr">
                  <a:lnSpc>
                    <a:spcPct val="12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~</m:t>
                        </m:r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+1</m:t>
                            </m:r>
                          </m:e>
                        </m:d>
                      </m:sub>
                    </m:sSub>
                    <m:d>
                      <m:d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sup</m:t>
                        </m:r>
                      </m:fName>
                      <m:e>
                        <m:func>
                          <m:func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6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min</m:t>
                            </m:r>
                          </m:fName>
                          <m:e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~</m:t>
                                </m:r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𝑠</m:t>
                                </m:r>
                                <m:d>
                                  <m:dPr>
                                    <m:ctrlP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sub>
                            </m:sSub>
                          </m:e>
                        </m:func>
                      </m:e>
                    </m:func>
                    <m:d>
                      <m:d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𝛿</m:t>
                        </m:r>
                        <m:d>
                          <m:d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𝑡</m:t>
                            </m:r>
                          </m:e>
                        </m:d>
                      </m:sub>
                    </m:sSub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sub>
                    </m:sSub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𝑙</m:t>
                        </m:r>
                      </m:sub>
                    </m:sSub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))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        (1)</a:t>
                </a: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92" y="941696"/>
                <a:ext cx="11384280" cy="1319144"/>
              </a:xfrm>
              <a:prstGeom prst="rect">
                <a:avLst/>
              </a:prstGeom>
              <a:blipFill>
                <a:blip r:embed="rId2"/>
                <a:stretch>
                  <a:fillRect l="-268" r="-268" b="-18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/>
              <p:cNvSpPr/>
              <p:nvPr/>
            </p:nvSpPr>
            <p:spPr>
              <a:xfrm>
                <a:off x="548640" y="2652083"/>
                <a:ext cx="11082528" cy="25905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Или аналогично ей. Обучение направлено на изменение нечеткой матрицы переходов: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</m:sub>
                      </m:sSub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</m:t>
                      </m:r>
                      <m:d>
                        <m:d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−1</m:t>
                              </m:r>
                            </m:e>
                          </m:d>
                        </m:sub>
                      </m:sSub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</m:t>
                      </m:r>
                      <m:d>
                        <m:d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где </m:t>
                      </m:r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𝑗</m:t>
                      </m:r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≠</m:t>
                      </m:r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𝑘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ctr">
                  <a:lnSpc>
                    <a:spcPct val="12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𝛿</m:t>
                        </m:r>
                        <m:d>
                          <m:d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𝑡</m:t>
                            </m:r>
                          </m:e>
                        </m:d>
                      </m:sub>
                    </m:sSub>
                    <m:d>
                      <m:d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𝑙</m:t>
                            </m:r>
                          </m:sub>
                        </m:s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 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𝜅𝜇𝛿</m:t>
                        </m:r>
                        <m:d>
                          <m:d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−1</m:t>
                            </m:r>
                          </m:e>
                        </m:d>
                      </m:sub>
                    </m:sSub>
                    <m:d>
                      <m:d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𝑙</m:t>
                            </m:r>
                          </m:sub>
                        </m:s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</m:t>
                    </m:r>
                    <m:d>
                      <m:d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𝜅</m:t>
                        </m:r>
                      </m:sub>
                    </m:sSub>
                    <m:d>
                      <m:d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16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где 0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𝜅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&lt; 1,0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𝜅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</a:t>
                </a:r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≤1, 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𝑘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=1,….,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𝑛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</m:oMath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Константа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определяет скорость обучения. Начало работы автомата возможно без априорной информации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~</m:t>
                        </m:r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0</m:t>
                            </m:r>
                          </m:e>
                        </m:d>
                      </m:sub>
                    </m:sSub>
                    <m:d>
                      <m:d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или 1, а также с априорной информацией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~</m:t>
                        </m:r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0</m:t>
                            </m:r>
                          </m:e>
                        </m:d>
                      </m:sub>
                    </m:sSub>
                    <m:d>
                      <m:d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Величина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𝑘</m:t>
                        </m:r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 </m:t>
                        </m:r>
                      </m:sub>
                    </m:sSub>
                    <m:d>
                      <m:d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зависит от оценки функционирования автомата. Доказано, что имеет место сходимость матрицы переходов, независимо от того, есть ли априорная информация, т.е.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~</m:t>
                        </m:r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0</m:t>
                            </m:r>
                          </m:e>
                        </m:d>
                      </m:sub>
                    </m:sSub>
                    <m:d>
                      <m:d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может быть любым значением из интервала [0,1].</a:t>
                </a:r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2652083"/>
                <a:ext cx="11082528" cy="2590517"/>
              </a:xfrm>
              <a:prstGeom prst="rect">
                <a:avLst/>
              </a:prstGeom>
              <a:blipFill>
                <a:blip r:embed="rId3"/>
                <a:stretch>
                  <a:fillRect l="-275" r="-275" b="-70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9149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62974" y="248448"/>
            <a:ext cx="225125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Модель классификации</a:t>
            </a:r>
            <a:endParaRPr lang="ru-RU" sz="16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2016" y="587002"/>
            <a:ext cx="5837484" cy="4685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280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57818" y="202728"/>
            <a:ext cx="484722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Алгоритм поиска глобального экстремума</a:t>
            </a:r>
            <a:endParaRPr lang="ru-RU" sz="2000" dirty="0"/>
          </a:p>
        </p:txBody>
      </p:sp>
      <p:pic>
        <p:nvPicPr>
          <p:cNvPr id="3" name="Рисунок 2"/>
          <p:cNvPicPr/>
          <p:nvPr/>
        </p:nvPicPr>
        <p:blipFill rotWithShape="1">
          <a:blip r:embed="rId2" cstate="print"/>
          <a:srcRect l="16130" t="22302" r="34767" b="21411"/>
          <a:stretch/>
        </p:blipFill>
        <p:spPr bwMode="auto">
          <a:xfrm>
            <a:off x="2587753" y="763841"/>
            <a:ext cx="6414198" cy="450310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080104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192024" y="71140"/>
                <a:ext cx="11850624" cy="34082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>
                  <a:lnSpc>
                    <a:spcPct val="120000"/>
                  </a:lnSpc>
                </a:pPr>
                <a:r>
                  <a:rPr lang="ru-RU" sz="16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Пример: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Пусть S — множество состояний, V — выходной универсум,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𝛿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- функция выхода (функция принадлежности, указывающая степень оптимума в состоянии s), I(t) - текущее значение целевой функции,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- среднее значение I(t).</a:t>
                </a: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Используется следующий алгоритм изменения функций перехода и выхода в случае глобального поиска:</a:t>
                </a:r>
              </a:p>
              <a:p>
                <a:pPr indent="254000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 I(t) &gt;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то попытка успешна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𝛿</m:t>
                        </m:r>
                        <m:d>
                          <m:d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𝑡</m:t>
                            </m:r>
                          </m:e>
                        </m:d>
                      </m:sub>
                    </m:sSub>
                    <m:d>
                      <m:d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 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𝑘</m:t>
                        </m:r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𝜇𝛿</m:t>
                        </m:r>
                        <m:d>
                          <m:d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𝑡</m:t>
                            </m:r>
                          </m:e>
                        </m:d>
                      </m:sub>
                    </m:sSub>
                    <m:d>
                      <m:d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</m:t>
                    </m:r>
                    <m:d>
                      <m:d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1−</m:t>
                        </m:r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𝛼</m:t>
                        </m:r>
                      </m:e>
                    </m:d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</m:t>
                    </m:r>
                  </m:oMath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254000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 </a:t>
                </a:r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I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</a:t>
                </a:r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то попытка неудачна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𝛿</m:t>
                        </m:r>
                        <m:d>
                          <m:d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+1</m:t>
                            </m:r>
                          </m:e>
                        </m:d>
                      </m:sub>
                    </m:sSub>
                    <m:d>
                      <m:d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 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𝛼𝜇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𝛿</m:t>
                        </m:r>
                        <m:d>
                          <m:d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𝑡</m:t>
                            </m:r>
                          </m:e>
                        </m:d>
                      </m:sub>
                    </m:sSub>
                    <m:d>
                      <m:d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</a:p>
              <a:p>
                <a:pPr indent="254000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𝛼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=1−</m:t>
                    </m:r>
                    <m:d>
                      <m:dPr>
                        <m:begChr m:val="|"/>
                        <m:endChr m:val="|"/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𝐼</m:t>
                                </m:r>
                                <m:d>
                                  <m:dPr>
                                    <m:ctrlP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− </m:t>
                                </m:r>
                                <m:sSub>
                                  <m:sSubPr>
                                    <m:ctrlP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𝛼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&lt;1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- гарантируемая сходимость.</a:t>
                </a: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 случае локального поиска:</a:t>
                </a:r>
              </a:p>
              <a:p>
                <a:pPr indent="254000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 </a:t>
                </a:r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I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</a:t>
                </a:r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)&gt;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то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𝛿</m:t>
                        </m:r>
                        <m:d>
                          <m:d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+1</m:t>
                            </m:r>
                          </m:e>
                        </m:d>
                      </m:sub>
                    </m:sSub>
                    <m:d>
                      <m:d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𝛼𝜇</m:t>
                        </m:r>
                      </m:e>
                      <m:sub>
                        <m:d>
                          <m:d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𝑡</m:t>
                            </m:r>
                          </m:e>
                        </m:d>
                      </m:sub>
                    </m:sSub>
                    <m:d>
                      <m:d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</m:t>
                    </m:r>
                    <m:d>
                      <m:d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1−</m:t>
                        </m:r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𝛼</m:t>
                        </m:r>
                      </m:e>
                    </m:d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</m:t>
                    </m:r>
                  </m:oMath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254000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если </a:t>
                </a:r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I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</a:t>
                </a:r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)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≤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то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𝛿</m:t>
                        </m:r>
                        <m:d>
                          <m:d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+1</m:t>
                            </m:r>
                          </m:e>
                        </m:d>
                      </m:sub>
                    </m:sSub>
                    <m:d>
                      <m:d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𝛼𝜇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𝛿</m:t>
                        </m:r>
                        <m:d>
                          <m:d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𝑡</m:t>
                            </m:r>
                          </m:e>
                        </m:d>
                      </m:sub>
                    </m:sSub>
                    <m:d>
                      <m:d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.</m:t>
                    </m:r>
                  </m:oMath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24" y="71140"/>
                <a:ext cx="11850624" cy="3408241"/>
              </a:xfrm>
              <a:prstGeom prst="rect">
                <a:avLst/>
              </a:prstGeom>
              <a:blipFill>
                <a:blip r:embed="rId2"/>
                <a:stretch>
                  <a:fillRect l="-309" r="-257" b="-3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0" y="3610184"/>
            <a:ext cx="5739392" cy="4294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20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Обучение на основе условной нечеткой меры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Прямоугольник 4"/>
              <p:cNvSpPr/>
              <p:nvPr/>
            </p:nvSpPr>
            <p:spPr>
              <a:xfrm>
                <a:off x="245368" y="4039597"/>
                <a:ext cx="11797280" cy="1182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Пусть X={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 . . . 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}- множество причин (входов) и Y={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1 </m:t>
                        </m:r>
                      </m:sub>
                    </m:sSub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 . . . 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} - множество результатов. Если h — функция из X в интервал [0,1], (h(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≤ . . . ≤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h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d>
                      <m:d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} - нечеткая мера на X, то</a:t>
                </a: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nary>
                      <m:naryPr>
                        <m:limLoc m:val="subSup"/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sub>
                      <m:sup/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</m:e>
                    </m:nary>
                    <m:d>
                      <m:d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∙</m:t>
                        </m:r>
                      </m:e>
                    </m:d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16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=1,…,</m:t>
                            </m:r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𝑛</m:t>
                            </m:r>
                          </m:lim>
                        </m:limLow>
                      </m:fName>
                      <m:e>
                        <m:func>
                          <m:func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6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min</m:t>
                            </m:r>
                          </m:fName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h</m:t>
                            </m:r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 </m:t>
                                </m:r>
                              </m:sub>
                            </m:sSub>
                          </m:e>
                        </m:func>
                      </m:e>
                    </m:func>
                  </m:oMath>
                </a14:m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), </a:t>
                </a:r>
                <a:r>
                  <a:rPr lang="en-US" sz="16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gx</a:t>
                </a:r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)), 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где 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={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 …,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368" y="4039597"/>
                <a:ext cx="11797280" cy="1182631"/>
              </a:xfrm>
              <a:prstGeom prst="rect">
                <a:avLst/>
              </a:prstGeom>
              <a:blipFill>
                <a:blip r:embed="rId3"/>
                <a:stretch>
                  <a:fillRect l="-258" r="-258" b="-525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Прямоугольник 5"/>
              <p:cNvSpPr/>
              <p:nvPr/>
            </p:nvSpPr>
            <p:spPr>
              <a:xfrm>
                <a:off x="0" y="5222228"/>
                <a:ext cx="11027664" cy="13719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Задача состоит в оценке (уточнении) причин по нечеткой информации.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Пусть 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gY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— нечеткая мера на Y, 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gY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связана с 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gX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условной нечеткой мерой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𝜎𝛾</m:t>
                    </m:r>
                    <m:d>
                      <m:d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∙</m:t>
                        </m:r>
                      </m:e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:</m:t>
                    </m:r>
                  </m:oMath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𝑔𝑌</m:t>
                      </m:r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 </m:t>
                      </m:r>
                      <m:nary>
                        <m:naryPr>
                          <m:limLoc m:val="subSup"/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𝑋</m:t>
                          </m:r>
                        </m:sub>
                        <m:sup/>
                        <m:e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𝜎</m:t>
                          </m:r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∙</m:t>
                              </m:r>
                            </m:e>
                            <m:e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𝑔𝑥</m:t>
                          </m:r>
                        </m:e>
                      </m:nary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222228"/>
                <a:ext cx="11027664" cy="13719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5635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Прямоугольник 1"/>
              <p:cNvSpPr/>
              <p:nvPr/>
            </p:nvSpPr>
            <p:spPr>
              <a:xfrm>
                <a:off x="155448" y="336202"/>
                <a:ext cx="11887200" cy="43275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Предполагается следующая интерпретация вводимых мер: </a:t>
                </a:r>
                <a:r>
                  <a:rPr lang="ru-RU" sz="1600" dirty="0" err="1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gX</a:t>
                </a:r>
                <a:r>
                  <a:rPr lang="ru-RU" sz="16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оценивает степень нечеткости утверждения "один из элементов X был причиной",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𝜎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𝑌</m:t>
                    </m:r>
                    <m:d>
                      <m:d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𝐴</m:t>
                        </m:r>
                      </m:e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A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⊂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Y оценивает степень нечеткости утверждения «один из элементов A является результатом благодаря причине x»; 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gY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({y}) характеризует степень нечеткости утверждения: «y — действительный результат».</a:t>
                </a: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А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(y) описывает точность информации A, тогда по определению </a:t>
                </a: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𝑔𝑌</m:t>
                      </m:r>
                      <m:d>
                        <m:d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𝐴</m:t>
                          </m:r>
                        </m:e>
                      </m:d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 </m:t>
                      </m:r>
                      <m:nary>
                        <m:naryPr>
                          <m:limLoc m:val="subSup"/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𝑋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А </m:t>
                              </m:r>
                            </m:sub>
                          </m:sSub>
                        </m:e>
                      </m:nary>
                      <m:d>
                        <m:d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𝑔𝑥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Метод обучения должен соответствовать обязательному условию: при получении информации A нечеткая мера 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gX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меняется таким образом, чтобы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𝑔𝑌</m:t>
                    </m:r>
                    <m:d>
                      <m:d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возрастала. Предположим, что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𝑔𝑥</m:t>
                    </m:r>
                    <m:d>
                      <m:d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∙</m:t>
                        </m:r>
                      </m:e>
                    </m:d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𝜎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𝑌</m:t>
                    </m:r>
                    <m:d>
                      <m:d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∙</m:t>
                        </m:r>
                      </m:e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удовлетворяют -правилу. Пусть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𝜎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𝑌</m:t>
                    </m:r>
                    <m:d>
                      <m:d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∙</m:t>
                        </m:r>
                      </m:e>
                      <m:e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является убывающей, тогда</a:t>
                </a: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𝑔𝑌</m:t>
                    </m:r>
                    <m:d>
                      <m:d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𝐴</m:t>
                        </m:r>
                      </m:e>
                    </m:d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⋁"/>
                        <m:limLoc m:val="subSup"/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[</m:t>
                        </m:r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𝜎</m:t>
                        </m:r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𝑌</m:t>
                        </m:r>
                        <m:d>
                          <m:d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𝐴</m:t>
                            </m:r>
                          </m:e>
                          <m:e>
                            <m:sSub>
                              <m:sSubPr>
                                <m:ctrlP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⋀</m:t>
                        </m:r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𝑔𝑥</m:t>
                        </m:r>
                        <m:d>
                          <m:d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</a:t>
                </a: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={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}. При этих условиях существует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</a:t>
                </a: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𝑔𝑌</m:t>
                    </m:r>
                    <m:d>
                      <m:d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𝐴</m:t>
                        </m:r>
                      </m:e>
                    </m:d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 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𝜎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𝑌</m:t>
                    </m:r>
                    <m:d>
                      <m:d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𝐴</m:t>
                        </m:r>
                      </m:e>
                      <m:e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⋀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𝑔𝑥</m:t>
                    </m:r>
                    <m:d>
                      <m:d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</a:t>
                </a: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𝜎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𝑌</m:t>
                    </m:r>
                    <m:d>
                      <m:d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𝐴</m:t>
                        </m:r>
                      </m:e>
                      <m:e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⋀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𝑔𝑥</m:t>
                    </m:r>
                    <m:d>
                      <m:d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≥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𝜎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𝑌</m:t>
                    </m:r>
                    <m:d>
                      <m:d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𝐴</m:t>
                        </m:r>
                      </m:e>
                      <m:e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𝑙</m:t>
                            </m:r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⋀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𝑔𝑥</m:t>
                    </m:r>
                    <m:d>
                      <m:d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𝑙</m:t>
                            </m:r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</a:t>
                </a: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𝜎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𝑌</m:t>
                    </m:r>
                    <m:d>
                      <m:d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𝐴</m:t>
                        </m:r>
                      </m:e>
                      <m:e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⋀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𝑔𝑥</m:t>
                    </m:r>
                    <m:d>
                      <m:d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≥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𝜎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𝑌</m:t>
                    </m:r>
                    <m:d>
                      <m:d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𝐴</m:t>
                        </m:r>
                      </m:e>
                      <m:e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𝑙</m:t>
                            </m:r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⋀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𝑔𝑥</m:t>
                    </m:r>
                    <m:d>
                      <m:d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𝑙</m:t>
                            </m:r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48" y="336202"/>
                <a:ext cx="11887200" cy="4327595"/>
              </a:xfrm>
              <a:prstGeom prst="rect">
                <a:avLst/>
              </a:prstGeom>
              <a:blipFill>
                <a:blip r:embed="rId2"/>
                <a:stretch>
                  <a:fillRect l="-308" r="-256" b="-2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304800" y="4663797"/>
                <a:ext cx="11887200" cy="9787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Обучение может быть осуществлено увеличением тех значений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(i=1, … ,n ) нечеткой меры g</a:t>
                </a:r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x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которые увеличивают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𝑔𝑌</m:t>
                    </m:r>
                    <m:d>
                      <m:d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и уменьшением тех значений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( i=1, … ,n ) меры g</a:t>
                </a:r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x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которые не увеличивают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𝑔𝑌</m:t>
                    </m:r>
                    <m:d>
                      <m:d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Можно показать, что на величину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𝑔𝑌</m:t>
                    </m:r>
                    <m:d>
                      <m:d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𝐴</m:t>
                        </m:r>
                      </m:e>
                    </m:d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влияют только такие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что 1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≤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i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 ≤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l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Следовательно, нечеткий алгоритм обучения следующий:</a:t>
                </a: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4663797"/>
                <a:ext cx="11887200" cy="978729"/>
              </a:xfrm>
              <a:prstGeom prst="rect">
                <a:avLst/>
              </a:prstGeom>
              <a:blipFill>
                <a:blip r:embed="rId3"/>
                <a:stretch>
                  <a:fillRect l="-256" r="-256" b="-43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/>
              <p:cNvSpPr/>
              <p:nvPr/>
            </p:nvSpPr>
            <p:spPr>
              <a:xfrm>
                <a:off x="3200400" y="5786014"/>
                <a:ext cx="6096000" cy="67390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p>
                    </m:sSup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𝛼</m:t>
                    </m:r>
                    <m:sSup>
                      <m:sSup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p>
                    </m:sSup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+(1−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𝛼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𝜎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𝑌</m:t>
                    </m:r>
                    <m:d>
                      <m:d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𝐴</m:t>
                        </m:r>
                      </m:e>
                      <m:e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; I = 1,…,l;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p>
                    </m:sSup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𝛼</m:t>
                    </m:r>
                    <m:sSup>
                      <m:sSup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; </a:t>
                </a:r>
                <a:r>
                  <a:rPr lang="en-US" sz="16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i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= </a:t>
                </a:r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l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+1,…,</a:t>
                </a:r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n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/</a:t>
                </a:r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5786014"/>
                <a:ext cx="6096000" cy="673902"/>
              </a:xfrm>
              <a:prstGeom prst="rect">
                <a:avLst/>
              </a:prstGeom>
              <a:blipFill>
                <a:blip r:embed="rId4"/>
                <a:stretch>
                  <a:fillRect b="-108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5445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Прямоугольник 1"/>
              <p:cNvSpPr/>
              <p:nvPr/>
            </p:nvSpPr>
            <p:spPr>
              <a:xfrm>
                <a:off x="265176" y="1030491"/>
                <a:ext cx="11612880" cy="36183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Параметр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𝛼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∈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[0,1] регулирует скорость обучения, т.е. скорость сходимости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Чем меньше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тем сильнее изменяется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В приведенном алгоритме нет необходимости увеличивать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больше, чем на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𝜎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𝑌</m:t>
                    </m:r>
                    <m:d>
                      <m:d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𝐴</m:t>
                        </m:r>
                      </m:e>
                      <m:e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так как большое увеличение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не влияет на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𝑔𝑌</m:t>
                    </m:r>
                    <m:d>
                      <m:d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Приведем некоторые свойства модели обучения.</a:t>
                </a: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Свойство 1.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Если повторно поступает одна и та же информация, то происходит следующее:</a:t>
                </a: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1.1. Новое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𝑔</m:t>
                        </m:r>
                      </m:e>
                      <m:sub/>
                      <m:sup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больше старого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𝑔</m:t>
                        </m:r>
                      </m:e>
                      <m:sub/>
                      <m:sup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( i=1, … ,</a:t>
                </a:r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l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) и новое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𝑔</m:t>
                        </m:r>
                      </m:e>
                      <m:sub/>
                      <m:sup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меньше старого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𝑔</m:t>
                        </m:r>
                      </m:e>
                      <m:sub/>
                      <m:sup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( i=l+1, . . . ,n ), следовательно, новая мера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𝑔𝑌</m:t>
                    </m:r>
                    <m:d>
                      <m:d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не меньше старой меры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𝑔𝑌</m:t>
                    </m:r>
                    <m:d>
                      <m:d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и новая мера</a:t>
                </a: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𝑔𝑌</m:t>
                    </m:r>
                    <m:d>
                      <m:d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𝜎𝛾</m:t>
                    </m:r>
                  </m:oMath>
                </a14:m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(A|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∧</m:t>
                    </m:r>
                  </m:oMath>
                </a14:m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gx</a:t>
                </a:r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), k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l;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1.2. При предположении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𝜎𝛾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(</a:t>
                </a:r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|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) &gt;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𝜎𝛾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(</a:t>
                </a:r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|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), </a:t>
                </a:r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k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&lt;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𝑙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 </m:t>
                    </m:r>
                    <m:sSubSup>
                      <m:sSubSup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𝑔</m:t>
                        </m:r>
                      </m:e>
                      <m:sub/>
                      <m:sup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сходится к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𝜎𝛾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(</a:t>
                </a:r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|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)  и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𝑔</m:t>
                        </m:r>
                      </m:e>
                      <m:sub/>
                      <m:sup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сходится к 0 для </a:t>
                </a:r>
                <a:r>
                  <a:rPr lang="en-US" sz="16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i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=2, . . . ,</a:t>
                </a:r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n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Свойство 2.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Если поступает одна и та же информация повторно: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𝑦</m:t>
                        </m:r>
                      </m:e>
                    </m:d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для всех y, то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𝜎𝛾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(</a:t>
                </a:r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|</a:t>
                </a:r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x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)   = </a:t>
                </a:r>
                <a14:m>
                  <m:oMath xmlns:m="http://schemas.openxmlformats.org/officeDocument/2006/math">
                    <m:nary>
                      <m:naryPr>
                        <m:limLoc m:val="subSup"/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𝑋</m:t>
                        </m:r>
                      </m:sub>
                      <m:sup/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𝑐</m:t>
                        </m:r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𝜎𝛾</m:t>
                        </m:r>
                        <m:d>
                          <m:d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∙</m:t>
                            </m:r>
                          </m:e>
                          <m:e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=</m:t>
                        </m:r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𝑐</m:t>
                        </m:r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,</m:t>
                        </m:r>
                      </m:e>
                    </m:nary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𝜎𝛾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(</a:t>
                </a:r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)=</a:t>
                </a:r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∧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𝑔𝑥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</a:t>
                </a:r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X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).</a:t>
                </a: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Следовательно, l=n и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𝑔</m:t>
                        </m:r>
                      </m:e>
                      <m:sub/>
                      <m:sup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сходится к c для всех i.</a:t>
                </a:r>
              </a:p>
            </p:txBody>
          </p:sp>
        </mc:Choice>
        <mc:Fallback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176" y="1030491"/>
                <a:ext cx="11612880" cy="3618363"/>
              </a:xfrm>
              <a:prstGeom prst="rect">
                <a:avLst/>
              </a:prstGeom>
              <a:blipFill>
                <a:blip r:embed="rId2"/>
                <a:stretch>
                  <a:fillRect l="-315" r="-262" b="-33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100584" y="4648854"/>
                <a:ext cx="11015472" cy="7254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i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Свойство 3.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Предельное значение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𝑔</m:t>
                        </m:r>
                      </m:e>
                      <m:sub/>
                      <m:sup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 зависит от начального значения тогда, когда на вход повторно поступает одна и та же информация.</a:t>
                </a: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84" y="4648854"/>
                <a:ext cx="11015472" cy="725455"/>
              </a:xfrm>
              <a:prstGeom prst="rect">
                <a:avLst/>
              </a:prstGeom>
              <a:blipFill>
                <a:blip r:embed="rId3"/>
                <a:stretch>
                  <a:fillRect l="-332" r="-277" b="-672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8872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Прямоугольник 1"/>
              <p:cNvSpPr/>
              <p:nvPr/>
            </p:nvSpPr>
            <p:spPr>
              <a:xfrm>
                <a:off x="649224" y="737067"/>
                <a:ext cx="11055096" cy="46903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— оценивает число точек, проанализированных на предыдущих шагах;</a:t>
                </a: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— оценивает среднее значение функции по результатам предыдущих шагов;</a:t>
                </a: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— оценивает число точек, значение функции в которых принадлежит десятке лучших в своей области;</a:t>
                </a: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— оценивает максимум по прошлым попыткам;</a:t>
                </a: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— оценивает градиент функции.</a:t>
                </a: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 описанном случае </a:t>
                </a:r>
                <a:r>
                  <a:rPr lang="en-US" sz="16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gx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показывает степень важности подмножеств критериев и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𝜎𝛾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({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}|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) оценивает предположение о нахождении экстремума в блоке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соответствии с критерием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Например,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𝜎𝛾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({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}|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) может зависеть от числа ранее проанализированных точек в блоке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Пусть входная информация A определяется формулой:</a:t>
                </a:r>
              </a:p>
              <a:p>
                <a:pPr indent="254000" algn="ctr">
                  <a:lnSpc>
                    <a:spcPct val="12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ru-RU" sz="16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𝑘</m:t>
                                </m:r>
                              </m:lim>
                            </m:limLow>
                          </m:fName>
                          <m:e>
                            <m:sSub>
                              <m:sSubPr>
                                <m:ctrlP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ru-RU" sz="16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𝑘</m:t>
                                </m:r>
                              </m:lim>
                            </m:limLow>
                          </m:fName>
                          <m:e>
                            <m:sSub>
                              <m:sSubPr>
                                <m:ctrlP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limLow>
                                  <m:limLowPr>
                                    <m:ctrlP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ru-RU" sz="16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min</m:t>
                                    </m:r>
                                  </m:e>
                                  <m:lim>
                                    <m: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𝑘</m:t>
                                    </m:r>
                                  </m:lim>
                                </m:limLow>
                              </m:fName>
                              <m:e>
                                <m:sSub>
                                  <m:sSubPr>
                                    <m:ctrlP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func>
                          </m:e>
                        </m:func>
                      </m:den>
                    </m:f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</a:t>
                </a: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— максимум анализируемой функции, найденный к рассматриваемому моменту в блоке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Очевидно, что A сходится к 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максимизирующему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множеству функции. На каждой итерации осуществляется следующее: проверяется заданное число новых точек; число этих точек выбирается пропорционально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𝑔𝑌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}); в каждой точке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вычисляется и нормализуется мера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𝜎𝛾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∙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|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), нормализуется 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gx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; по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𝜎𝛾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𝜎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вычисляется </a:t>
                </a:r>
                <a:r>
                  <a:rPr lang="en-US" sz="16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gy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}), а затем 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gy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(A); посредством правил подкрепления корректируется 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gy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}). Затем выполняется новая итерация, и так до тех пор, пока не сойдется 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gy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224" y="737067"/>
                <a:ext cx="11055096" cy="4690387"/>
              </a:xfrm>
              <a:prstGeom prst="rect">
                <a:avLst/>
              </a:prstGeom>
              <a:blipFill>
                <a:blip r:embed="rId2"/>
                <a:stretch>
                  <a:fillRect l="-331" r="-276" b="-26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406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89744"/>
            <a:ext cx="5860643" cy="4294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20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Адаптивный нечеткий логический регулятор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00" y="654261"/>
            <a:ext cx="6312637" cy="184512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986" y="2634485"/>
            <a:ext cx="4550830" cy="372472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Прямоугольник 4"/>
              <p:cNvSpPr/>
              <p:nvPr/>
            </p:nvSpPr>
            <p:spPr>
              <a:xfrm>
                <a:off x="6996137" y="519157"/>
                <a:ext cx="4971288" cy="30945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254000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U(t) – управление, генерируемое НЛРУП;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254000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E(t) – ошибка отклонение от устанавливаемого выходного значения процесса s ;</a:t>
                </a:r>
              </a:p>
              <a:p>
                <a:pPr indent="254000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 – желаемое значение выхода управляемого процесса, C(t)= E(t) - E(t - 1) ;</a:t>
                </a:r>
              </a:p>
              <a:p>
                <a:pPr indent="254000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P(t) – модификация управления.</a:t>
                </a:r>
              </a:p>
              <a:p>
                <a:pPr indent="254000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Правила НЛРУП имеют форму: </a:t>
                </a:r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if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</a:t>
                </a:r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 </m:t>
                    </m:r>
                  </m:oMath>
                </a14:m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then if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</a:t>
                </a:r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then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</a:t>
                </a:r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U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</a:p>
              <a:p>
                <a:pPr indent="254000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Правила НЛРУ имеют форму</a:t>
                </a:r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if  E=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then  if  C=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then P=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6137" y="519157"/>
                <a:ext cx="4971288" cy="3094565"/>
              </a:xfrm>
              <a:prstGeom prst="rect">
                <a:avLst/>
              </a:prstGeom>
              <a:blipFill>
                <a:blip r:embed="rId4"/>
                <a:stretch>
                  <a:fillRect l="-736" r="-613" b="-3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Прямоугольник 6"/>
              <p:cNvSpPr/>
              <p:nvPr/>
            </p:nvSpPr>
            <p:spPr>
              <a:xfrm>
                <a:off x="5754624" y="4019177"/>
                <a:ext cx="6096000" cy="187545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Здесь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— предварительно описанные нечеткие множества. Символ P(t) используется для модификации стратегии управления следующим образом: в нечетком правиле i, которое ухудшает течение процесса, заменяется значение управления U на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,</m:t>
                        </m:r>
                      </m:sup>
                    </m:sSubSup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⊗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Правило i в НЛРУП заменяется на правило 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if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E=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then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if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C =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then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U=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'.</a:t>
                </a:r>
              </a:p>
            </p:txBody>
          </p:sp>
        </mc:Choice>
        <mc:Fallback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4624" y="4019177"/>
                <a:ext cx="6096000" cy="1875450"/>
              </a:xfrm>
              <a:prstGeom prst="rect">
                <a:avLst/>
              </a:prstGeom>
              <a:blipFill>
                <a:blip r:embed="rId5"/>
                <a:stretch>
                  <a:fillRect l="-500" r="-500" b="-32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0617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-118872" y="140608"/>
            <a:ext cx="6131679" cy="3620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Алгоритм формирования нечеткого отношения предпочтения</a:t>
            </a:r>
            <a:endParaRPr lang="ru-RU" sz="1600" i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/>
              <p:cNvSpPr/>
              <p:nvPr/>
            </p:nvSpPr>
            <p:spPr>
              <a:xfrm>
                <a:off x="311523" y="502630"/>
                <a:ext cx="11402568" cy="21711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Пусть R — множество таких альтернатив, что каждое S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∈ 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R характеризуется набором оценок по n признакам: S={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 . . . 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},  и пусть B — семейство всех непустых конечных подмножеств множества R.  Для некоторого R'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∈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B известно подмножество выбранных альтернатив R''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⊂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R', т.е. для любых S''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∈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R'' и S'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∈ 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R'\R'' имеет место доминирование S''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≺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S'. Предварительно, при анализе исходного множества альтернатив, сформирован эталонный набор нечетких оценок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0</m:t>
                        </m:r>
                      </m:sup>
                    </m:sSup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0</m:t>
                            </m:r>
                          </m:sup>
                        </m:sSubSup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,. . . </m:t>
                        </m:r>
                        <m:sSubSup>
                          <m:sSubSup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0</m:t>
                            </m:r>
                          </m:sup>
                        </m:sSubSup>
                      </m:e>
                    </m:d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Значения функции принадлежности нечеткой оценки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указывают на степень близости значений i -го признака к значениям, определяющим идеальную альтернативу. Используя множество предпочтений</a:t>
                </a: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= {(</a:t>
                </a:r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'',</a:t>
                </a:r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'):  </a:t>
                </a:r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''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∈ </m:t>
                    </m:r>
                  </m:oMath>
                </a14:m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R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'',  </a:t>
                </a:r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'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∈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R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'\</a:t>
                </a:r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R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''},требуется найти обобщенные правила предпочтения на множестве R.</a:t>
                </a:r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523" y="502630"/>
                <a:ext cx="11402568" cy="2171107"/>
              </a:xfrm>
              <a:prstGeom prst="rect">
                <a:avLst/>
              </a:prstGeom>
              <a:blipFill>
                <a:blip r:embed="rId2"/>
                <a:stretch>
                  <a:fillRect l="-267" r="-267" b="-14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Прямоугольник 5"/>
              <p:cNvSpPr/>
              <p:nvPr/>
            </p:nvSpPr>
            <p:spPr>
              <a:xfrm>
                <a:off x="493776" y="2673737"/>
                <a:ext cx="10835640" cy="18651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i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Пример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Рассмотрим задачу выбора для рыболовецкого судна рационального района промысла с учетом следующих показателей: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  </m:t>
                        </m:r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 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время перехода в район лова,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  </m:t>
                        </m:r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прогноз вылова,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  </m:t>
                        </m:r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стоимостная характеристика прогнозируемого объекта лова,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  </m:t>
                        </m:r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гидрометеоусловия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Показатели, в сущности, играют роль лингвистических переменных.</a:t>
                </a: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Лицу, принимающему решение, предложены альтернативы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(табл.1). Пусть выбрана альтернатива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Для обучения формируются две таблицы</a:t>
                </a:r>
                <a:r>
                  <a:rPr lang="ru-RU" sz="1600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776" y="2673737"/>
                <a:ext cx="10835640" cy="1865126"/>
              </a:xfrm>
              <a:prstGeom prst="rect">
                <a:avLst/>
              </a:prstGeom>
              <a:blipFill>
                <a:blip r:embed="rId3"/>
                <a:stretch>
                  <a:fillRect l="-281" r="-225" b="-19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3629" y="4769366"/>
            <a:ext cx="8754439" cy="717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134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Таблица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51594801"/>
                  </p:ext>
                </p:extLst>
              </p:nvPr>
            </p:nvGraphicFramePr>
            <p:xfrm>
              <a:off x="2078100" y="1422686"/>
              <a:ext cx="8099171" cy="204825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810260">
                      <a:extLst>
                        <a:ext uri="{9D8B030D-6E8A-4147-A177-3AD203B41FA5}">
                          <a16:colId xmlns:a16="http://schemas.microsoft.com/office/drawing/2014/main" val="41092296"/>
                        </a:ext>
                      </a:extLst>
                    </a:gridCol>
                    <a:gridCol w="2095119">
                      <a:extLst>
                        <a:ext uri="{9D8B030D-6E8A-4147-A177-3AD203B41FA5}">
                          <a16:colId xmlns:a16="http://schemas.microsoft.com/office/drawing/2014/main" val="1341223889"/>
                        </a:ext>
                      </a:extLst>
                    </a:gridCol>
                    <a:gridCol w="1481328">
                      <a:extLst>
                        <a:ext uri="{9D8B030D-6E8A-4147-A177-3AD203B41FA5}">
                          <a16:colId xmlns:a16="http://schemas.microsoft.com/office/drawing/2014/main" val="764389173"/>
                        </a:ext>
                      </a:extLst>
                    </a:gridCol>
                    <a:gridCol w="1097280">
                      <a:extLst>
                        <a:ext uri="{9D8B030D-6E8A-4147-A177-3AD203B41FA5}">
                          <a16:colId xmlns:a16="http://schemas.microsoft.com/office/drawing/2014/main" val="1896397439"/>
                        </a:ext>
                      </a:extLst>
                    </a:gridCol>
                    <a:gridCol w="2615184">
                      <a:extLst>
                        <a:ext uri="{9D8B030D-6E8A-4147-A177-3AD203B41FA5}">
                          <a16:colId xmlns:a16="http://schemas.microsoft.com/office/drawing/2014/main" val="288764135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0385221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хорошо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хорошо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хорошо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удовлетворительно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6383259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очень хорошо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плохо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хорошо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удовлетворительно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4193652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очень хорошо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хорошо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хорошо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неудовлетворительно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8684771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удовлетворительно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хорошо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хорошо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удовлетворительно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4702346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очень хорошо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хорошо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хорошо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удовлетворительно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1952598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хорошо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нормально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плохо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удовлетворительно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051540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Таблица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51594801"/>
                  </p:ext>
                </p:extLst>
              </p:nvPr>
            </p:nvGraphicFramePr>
            <p:xfrm>
              <a:off x="2078100" y="1422686"/>
              <a:ext cx="8099171" cy="204825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810260">
                      <a:extLst>
                        <a:ext uri="{9D8B030D-6E8A-4147-A177-3AD203B41FA5}">
                          <a16:colId xmlns:a16="http://schemas.microsoft.com/office/drawing/2014/main" val="41092296"/>
                        </a:ext>
                      </a:extLst>
                    </a:gridCol>
                    <a:gridCol w="2095119">
                      <a:extLst>
                        <a:ext uri="{9D8B030D-6E8A-4147-A177-3AD203B41FA5}">
                          <a16:colId xmlns:a16="http://schemas.microsoft.com/office/drawing/2014/main" val="1341223889"/>
                        </a:ext>
                      </a:extLst>
                    </a:gridCol>
                    <a:gridCol w="1481328">
                      <a:extLst>
                        <a:ext uri="{9D8B030D-6E8A-4147-A177-3AD203B41FA5}">
                          <a16:colId xmlns:a16="http://schemas.microsoft.com/office/drawing/2014/main" val="764389173"/>
                        </a:ext>
                      </a:extLst>
                    </a:gridCol>
                    <a:gridCol w="1097280">
                      <a:extLst>
                        <a:ext uri="{9D8B030D-6E8A-4147-A177-3AD203B41FA5}">
                          <a16:colId xmlns:a16="http://schemas.microsoft.com/office/drawing/2014/main" val="1896397439"/>
                        </a:ext>
                      </a:extLst>
                    </a:gridCol>
                    <a:gridCol w="2615184">
                      <a:extLst>
                        <a:ext uri="{9D8B030D-6E8A-4147-A177-3AD203B41FA5}">
                          <a16:colId xmlns:a16="http://schemas.microsoft.com/office/drawing/2014/main" val="2887641357"/>
                        </a:ext>
                      </a:extLst>
                    </a:gridCol>
                  </a:tblGrid>
                  <a:tr h="292608"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8953" t="-2083" r="-248547" b="-6354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96708" t="-2083" r="-251852" b="-6354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8343" t="-2083" r="-238122" b="-6354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0256" t="-2083" r="-466" b="-6354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3852214"/>
                      </a:ext>
                    </a:extLst>
                  </a:tr>
                  <a:tr h="292608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52" t="-102083" r="-901504" b="-5354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хорошо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хорошо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хорошо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удовлетворительно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63832595"/>
                      </a:ext>
                    </a:extLst>
                  </a:tr>
                  <a:tr h="292608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52" t="-202083" r="-901504" b="-4354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очень хорошо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плохо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хорошо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удовлетворительно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41936520"/>
                      </a:ext>
                    </a:extLst>
                  </a:tr>
                  <a:tr h="292608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52" t="-295918" r="-901504" b="-3265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очень хорошо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хорошо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хорошо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неудовлетворительно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86847714"/>
                      </a:ext>
                    </a:extLst>
                  </a:tr>
                  <a:tr h="292608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52" t="-404167" r="-901504" b="-2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удовлетворительно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хорошо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хорошо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удовлетворительно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47023462"/>
                      </a:ext>
                    </a:extLst>
                  </a:tr>
                  <a:tr h="292608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52" t="-504167" r="-901504" b="-1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очень хорошо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хорошо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хорошо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удовлетворительно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19525980"/>
                      </a:ext>
                    </a:extLst>
                  </a:tr>
                  <a:tr h="292608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52" t="-604167" r="-901504" b="-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хорошо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нормально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плохо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удовлетворительно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05154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Таблица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31474087"/>
                  </p:ext>
                </p:extLst>
              </p:nvPr>
            </p:nvGraphicFramePr>
            <p:xfrm>
              <a:off x="1692846" y="3964718"/>
              <a:ext cx="8869680" cy="204825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815435">
                      <a:extLst>
                        <a:ext uri="{9D8B030D-6E8A-4147-A177-3AD203B41FA5}">
                          <a16:colId xmlns:a16="http://schemas.microsoft.com/office/drawing/2014/main" val="1611672959"/>
                        </a:ext>
                      </a:extLst>
                    </a:gridCol>
                    <a:gridCol w="2409903">
                      <a:extLst>
                        <a:ext uri="{9D8B030D-6E8A-4147-A177-3AD203B41FA5}">
                          <a16:colId xmlns:a16="http://schemas.microsoft.com/office/drawing/2014/main" val="696550369"/>
                        </a:ext>
                      </a:extLst>
                    </a:gridCol>
                    <a:gridCol w="1418822">
                      <a:extLst>
                        <a:ext uri="{9D8B030D-6E8A-4147-A177-3AD203B41FA5}">
                          <a16:colId xmlns:a16="http://schemas.microsoft.com/office/drawing/2014/main" val="3419541411"/>
                        </a:ext>
                      </a:extLst>
                    </a:gridCol>
                    <a:gridCol w="1419731">
                      <a:extLst>
                        <a:ext uri="{9D8B030D-6E8A-4147-A177-3AD203B41FA5}">
                          <a16:colId xmlns:a16="http://schemas.microsoft.com/office/drawing/2014/main" val="138226706"/>
                        </a:ext>
                      </a:extLst>
                    </a:gridCol>
                    <a:gridCol w="2805789">
                      <a:extLst>
                        <a:ext uri="{9D8B030D-6E8A-4147-A177-3AD203B41FA5}">
                          <a16:colId xmlns:a16="http://schemas.microsoft.com/office/drawing/2014/main" val="46559938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014392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плохо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хорошо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плохо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удовлетворительно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0082860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удовлетворительно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хорошо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хорошо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неудовлетворительно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3505186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плохо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хорошо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хорошо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удовлетворительно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2328644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удовлетворительно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хорошо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нормально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удовлетворительно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012059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удовлетворительно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нормально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нормально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удовлетворительно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32173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6658955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Таблица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31474087"/>
                  </p:ext>
                </p:extLst>
              </p:nvPr>
            </p:nvGraphicFramePr>
            <p:xfrm>
              <a:off x="1692846" y="3964718"/>
              <a:ext cx="8869680" cy="204825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815435">
                      <a:extLst>
                        <a:ext uri="{9D8B030D-6E8A-4147-A177-3AD203B41FA5}">
                          <a16:colId xmlns:a16="http://schemas.microsoft.com/office/drawing/2014/main" val="1611672959"/>
                        </a:ext>
                      </a:extLst>
                    </a:gridCol>
                    <a:gridCol w="2409903">
                      <a:extLst>
                        <a:ext uri="{9D8B030D-6E8A-4147-A177-3AD203B41FA5}">
                          <a16:colId xmlns:a16="http://schemas.microsoft.com/office/drawing/2014/main" val="696550369"/>
                        </a:ext>
                      </a:extLst>
                    </a:gridCol>
                    <a:gridCol w="1418822">
                      <a:extLst>
                        <a:ext uri="{9D8B030D-6E8A-4147-A177-3AD203B41FA5}">
                          <a16:colId xmlns:a16="http://schemas.microsoft.com/office/drawing/2014/main" val="3419541411"/>
                        </a:ext>
                      </a:extLst>
                    </a:gridCol>
                    <a:gridCol w="1419731">
                      <a:extLst>
                        <a:ext uri="{9D8B030D-6E8A-4147-A177-3AD203B41FA5}">
                          <a16:colId xmlns:a16="http://schemas.microsoft.com/office/drawing/2014/main" val="138226706"/>
                        </a:ext>
                      </a:extLst>
                    </a:gridCol>
                    <a:gridCol w="2805789">
                      <a:extLst>
                        <a:ext uri="{9D8B030D-6E8A-4147-A177-3AD203B41FA5}">
                          <a16:colId xmlns:a16="http://schemas.microsoft.com/office/drawing/2014/main" val="465599381"/>
                        </a:ext>
                      </a:extLst>
                    </a:gridCol>
                  </a:tblGrid>
                  <a:tr h="292608"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4177" t="-2083" r="-235190" b="-6354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7468" t="-2083" r="-298712" b="-6354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27468" t="-2083" r="-198712" b="-6354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16052" t="-2083" r="-434" b="-6354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1439202"/>
                      </a:ext>
                    </a:extLst>
                  </a:tr>
                  <a:tr h="292608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46" t="-102083" r="-988060" b="-5354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плохо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хорошо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плохо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удовлетворительно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00828603"/>
                      </a:ext>
                    </a:extLst>
                  </a:tr>
                  <a:tr h="292608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46" t="-202083" r="-988060" b="-4354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удовлетворительно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хорошо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хорошо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неудовлетворительно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35051863"/>
                      </a:ext>
                    </a:extLst>
                  </a:tr>
                  <a:tr h="292608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46" t="-295918" r="-988060" b="-3265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плохо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хорошо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хорошо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удовлетворительно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23286442"/>
                      </a:ext>
                    </a:extLst>
                  </a:tr>
                  <a:tr h="292608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46" t="-404167" r="-988060" b="-2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удовлетворительно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хорошо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нормально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удовлетворительно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0120590"/>
                      </a:ext>
                    </a:extLst>
                  </a:tr>
                  <a:tr h="292608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46" t="-504167" r="-988060" b="-1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удовлетворительно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нормально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нормально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удовлетворительно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321731"/>
                      </a:ext>
                    </a:extLst>
                  </a:tr>
                  <a:tr h="292608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46" t="-604167" r="-988060" b="-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6658955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Прямоугольник 3"/>
          <p:cNvSpPr/>
          <p:nvPr/>
        </p:nvSpPr>
        <p:spPr>
          <a:xfrm>
            <a:off x="8546160" y="649501"/>
            <a:ext cx="1550938" cy="3620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r">
              <a:lnSpc>
                <a:spcPct val="120000"/>
              </a:lnSpc>
              <a:spcAft>
                <a:spcPts val="0"/>
              </a:spcAft>
            </a:pPr>
            <a:r>
              <a:rPr lang="ru-RU" sz="16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Таблица 1.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5758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592" y="178226"/>
            <a:ext cx="7242048" cy="6458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0920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Прямоугольник 1"/>
              <p:cNvSpPr/>
              <p:nvPr/>
            </p:nvSpPr>
            <p:spPr>
              <a:xfrm>
                <a:off x="393192" y="364184"/>
                <a:ext cx="11109960" cy="1429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Далее предположим, что среди неизвестных ситуаций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(табл. 1) необходимо выбрать лучшую альтернативу, используя минимальный базис. В табл. 2 изображена матрица предпочтений M=(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𝜇</m:t>
                        </m:r>
                      </m:e>
                      <m:sup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𝑖𝑗</m:t>
                        </m:r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  </m:t>
                        </m:r>
                      </m:sup>
                    </m:sSup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|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𝜇</m:t>
                        </m:r>
                      </m:e>
                      <m:sup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𝑖𝑗</m:t>
                        </m:r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  </m:t>
                        </m:r>
                      </m:sup>
                    </m:sSup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), элементы которой вычислялись посредством гарантированной оценки</a:t>
                </a: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𝜇</m:t>
                          </m:r>
                        </m:e>
                        <m:sup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𝑖𝑗</m:t>
                          </m:r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  </m:t>
                          </m:r>
                        </m:sup>
                      </m:sSup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)=</m:t>
                      </m:r>
                      <m:func>
                        <m:func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ru-RU" sz="16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𝜐</m:t>
                              </m:r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∈[0,1]</m:t>
                              </m:r>
                            </m:lim>
                          </m:limLow>
                        </m:fName>
                        <m:e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𝜇</m:t>
                          </m:r>
                          <m:sSub>
                            <m:sSub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func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)(</m:t>
                      </m:r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𝜐</m:t>
                      </m:r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),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64184"/>
                <a:ext cx="11109960" cy="1429943"/>
              </a:xfrm>
              <a:prstGeom prst="rect">
                <a:avLst/>
              </a:prstGeom>
              <a:blipFill>
                <a:blip r:embed="rId2"/>
                <a:stretch>
                  <a:fillRect l="-329" r="-274" b="-42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9414840" y="1792431"/>
            <a:ext cx="1550938" cy="3620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r">
              <a:lnSpc>
                <a:spcPct val="120000"/>
              </a:lnSpc>
              <a:spcAft>
                <a:spcPts val="0"/>
              </a:spcAft>
            </a:pPr>
            <a:r>
              <a:rPr lang="ru-RU" sz="16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Таблица 2.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Таблица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51612311"/>
                  </p:ext>
                </p:extLst>
              </p:nvPr>
            </p:nvGraphicFramePr>
            <p:xfrm>
              <a:off x="1099402" y="2386695"/>
              <a:ext cx="9939528" cy="175564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652802">
                      <a:extLst>
                        <a:ext uri="{9D8B030D-6E8A-4147-A177-3AD203B41FA5}">
                          <a16:colId xmlns:a16="http://schemas.microsoft.com/office/drawing/2014/main" val="2244366587"/>
                        </a:ext>
                      </a:extLst>
                    </a:gridCol>
                    <a:gridCol w="1656932">
                      <a:extLst>
                        <a:ext uri="{9D8B030D-6E8A-4147-A177-3AD203B41FA5}">
                          <a16:colId xmlns:a16="http://schemas.microsoft.com/office/drawing/2014/main" val="2663151579"/>
                        </a:ext>
                      </a:extLst>
                    </a:gridCol>
                    <a:gridCol w="1656932">
                      <a:extLst>
                        <a:ext uri="{9D8B030D-6E8A-4147-A177-3AD203B41FA5}">
                          <a16:colId xmlns:a16="http://schemas.microsoft.com/office/drawing/2014/main" val="448609102"/>
                        </a:ext>
                      </a:extLst>
                    </a:gridCol>
                    <a:gridCol w="1656932">
                      <a:extLst>
                        <a:ext uri="{9D8B030D-6E8A-4147-A177-3AD203B41FA5}">
                          <a16:colId xmlns:a16="http://schemas.microsoft.com/office/drawing/2014/main" val="1765141948"/>
                        </a:ext>
                      </a:extLst>
                    </a:gridCol>
                    <a:gridCol w="1657965">
                      <a:extLst>
                        <a:ext uri="{9D8B030D-6E8A-4147-A177-3AD203B41FA5}">
                          <a16:colId xmlns:a16="http://schemas.microsoft.com/office/drawing/2014/main" val="1999187119"/>
                        </a:ext>
                      </a:extLst>
                    </a:gridCol>
                    <a:gridCol w="1657965">
                      <a:extLst>
                        <a:ext uri="{9D8B030D-6E8A-4147-A177-3AD203B41FA5}">
                          <a16:colId xmlns:a16="http://schemas.microsoft.com/office/drawing/2014/main" val="601281459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 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9303930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 </a:t>
                          </a:r>
                          <a:endParaRPr lang="ru-RU" sz="16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0,88 </a:t>
                          </a:r>
                          <a:r>
                            <a:rPr lang="ru-RU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</a:t>
                          </a:r>
                          <a:r>
                            <a:rPr lang="en-US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 </a:t>
                          </a: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0,38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1 </a:t>
                          </a:r>
                          <a:r>
                            <a:rPr lang="ru-RU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</a:t>
                          </a:r>
                          <a:r>
                            <a:rPr lang="en-US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 </a:t>
                          </a: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0,38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0,88   </a:t>
                          </a:r>
                          <a:r>
                            <a:rPr lang="ru-RU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</a:t>
                          </a:r>
                          <a:r>
                            <a:rPr lang="en-US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 </a:t>
                          </a: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0,38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0,88   </a:t>
                          </a:r>
                          <a:r>
                            <a:rPr lang="ru-RU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</a:t>
                          </a:r>
                          <a:r>
                            <a:rPr lang="en-US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 </a:t>
                          </a: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0,38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560579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0,75  </a:t>
                          </a:r>
                          <a:r>
                            <a:rPr lang="ru-RU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</a:t>
                          </a:r>
                          <a:r>
                            <a:rPr lang="en-US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 </a:t>
                          </a: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1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 </a:t>
                          </a:r>
                          <a:endParaRPr lang="ru-RU" sz="16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0,75  </a:t>
                          </a:r>
                          <a:r>
                            <a:rPr lang="ru-RU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</a:t>
                          </a:r>
                          <a:r>
                            <a:rPr lang="en-US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1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0,75 </a:t>
                          </a:r>
                          <a:r>
                            <a:rPr lang="ru-RU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</a:t>
                          </a:r>
                          <a:r>
                            <a:rPr lang="en-US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 </a:t>
                          </a: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1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0,75   </a:t>
                          </a:r>
                          <a:r>
                            <a:rPr lang="ru-RU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</a:t>
                          </a:r>
                          <a:r>
                            <a:rPr lang="en-US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 </a:t>
                          </a: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1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946601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1  </a:t>
                          </a:r>
                          <a:r>
                            <a:rPr lang="ru-RU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</a:t>
                          </a:r>
                          <a:r>
                            <a:rPr lang="en-US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0,38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0,88  </a:t>
                          </a:r>
                          <a:r>
                            <a:rPr lang="ru-RU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</a:t>
                          </a:r>
                          <a:r>
                            <a:rPr lang="en-US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0,38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 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0,88  </a:t>
                          </a:r>
                          <a:r>
                            <a:rPr lang="ru-RU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</a:t>
                          </a:r>
                          <a:r>
                            <a:rPr lang="en-US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 </a:t>
                          </a: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0,38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0,88  </a:t>
                          </a:r>
                          <a:r>
                            <a:rPr lang="ru-RU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</a:t>
                          </a:r>
                          <a:r>
                            <a:rPr lang="en-US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  </a:t>
                          </a: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0,38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854088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1   </a:t>
                          </a:r>
                          <a:r>
                            <a:rPr lang="ru-RU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</a:t>
                          </a:r>
                          <a:r>
                            <a:rPr lang="en-US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  </a:t>
                          </a: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0,38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1 </a:t>
                          </a:r>
                          <a:r>
                            <a:rPr lang="ru-RU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</a:t>
                          </a:r>
                          <a:r>
                            <a:rPr lang="en-US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 </a:t>
                          </a: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0,38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1 </a:t>
                          </a:r>
                          <a:r>
                            <a:rPr lang="ru-RU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</a:t>
                          </a:r>
                          <a:r>
                            <a:rPr lang="en-US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 </a:t>
                          </a: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0,38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 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1    </a:t>
                          </a:r>
                          <a:r>
                            <a:rPr lang="ru-RU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</a:t>
                          </a:r>
                          <a:r>
                            <a:rPr lang="en-US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  </a:t>
                          </a: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0,38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62979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6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0,88  </a:t>
                          </a:r>
                          <a:r>
                            <a:rPr lang="ru-RU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</a:t>
                          </a:r>
                          <a:r>
                            <a:rPr lang="en-US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 </a:t>
                          </a: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0,38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0,88  </a:t>
                          </a:r>
                          <a:r>
                            <a:rPr lang="ru-RU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</a:t>
                          </a:r>
                          <a:r>
                            <a:rPr lang="en-US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  </a:t>
                          </a: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0,38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0,88  </a:t>
                          </a:r>
                          <a:r>
                            <a:rPr lang="ru-RU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</a:t>
                          </a:r>
                          <a:r>
                            <a:rPr lang="en-US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  </a:t>
                          </a: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0,38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0,88 </a:t>
                          </a:r>
                          <a:r>
                            <a:rPr lang="ru-RU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</a:t>
                          </a:r>
                          <a:r>
                            <a:rPr lang="en-US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 </a:t>
                          </a: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0,38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 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445905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Таблица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51612311"/>
                  </p:ext>
                </p:extLst>
              </p:nvPr>
            </p:nvGraphicFramePr>
            <p:xfrm>
              <a:off x="1099402" y="2386695"/>
              <a:ext cx="9939528" cy="175564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652802">
                      <a:extLst>
                        <a:ext uri="{9D8B030D-6E8A-4147-A177-3AD203B41FA5}">
                          <a16:colId xmlns:a16="http://schemas.microsoft.com/office/drawing/2014/main" val="2244366587"/>
                        </a:ext>
                      </a:extLst>
                    </a:gridCol>
                    <a:gridCol w="1656932">
                      <a:extLst>
                        <a:ext uri="{9D8B030D-6E8A-4147-A177-3AD203B41FA5}">
                          <a16:colId xmlns:a16="http://schemas.microsoft.com/office/drawing/2014/main" val="2663151579"/>
                        </a:ext>
                      </a:extLst>
                    </a:gridCol>
                    <a:gridCol w="1656932">
                      <a:extLst>
                        <a:ext uri="{9D8B030D-6E8A-4147-A177-3AD203B41FA5}">
                          <a16:colId xmlns:a16="http://schemas.microsoft.com/office/drawing/2014/main" val="448609102"/>
                        </a:ext>
                      </a:extLst>
                    </a:gridCol>
                    <a:gridCol w="1656932">
                      <a:extLst>
                        <a:ext uri="{9D8B030D-6E8A-4147-A177-3AD203B41FA5}">
                          <a16:colId xmlns:a16="http://schemas.microsoft.com/office/drawing/2014/main" val="1765141948"/>
                        </a:ext>
                      </a:extLst>
                    </a:gridCol>
                    <a:gridCol w="1657965">
                      <a:extLst>
                        <a:ext uri="{9D8B030D-6E8A-4147-A177-3AD203B41FA5}">
                          <a16:colId xmlns:a16="http://schemas.microsoft.com/office/drawing/2014/main" val="1999187119"/>
                        </a:ext>
                      </a:extLst>
                    </a:gridCol>
                    <a:gridCol w="1657965">
                      <a:extLst>
                        <a:ext uri="{9D8B030D-6E8A-4147-A177-3AD203B41FA5}">
                          <a16:colId xmlns:a16="http://schemas.microsoft.com/office/drawing/2014/main" val="601281459"/>
                        </a:ext>
                      </a:extLst>
                    </a:gridCol>
                  </a:tblGrid>
                  <a:tr h="292608"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 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2083" r="-400735" b="-5354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2083" r="-300735" b="-5354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000" t="-2083" r="-200735" b="-5354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0000" t="-2083" r="-100735" b="-5354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0000" t="-2083" r="-735" b="-5354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3039309"/>
                      </a:ext>
                    </a:extLst>
                  </a:tr>
                  <a:tr h="292608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9" t="-102083" r="-502583" b="-4354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 </a:t>
                          </a:r>
                          <a:endParaRPr lang="ru-RU" sz="16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0,88 </a:t>
                          </a:r>
                          <a:r>
                            <a:rPr lang="ru-RU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</a:t>
                          </a:r>
                          <a:r>
                            <a:rPr lang="en-US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 </a:t>
                          </a: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0,38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1 </a:t>
                          </a:r>
                          <a:r>
                            <a:rPr lang="ru-RU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</a:t>
                          </a:r>
                          <a:r>
                            <a:rPr lang="en-US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 </a:t>
                          </a: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0,38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0,88   </a:t>
                          </a:r>
                          <a:r>
                            <a:rPr lang="ru-RU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</a:t>
                          </a:r>
                          <a:r>
                            <a:rPr lang="en-US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 </a:t>
                          </a: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0,38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0,88   </a:t>
                          </a:r>
                          <a:r>
                            <a:rPr lang="ru-RU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</a:t>
                          </a:r>
                          <a:r>
                            <a:rPr lang="en-US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 </a:t>
                          </a: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0,38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5605792"/>
                      </a:ext>
                    </a:extLst>
                  </a:tr>
                  <a:tr h="292608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9" t="-197959" r="-502583" b="-3265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0,75  </a:t>
                          </a:r>
                          <a:r>
                            <a:rPr lang="ru-RU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</a:t>
                          </a:r>
                          <a:r>
                            <a:rPr lang="en-US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 </a:t>
                          </a: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1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 </a:t>
                          </a:r>
                          <a:endParaRPr lang="ru-RU" sz="16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0,75  </a:t>
                          </a:r>
                          <a:r>
                            <a:rPr lang="ru-RU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</a:t>
                          </a:r>
                          <a:r>
                            <a:rPr lang="en-US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1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0,75 </a:t>
                          </a:r>
                          <a:r>
                            <a:rPr lang="ru-RU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</a:t>
                          </a:r>
                          <a:r>
                            <a:rPr lang="en-US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 </a:t>
                          </a: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1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0,75   </a:t>
                          </a:r>
                          <a:r>
                            <a:rPr lang="ru-RU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</a:t>
                          </a:r>
                          <a:r>
                            <a:rPr lang="en-US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 </a:t>
                          </a: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1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9466018"/>
                      </a:ext>
                    </a:extLst>
                  </a:tr>
                  <a:tr h="292608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9" t="-304167" r="-502583" b="-2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1  </a:t>
                          </a:r>
                          <a:r>
                            <a:rPr lang="ru-RU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</a:t>
                          </a:r>
                          <a:r>
                            <a:rPr lang="en-US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0,38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0,88  </a:t>
                          </a:r>
                          <a:r>
                            <a:rPr lang="ru-RU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</a:t>
                          </a:r>
                          <a:r>
                            <a:rPr lang="en-US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0,38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 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0,88  </a:t>
                          </a:r>
                          <a:r>
                            <a:rPr lang="ru-RU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</a:t>
                          </a:r>
                          <a:r>
                            <a:rPr lang="en-US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 </a:t>
                          </a: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0,38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0,88  </a:t>
                          </a:r>
                          <a:r>
                            <a:rPr lang="ru-RU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</a:t>
                          </a:r>
                          <a:r>
                            <a:rPr lang="en-US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  </a:t>
                          </a: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0,38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85408802"/>
                      </a:ext>
                    </a:extLst>
                  </a:tr>
                  <a:tr h="292608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9" t="-404167" r="-502583" b="-1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1   </a:t>
                          </a:r>
                          <a:r>
                            <a:rPr lang="ru-RU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</a:t>
                          </a:r>
                          <a:r>
                            <a:rPr lang="en-US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  </a:t>
                          </a: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0,38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1 </a:t>
                          </a:r>
                          <a:r>
                            <a:rPr lang="ru-RU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</a:t>
                          </a:r>
                          <a:r>
                            <a:rPr lang="en-US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 </a:t>
                          </a: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0,38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1 </a:t>
                          </a:r>
                          <a:r>
                            <a:rPr lang="ru-RU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</a:t>
                          </a:r>
                          <a:r>
                            <a:rPr lang="en-US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 </a:t>
                          </a: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0,38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 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1    </a:t>
                          </a:r>
                          <a:r>
                            <a:rPr lang="ru-RU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</a:t>
                          </a:r>
                          <a:r>
                            <a:rPr lang="en-US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  </a:t>
                          </a: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0,38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629797"/>
                      </a:ext>
                    </a:extLst>
                  </a:tr>
                  <a:tr h="292608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9" t="-504167" r="-502583" b="-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0,88  </a:t>
                          </a:r>
                          <a:r>
                            <a:rPr lang="ru-RU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</a:t>
                          </a:r>
                          <a:r>
                            <a:rPr lang="en-US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 </a:t>
                          </a: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0,38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0,88  </a:t>
                          </a:r>
                          <a:r>
                            <a:rPr lang="ru-RU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</a:t>
                          </a:r>
                          <a:r>
                            <a:rPr lang="en-US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  </a:t>
                          </a: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0,38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0,88  </a:t>
                          </a:r>
                          <a:r>
                            <a:rPr lang="ru-RU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</a:t>
                          </a:r>
                          <a:r>
                            <a:rPr lang="en-US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  </a:t>
                          </a: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0,38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0,88 </a:t>
                          </a:r>
                          <a:r>
                            <a:rPr lang="ru-RU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</a:t>
                          </a:r>
                          <a:r>
                            <a:rPr lang="en-US" sz="1600" dirty="0" smtClean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 </a:t>
                          </a: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0,38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 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445905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Прямоугольник 5"/>
              <p:cNvSpPr/>
              <p:nvPr/>
            </p:nvSpPr>
            <p:spPr>
              <a:xfrm>
                <a:off x="3417340" y="4510522"/>
                <a:ext cx="4479496" cy="448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⋂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p>
                    </m:sSubSup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∩</m:t>
                    </m:r>
                    <m:sSubSup>
                      <m:sSubSup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𝑗</m:t>
                        </m:r>
                      </m:sub>
                      <m:sup/>
                    </m:sSubSup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)),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𝑗</m:t>
                        </m:r>
                      </m:sub>
                      <m:sup/>
                    </m:sSubSup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 </a:t>
                </a:r>
              </a:p>
            </p:txBody>
          </p:sp>
        </mc:Choice>
        <mc:Fallback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7340" y="4510522"/>
                <a:ext cx="4479496" cy="448777"/>
              </a:xfrm>
              <a:prstGeom prst="rect">
                <a:avLst/>
              </a:prstGeom>
              <a:blipFill>
                <a:blip r:embed="rId4"/>
                <a:stretch>
                  <a:fillRect b="-94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Прямоугольник 6"/>
              <p:cNvSpPr/>
              <p:nvPr/>
            </p:nvSpPr>
            <p:spPr>
              <a:xfrm>
                <a:off x="345022" y="5118665"/>
                <a:ext cx="11448288" cy="13832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где значение j -го признака на паре альтернатив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)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 </m:t>
                    </m:r>
                    <m:sSubSup>
                      <m:sSubSup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- значение j -го признака на парах альтернатив i -го класса ( i=1,2 ). Каждый элемент матрицы содержит два значения. Левое значение указывает степень, с которой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доминирует над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Правое значение указывает степень, с которой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доминирует над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Для построения нечеткого графа предпочтений альтернатив (рис.5) используется следующее правило определения отношения доминирования D:</a:t>
                </a:r>
              </a:p>
            </p:txBody>
          </p:sp>
        </mc:Choice>
        <mc:Fallback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022" y="5118665"/>
                <a:ext cx="11448288" cy="1383264"/>
              </a:xfrm>
              <a:prstGeom prst="rect">
                <a:avLst/>
              </a:prstGeom>
              <a:blipFill>
                <a:blip r:embed="rId5"/>
                <a:stretch>
                  <a:fillRect l="-319" r="-266" b="-308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62192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047" y="202711"/>
            <a:ext cx="7795055" cy="1370057"/>
          </a:xfrm>
          <a:prstGeom prst="rect">
            <a:avLst/>
          </a:prstGeom>
        </p:spPr>
      </p:pic>
      <p:sp>
        <p:nvSpPr>
          <p:cNvPr id="6" name="Левая фигурная скобка 5"/>
          <p:cNvSpPr>
            <a:spLocks/>
          </p:cNvSpPr>
          <p:nvPr/>
        </p:nvSpPr>
        <p:spPr bwMode="auto">
          <a:xfrm>
            <a:off x="3985450" y="202711"/>
            <a:ext cx="175070" cy="903713"/>
          </a:xfrm>
          <a:prstGeom prst="leftBrace">
            <a:avLst>
              <a:gd name="adj1" fmla="val 41667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7" name="Рисунок 6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752" y="2112264"/>
            <a:ext cx="3877881" cy="35661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5182750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</TotalTime>
  <Words>422</Words>
  <Application>Microsoft Office PowerPoint</Application>
  <PresentationFormat>Широкоэкранный</PresentationFormat>
  <Paragraphs>179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Times New Roman</vt:lpstr>
      <vt:lpstr>Тема Office</vt:lpstr>
      <vt:lpstr>Нечеткие алгоритмы обучения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ALEKSEY</dc:creator>
  <cp:lastModifiedBy>ALEKSEY</cp:lastModifiedBy>
  <cp:revision>35</cp:revision>
  <dcterms:created xsi:type="dcterms:W3CDTF">2020-10-06T14:10:24Z</dcterms:created>
  <dcterms:modified xsi:type="dcterms:W3CDTF">2023-09-14T15:02:49Z</dcterms:modified>
</cp:coreProperties>
</file>