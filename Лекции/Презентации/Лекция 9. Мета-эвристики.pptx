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82" r:id="rId3"/>
    <p:sldId id="283" r:id="rId4"/>
    <p:sldId id="284" r:id="rId5"/>
    <p:sldId id="285" r:id="rId6"/>
    <p:sldId id="286" r:id="rId7"/>
    <p:sldId id="287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60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33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57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55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4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846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731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25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83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2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418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5646-FAEB-4AB3-A326-0A08349E2827}" type="datetimeFigureOut">
              <a:rPr lang="ru-RU" smtClean="0"/>
              <a:t>05.10.2023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3EF-3B09-4DED-9593-102D562BC4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316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7240" y="1581913"/>
            <a:ext cx="10515600" cy="1946284"/>
          </a:xfrm>
        </p:spPr>
        <p:txBody>
          <a:bodyPr>
            <a:normAutofit/>
          </a:bodyPr>
          <a:lstStyle/>
          <a:p>
            <a:pPr algn="ctr">
              <a:spcAft>
                <a:spcPts val="0"/>
              </a:spcAft>
              <a:tabLst>
                <a:tab pos="5832475" algn="l"/>
                <a:tab pos="6049010" algn="r"/>
              </a:tabLs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Мета-эвристики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859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2296" y="6077"/>
            <a:ext cx="162159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Бэйзлайны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279433"/>
            <a:ext cx="3942490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Задача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безградиентной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оптимизации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4241" y="544029"/>
                <a:ext cx="11932920" cy="12823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Мета-эвристикой называется метод черного ящика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black-box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оптимизации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𝐽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)→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𝑚𝑎𝑥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со стохастическим предсказателем (оракулом) нулевого порядка, то есть возможностью для каждой точки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𝛩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получить несмещённую оценку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1" y="544029"/>
                <a:ext cx="11932920" cy="1282339"/>
              </a:xfrm>
              <a:prstGeom prst="rect">
                <a:avLst/>
              </a:prstGeom>
              <a:blipFill>
                <a:blip r:embed="rId2"/>
                <a:stretch>
                  <a:fillRect l="-307" r="-255" b="-284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249125" y="1742658"/>
                <a:ext cx="11503152" cy="1873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Заметим, что если аргументы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𝛩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конечное множество (о градиентной оптимизации речи идти не может), задача сводится к следующей: надо найти тот аргумент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𝛩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для которого настоящее значение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максимально, при этом используя как можно меньше стохастичных оценок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оракула. В теории мета-эвристик опция «вызвать оракул в одной и той же точке несколько раз» в ходе алгоритма обычно не рассматривается; предполагается достаточно богатое пространство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𝛩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для которого более прагматичной альтернативой кажется запросить значение условно в «соседней» точке вместо уточнения значения оракула для одной и той же.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25" y="1742658"/>
                <a:ext cx="11503152" cy="1873270"/>
              </a:xfrm>
              <a:prstGeom prst="rect">
                <a:avLst/>
              </a:prstGeom>
              <a:blipFill>
                <a:blip r:embed="rId3"/>
                <a:stretch>
                  <a:fillRect l="-318" r="-265" b="-19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82296" y="3532218"/>
                <a:ext cx="11932920" cy="33257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 контексте обучения с подкреплением, чтобы свести задачу к черного ящика (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black-box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) оптимизации, достаточно представить стратегию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𝑎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параметрическом семействе с параметрами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𝛩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В качестве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конечно, выступает оптимизируемый функционал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𝐽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𝜃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):=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𝒯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mbria Math" panose="02040503050406030204" pitchFamily="18" charset="0"/>
                            </a:rPr>
                            <m:t>∼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𝑅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𝒯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)→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𝑚𝑎𝑥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а в качестве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его Монте-Карло оценка: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</m:e>
                      </m:acc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𝜃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:= </m:t>
                      </m:r>
                      <m:f>
                        <m:f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𝐵</m:t>
                          </m:r>
                        </m:sup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𝑅</m:t>
                          </m:r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𝒯</m:t>
                              </m:r>
                            </m:e>
                            <m:sub>
                              <m:r>
                                <a:rPr lang="en-US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,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𝒯</m:t>
                          </m:r>
                        </m:e>
                        <m:sub>
                          <m:r>
                            <a:rPr lang="en-US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m:t>∼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 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𝑖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en-US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{1 . . . 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𝐵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Если дисперсия оценки достаточно высока (число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недостаточно велико), почти все далее рассматриваемые алгоритмы сломаются (будут выживать «везучие», а не «сильнейшие»). Поэтому может оказаться крайне существенным использовать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𝐵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&gt;1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даже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𝜋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семейство детерминированных стратегий.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" y="3532218"/>
                <a:ext cx="11932920" cy="3325782"/>
              </a:xfrm>
              <a:prstGeom prst="rect">
                <a:avLst/>
              </a:prstGeom>
              <a:blipFill>
                <a:blip r:embed="rId4"/>
                <a:stretch>
                  <a:fillRect l="-307" r="-255" b="-5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14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274320" y="120293"/>
                <a:ext cx="11676888" cy="69140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2: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Точку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 которой алгоритм оптимизации запрашивает значение оракула, будем называть особью, а само значение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𝜃</m:t>
                    </m:r>
                    <m:r>
                      <a:rPr lang="ru-RU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данной особи — её оценкой или приспособленностью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fitness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120293"/>
                <a:ext cx="11676888" cy="691408"/>
              </a:xfrm>
              <a:prstGeom prst="rect">
                <a:avLst/>
              </a:prstGeom>
              <a:blipFill>
                <a:blip r:embed="rId2"/>
                <a:stretch>
                  <a:fillRect l="-261" r="-209" b="-70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-71317" y="811701"/>
            <a:ext cx="2148217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Случайный поиск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146304" y="1155321"/>
                <a:ext cx="11676888" cy="14711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3: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Распределение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пространстве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𝛩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будем называть стратегией перебора</a:t>
                </a:r>
                <a:r>
                  <a:rPr lang="ru-RU" sz="16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Случайный поиск сводится к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сэмплированию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стратегии перебора особей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{0,1,2...})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после чего в качестве результата выдаётся особь с наилучшей оценкой.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Забавно, что случайный поиск — метод глобальной оптимизации: если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𝛩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)&gt;0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после достаточного числа итераций метод найдёт сколь угодно близкое к глобальному оптимуму </a:t>
                </a:r>
                <a:r>
                  <a:rPr lang="ru-RU" sz="16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решение</a:t>
                </a:r>
                <a:endParaRPr lang="ru-RU" sz="1600" dirty="0"/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" y="1155321"/>
                <a:ext cx="11676888" cy="1471172"/>
              </a:xfrm>
              <a:prstGeom prst="rect">
                <a:avLst/>
              </a:prstGeom>
              <a:blipFill>
                <a:blip r:embed="rId3"/>
                <a:stretch>
                  <a:fillRect l="-261" r="-209" b="-41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210312" y="2626493"/>
                <a:ext cx="11548872" cy="19300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4: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Набор особей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 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𝑖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𝑖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1,2...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})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 популяцией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population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размера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5: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Запрос оракула для всех особей популяции называется оцениванием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evaluation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популяции: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</m:e>
                      </m:acc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𝒫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 :=( </m:t>
                      </m:r>
                      <m:acc>
                        <m:accPr>
                          <m:chr m:val="̂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</m:e>
                      </m:acc>
                      <m:d>
                        <m:d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  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𝑖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∈ </m:t>
                      </m:r>
                      <m:d>
                        <m:dPr>
                          <m:begChr m:val="{"/>
                          <m:endChr m:val="}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1, 2 . . . 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𝑁</m:t>
                          </m:r>
                        </m:e>
                      </m:d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6: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Процедурой отбора называется выбор (возможно, случайный, возможно, с повторами)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особей из популяции. Формально, это распределение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𝑠𝑒𝑙𝑒𝑐𝑡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такое что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вероятностью 1.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7: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Жадный отбор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𝑠𝑒𝑙𝑒𝑐𝑡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𝑀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𝑡𝑜𝑝</m:t>
                        </m:r>
                      </m:sup>
                    </m:sSub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выбор топ-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самых приспособленных особей.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12" y="2626493"/>
                <a:ext cx="11548872" cy="1930016"/>
              </a:xfrm>
              <a:prstGeom prst="rect">
                <a:avLst/>
              </a:prstGeom>
              <a:blipFill>
                <a:blip r:embed="rId4"/>
                <a:stretch>
                  <a:fillRect l="-317" r="-264" b="-15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0" y="4711272"/>
            <a:ext cx="3158750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Hill </a:t>
            </a:r>
            <a:r>
              <a:rPr lang="ru-RU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Climbing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(Скалолазание)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-71317" y="5114561"/>
                <a:ext cx="10988040" cy="4002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8: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Мутацией  называется распределение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 родителем,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потомком.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317" y="5114561"/>
                <a:ext cx="10988040" cy="400238"/>
              </a:xfrm>
              <a:prstGeom prst="rect">
                <a:avLst/>
              </a:prstGeom>
              <a:blipFill>
                <a:blip r:embed="rId5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887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00731" y="108032"/>
            <a:ext cx="2352182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Имитация отжига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18872" y="756409"/>
                <a:ext cx="11594592" cy="1854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Имитация отжига решает «проблему исследования» при помощи более умной процедуры отбора: вероятность выбрать потомка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не остаться в родительской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вводится так: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𝑠𝑒𝑙𝑒𝑐𝑡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:= 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𝑚𝑖𝑛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1, 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𝑒𝑥𝑝</m:t>
                          </m:r>
                          <m:f>
                            <m:f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𝐽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𝑘</m:t>
                                      </m:r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𝐽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ru-RU" sz="1600" i="1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температура,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гиперпараметр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зависящий от номера итерации. Иными словами, если новая точка более приспособлена, то мы «принимаем» новую точку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вероятностью 1;</a:t>
                </a:r>
                <a:endParaRPr lang="ru-RU" sz="1600" dirty="0"/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" y="756409"/>
                <a:ext cx="11594592" cy="1854610"/>
              </a:xfrm>
              <a:prstGeom prst="rect">
                <a:avLst/>
              </a:prstGeom>
              <a:blipFill>
                <a:blip r:embed="rId2"/>
                <a:stretch>
                  <a:fillRect l="-315" r="-421" b="-32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539933" y="2611019"/>
                <a:ext cx="9344731" cy="41004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 – Алгоритм Метрополиса-Гастингса: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Пусть в пространстве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𝛩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задано распределение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распределение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удовлетворяющее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)&gt;0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Пусть строится цепочка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...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 следующему правилу: генерируется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после чего с вероятностью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𝑚𝑖𝑛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 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1,</m:t>
                          </m:r>
                          <m:f>
                            <m:f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𝑝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𝑝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den>
                          </m:f>
                          <m:f>
                            <m:f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𝑞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𝑞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+1</m:t>
                                  </m:r>
                                </m:sub>
                                <m:sup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полагается равным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иначе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Тогда для любого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𝑝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𝑝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Отсюда следует утверждение: Пусть оракул точный, то есть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мутация удовлетворяет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∀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e>
                      </m:acc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 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𝑚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e>
                      </m:acc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𝑚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acc>
                        <m:accPr>
                          <m:chr m:val="̂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e>
                      </m:acc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)&gt;0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Тогда, если температура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𝜏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 зависит от итерации, для любой инициализации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алгоритм имитации отжига строит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марковскую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цепь со следующим стационарным распределением: 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sz="16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𝑝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e>
                      </m:func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∝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𝑒𝑥𝑝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𝐽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𝜏</m:t>
                          </m:r>
                        </m:den>
                      </m:f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33" y="2611019"/>
                <a:ext cx="9344731" cy="4100481"/>
              </a:xfrm>
              <a:prstGeom prst="rect">
                <a:avLst/>
              </a:prstGeom>
              <a:blipFill>
                <a:blip r:embed="rId3"/>
                <a:stretch>
                  <a:fillRect l="-391" r="-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745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17176"/>
            <a:ext cx="2986267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Эволюционные алгоритмы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00584" y="479198"/>
                <a:ext cx="11338560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9: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Алгоритм называется эволюционным, если он строит последовательность популяций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..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, на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-ом шаге строя очередное поколение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основе предыдущего.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" y="479198"/>
                <a:ext cx="11338560" cy="683264"/>
              </a:xfrm>
              <a:prstGeom prst="rect">
                <a:avLst/>
              </a:prstGeom>
              <a:blipFill>
                <a:blip r:embed="rId2"/>
                <a:stretch>
                  <a:fillRect l="-323" r="-269"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04800" y="1162462"/>
                <a:ext cx="11399520" cy="22678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Алгоритм: (M, K)-эволюционная стратегия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Вход: оракул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Гиперпараметры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мутация,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стратегия перебора,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𝑀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число потоков,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число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поток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Инициализируем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𝑖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{1,2,...,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𝑀𝐾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})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-ом шаге: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1. проводим жадный отбор: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</m:sup>
                    </m:sSub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</m:t>
                    </m:r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𝑠𝑒𝑙𝑒𝑐𝑡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𝑀</m:t>
                        </m:r>
                      </m:sub>
                      <m:sup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𝑡𝑜𝑝</m:t>
                        </m:r>
                      </m:sup>
                    </m:sSub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))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2. размножаем: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</m:t>
                    </m:r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e>
                        </m:acc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)|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∈</m:t>
                        </m:r>
                        <m:sSubSup>
                          <m:sSub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</m:t>
                            </m:r>
                          </m:sup>
                        </m:sSub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∈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{1,2,...,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𝐾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}</m:t>
                        </m:r>
                      </m:e>
                    </m:d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162462"/>
                <a:ext cx="11399520" cy="2267865"/>
              </a:xfrm>
              <a:prstGeom prst="rect">
                <a:avLst/>
              </a:prstGeom>
              <a:blipFill>
                <a:blip r:embed="rId3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100584" y="3524006"/>
            <a:ext cx="8793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Weight Agnostic Neural Networks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en-US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WANN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– Нейронные сети, не зависящие от веса</a:t>
            </a:r>
            <a:endParaRPr lang="ru-RU" sz="16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320" y="4113591"/>
            <a:ext cx="3695772" cy="221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81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27744" y="537800"/>
            <a:ext cx="2681696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Видовая специализация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585216" y="1178256"/>
                <a:ext cx="10991088" cy="33648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Рассмотрим общую идею видов. Допустим, мы сможем 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𝛩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придумать метрику (или хоть функцию близости)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𝜌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на её основе разбить все особи популяции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 непересекающиеся множества – «виды». Процесс разбиения, что важно, не обязан удовлетворять каким-то особым свойствам и может быть стохастичным, в том числе чтобы быть вычислительно дешёвым.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Разделение на виды позволяет делать, например,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explicit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fitness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sharing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(явный обмен фитнесом): особи соревнуются только внутри своих видов. Пусть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вид,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𝐽</m:t>
                            </m:r>
                          </m:e>
                        </m:acc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𝑚𝑒𝑎𝑛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acc>
                      <m:accPr>
                        <m:chr m:val="̃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среднее значение приспособленности в данном виде. Тогда на основе этих средних значений между видами проводится (в некоторой «мягкой» форме – слабые виды должны выживать с достаточно высокой вероятностью) некоторый мягкий отбор; например, виду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позволяется сгенерировать потомков пропорционально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exp</m:t>
                        </m:r>
                      </m:fName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𝐽</m:t>
                                </m:r>
                              </m:e>
                            </m:acc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𝑚𝑒𝑎𝑛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acc>
                          <m:accPr>
                            <m:chr m:val="̃"/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𝒫</m:t>
                            </m:r>
                          </m:e>
                        </m:acc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 учётом того, что в сумме все виды должны породить заданное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гиперпараметром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число особей. Генерация необходимого числа потомков внутри каждого вида происходит уже, например, стандартным, «агрессивным» образом: отбирается некоторая доля топ-особей, к которым и применяется по несколько раз мутация.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16" y="1178256"/>
                <a:ext cx="10991088" cy="3364832"/>
              </a:xfrm>
              <a:prstGeom prst="rect">
                <a:avLst/>
              </a:prstGeom>
              <a:blipFill>
                <a:blip r:embed="rId2"/>
                <a:stretch>
                  <a:fillRect l="-277" r="-277" b="-7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543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09310" y="208616"/>
            <a:ext cx="2900859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Генетические алгоритмы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74904" y="570638"/>
                <a:ext cx="11594592" cy="24809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Кроссинговером называется распределение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𝑐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называются родителями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parent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потомком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child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Чтобы сохранить свойство «глобальности» оптимизации, чтобы мы могли при помощи такого инструмента порождения оказаться в любой точке пространства, т.е.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∀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𝛩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𝑐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)&gt;0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Однако, для практически любых примеров кроссинговера это не так. Поэтому считается, что это требование НЕ выполняется: процедура рекомбинации, возможно, стохастична, но всегда приводит к точке «между»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Это означает, что, используя только кроссинговер, область, покрываемая потомством, будет уже области, покрываемой родителями: теряется исследование. Чтобы «вылечить» это, в генетических алгоритмах всё равно остаётся этап применения мутации.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4" y="570638"/>
                <a:ext cx="11594592" cy="2480936"/>
              </a:xfrm>
              <a:prstGeom prst="rect">
                <a:avLst/>
              </a:prstGeom>
              <a:blipFill>
                <a:blip r:embed="rId2"/>
                <a:stretch>
                  <a:fillRect l="-315" r="-263" b="-12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74904" y="3306127"/>
                <a:ext cx="11494008" cy="28276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Алгоритм: Генетический поиск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Дано: оракул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Гиперпараметры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𝑐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кроссинговер,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мутация,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𝑠𝑒𝑙𝑒𝑐𝑡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</m:sup>
                    </m:s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𝒫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процедура отбора,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стратегия перебора,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размер популяции.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Инициализируем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𝑖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∈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{1, 2,...,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})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-ом шаге: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1. проводим отбор: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</m:sup>
                    </m:sSub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𝑠𝑒𝑙𝑒𝑐𝑡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Sup>
                      <m:sSub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</m:t>
                        </m:r>
                      </m:sup>
                    </m:sSubSup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))</m:t>
                    </m:r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2. проводим размножение: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</m:t>
                    </m:r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𝑐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𝑟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)|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𝑙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𝑟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∈</m:t>
                        </m:r>
                        <m:sSubSup>
                          <m:sSubSup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</m:t>
                            </m:r>
                          </m:sup>
                        </m:sSubSup>
                      </m:e>
                    </m:d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3. проводим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мутирование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←</m:t>
                    </m:r>
                    <m:d>
                      <m:d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e>
                        </m:acc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𝑚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𝜃</m:t>
                            </m:r>
                          </m:e>
                        </m:acc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|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)|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04" y="3306127"/>
                <a:ext cx="11494008" cy="2827697"/>
              </a:xfrm>
              <a:prstGeom prst="rect">
                <a:avLst/>
              </a:prstGeom>
              <a:blipFill>
                <a:blip r:embed="rId3"/>
                <a:stretch>
                  <a:fillRect l="-318" r="-265" b="-6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8374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3944" y="277886"/>
            <a:ext cx="77510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Neuroevolution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of Augmented Topologies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– Нейроэволюция расширенных топологий</a:t>
            </a:r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1" y="740580"/>
            <a:ext cx="4980603" cy="2432387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464" y="3534850"/>
            <a:ext cx="8933688" cy="27562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9781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429768" y="319000"/>
                <a:ext cx="11201400" cy="21752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-US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NEAT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также использует видовую специализацию для процесса отбора, для чего на таких генотипах необходимо задать метрику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𝜌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две особи,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𝐺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𝐺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количество связей у этих особей,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𝐷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число непарных связей,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𝑤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веса особей в парных связях. Понятно, что веса можно сравнить только для парных связях, и понятно, что чем больше непарных связей, тем больше должно</a:t>
                </a:r>
                <a:r>
                  <a:rPr lang="ru-RU" sz="1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быть расстояние. В NEAT предлагается просто объединить эти два критерия: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𝜌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):=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𝑚𝑎𝑥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sz="16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 +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‖"/>
                          <m:endChr m:val="‖"/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гиперпараметры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Внутри самих видов отбор жадный.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8" y="319000"/>
                <a:ext cx="11201400" cy="2175275"/>
              </a:xfrm>
              <a:prstGeom prst="rect">
                <a:avLst/>
              </a:prstGeom>
              <a:blipFill>
                <a:blip r:embed="rId2"/>
                <a:stretch>
                  <a:fillRect l="-327" r="-272" b="-14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 2"/>
          <p:cNvSpPr/>
          <p:nvPr/>
        </p:nvSpPr>
        <p:spPr>
          <a:xfrm>
            <a:off x="-138474" y="2494275"/>
            <a:ext cx="3068917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Эволюционные стратегии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370332" y="2856297"/>
                <a:ext cx="11320272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Распределение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из которого генерируются особи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-ой популяции, называется эволюционной стратегией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evolutionary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strategy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𝐸𝑆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ct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𝒫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:={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∼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𝑞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𝜆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)|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𝑖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∈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{1,2...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𝑁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}}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параметры эволюционной стратегии.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32" y="2856297"/>
                <a:ext cx="11320272" cy="1274195"/>
              </a:xfrm>
              <a:prstGeom prst="rect">
                <a:avLst/>
              </a:prstGeom>
              <a:blipFill>
                <a:blip r:embed="rId3"/>
                <a:stretch>
                  <a:fillRect b="-3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0" y="4130492"/>
            <a:ext cx="4051045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Оценка вероятности редкого события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Прямоугольник 6"/>
              <p:cNvSpPr/>
              <p:nvPr/>
            </p:nvSpPr>
            <p:spPr>
              <a:xfrm>
                <a:off x="370332" y="4567801"/>
                <a:ext cx="11489436" cy="18935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Первую идею возьмём немного сбоку. Допустим, стоит задача оценки вероятности редкого события: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𝑙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)=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𝑝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 ≥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]—?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(2.1)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некоторое распределение,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→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ℝ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– функционал,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некоторый порог.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Под словами «редкое событие» подразумевается, что условие внутри индикатора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выполняется с вероятностью, крайне близкой к нулю. Это означает, что Монте-Карло оценка с разумным на практике числом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𝑁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выдаст или ноль или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если один раз повезёт; короче, лобовой подход не годится.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32" y="4567801"/>
                <a:ext cx="11489436" cy="1893595"/>
              </a:xfrm>
              <a:prstGeom prst="rect">
                <a:avLst/>
              </a:prstGeom>
              <a:blipFill>
                <a:blip r:embed="rId4"/>
                <a:stretch>
                  <a:fillRect l="-1379" r="-265" b="-276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8390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73736" y="228880"/>
                <a:ext cx="11402568" cy="413408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Хочется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сэмплировать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 из того распределения, которое нам дали —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— а из чего-нибудь получше. Для этого применим выборку по важности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importance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sampling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с некоторым распределением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которое будем выбирать сами: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𝑙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𝔼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∼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𝑝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sub>
                    </m:sSub>
                    <m:f>
                      <m:f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𝑝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num>
                      <m:den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𝑞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den>
                    </m:f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[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US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 ≥ 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				(2.2)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Нам хочется выбрать такое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чтобы дисперсия Монте-Карло оценки такого интеграла была как можно меньше. Желание может быть исполнено: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Утверждение: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Дисперсия Монте-Карло оценки (2.2) минимальна при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)[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]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				(2.3)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Доказательство.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Искомое значение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𝑙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(2.1) является нормировочной константой такого распределения. Подставим данное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подынтегральную функцию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𝑝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𝑞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≥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𝑙</m:t>
                      </m:r>
                      <m:f>
                        <m:f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𝑝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)[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𝑓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)≥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]</m:t>
                          </m:r>
                        </m:num>
                        <m:den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𝑝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)[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𝑓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𝑥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)≥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𝛾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]</m:t>
                          </m:r>
                        </m:den>
                      </m:f>
                      <m:r>
                        <a:rPr lang="en-US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𝑙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Поскольку всё сократилось, для любых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значение Монте-Карло оценки будет равно l; то есть, дисперсия равна нулю.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" y="228880"/>
                <a:ext cx="11402568" cy="4134080"/>
              </a:xfrm>
              <a:prstGeom prst="rect">
                <a:avLst/>
              </a:prstGeom>
              <a:blipFill>
                <a:blip r:embed="rId2"/>
                <a:stretch>
                  <a:fillRect l="-321" r="-267" b="-4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173736" y="4760675"/>
                <a:ext cx="11731752" cy="1302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Посчитать такое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мы не можем, однако можем пытаться приблизить в параметрическом семействе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минимизируя, например, такую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𝐾𝐿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-дивергенцию (расхождение в ходе эволюции признаков, возникших от общего предка.):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𝐾𝐿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𝑞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)∥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𝑞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𝜆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))=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𝑐𝑜𝑛𝑠𝑡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𝜆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𝑞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  <m:r>
                            <a:rPr lang="ru-RU" sz="16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𝑙𝑜𝑔𝑞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𝑥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|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𝜆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)→</m:t>
                      </m:r>
                      <m:r>
                        <a:rPr lang="ru-RU" sz="16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𝑚𝑖𝑛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Единственное зависящее от параметров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слагаемое называется кросс-энтропией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cross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entropy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и даёт название методу.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36" y="4760675"/>
                <a:ext cx="11731752" cy="1302664"/>
              </a:xfrm>
              <a:prstGeom prst="rect">
                <a:avLst/>
              </a:prstGeom>
              <a:blipFill>
                <a:blip r:embed="rId3"/>
                <a:stretch>
                  <a:fillRect l="-312" r="-260" b="-32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0417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71" y="935736"/>
            <a:ext cx="8976297" cy="163372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01752" y="4734486"/>
                <a:ext cx="11173968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Важно, что мы можем не задавать заранее последовательность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𝛾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определять очередное значение прямо на ходу, например, исходя из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...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𝑁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∼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значений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 них.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" y="4734486"/>
                <a:ext cx="11173968" cy="683264"/>
              </a:xfrm>
              <a:prstGeom prst="rect">
                <a:avLst/>
              </a:prstGeom>
              <a:blipFill>
                <a:blip r:embed="rId3"/>
                <a:stretch>
                  <a:fillRect l="-327" r="-273"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/>
              <p:cNvSpPr/>
              <p:nvPr/>
            </p:nvSpPr>
            <p:spPr>
              <a:xfrm>
                <a:off x="-252984" y="189077"/>
                <a:ext cx="9717024" cy="3877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А 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то есть: строим последовательность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любое, на очередной итерации: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2984" y="189077"/>
                <a:ext cx="9717024" cy="387798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301752" y="2997929"/>
                <a:ext cx="11466576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Каждая задача нахождения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всё ещё тяжела в связи с тем, что подынтегральное выражение всё ещё почти всегда ноль. Ключевая идея: поскольку мы теперь строим целую последовательность, мы можем поначалу решать сильно более простую задачу, разогревая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Будем на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-ом шаге брать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не из условия задачи, а поменьше, так, чтобы с итерациями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увеличивалась (и мы решали бы задачу, всё более похожую на ту, что требовалось решить исходно), и одновременно достаточное число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сэмплов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значения подынтегральной функции были отличны от нуля.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52" y="2997929"/>
                <a:ext cx="11466576" cy="1569660"/>
              </a:xfrm>
              <a:prstGeom prst="rect">
                <a:avLst/>
              </a:prstGeom>
              <a:blipFill>
                <a:blip r:embed="rId5"/>
                <a:stretch>
                  <a:fillRect l="-319" r="-266" b="-27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125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18872" y="253085"/>
            <a:ext cx="7854696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 Метод Кросс-Энтропии для оценки вероятности редкого события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73" b="84843"/>
          <a:stretch/>
        </p:blipFill>
        <p:spPr bwMode="auto">
          <a:xfrm>
            <a:off x="561594" y="917448"/>
            <a:ext cx="7622286" cy="124053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94" y="2306533"/>
            <a:ext cx="7733042" cy="362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66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14618" y="162896"/>
            <a:ext cx="5690084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Метод Кросс-Энтропии для стохастической оптимизации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265176" y="638777"/>
                <a:ext cx="11320272" cy="1865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Для этого вернёмся к нашей задаче </a:t>
                </a:r>
                <a:r>
                  <a:rPr lang="ru-RU" sz="1600" dirty="0" err="1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безградиентной</a:t>
                </a: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 оптимизации: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𝐽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)→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𝑚𝑎𝑥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254000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 перепишем предыдущий алгоритм в условиях, когда порог γ «не ограничен», ну или что тоже самое,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𝛾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𝑚𝑎𝑥𝐽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Формально можем выбирать любое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; положим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𝑝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):=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𝑥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просто чтобы в задаче (2.4) сократилась коррекция важность выборки (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importance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sampling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). Получим очень простой на вид алгоритм, в котором фактически на очередном шаге минимизируется такое расстояние: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76" y="638777"/>
                <a:ext cx="11320272" cy="1865126"/>
              </a:xfrm>
              <a:prstGeom prst="rect">
                <a:avLst/>
              </a:prstGeom>
              <a:blipFill>
                <a:blip r:embed="rId2"/>
                <a:stretch>
                  <a:fillRect l="-323" r="-269" b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961" y="2503903"/>
            <a:ext cx="5094701" cy="47550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347472" y="2886557"/>
            <a:ext cx="10616184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 Метод Кросс-Энтропии для оптимизации с оракулом нулевого порядка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4500" y="3459619"/>
            <a:ext cx="8585217" cy="285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143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200275" y="135464"/>
            <a:ext cx="6118598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Метод Кросс-Энтропии для обучения с подкреплением (CEM)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-200275" y="523262"/>
            <a:ext cx="6364435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Алгоритм: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Cross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Entropy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Method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(Метод перекрестной энтропии)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Рисунок 3"/>
          <p:cNvPicPr/>
          <p:nvPr/>
        </p:nvPicPr>
        <p:blipFill rotWithShape="1">
          <a:blip r:embed="rId2"/>
          <a:srcRect l="56253" t="27562" r="6824" b="19428"/>
          <a:stretch/>
        </p:blipFill>
        <p:spPr bwMode="auto">
          <a:xfrm>
            <a:off x="1691640" y="911060"/>
            <a:ext cx="8022145" cy="30422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-200275" y="4058240"/>
            <a:ext cx="4644861" cy="3620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Натуральные эволюционные стратегии (NES)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 rotWithShape="1">
          <a:blip r:embed="rId3"/>
          <a:srcRect l="69054" t="43844" r="19489" b="50545"/>
          <a:stretch/>
        </p:blipFill>
        <p:spPr bwMode="auto">
          <a:xfrm>
            <a:off x="4444586" y="5214827"/>
            <a:ext cx="3032094" cy="5680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381631" y="4525157"/>
            <a:ext cx="110733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54000" algn="just"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Рассмотрим альтернативный вариант подбора параметров эволюционной стратегии q(</a:t>
            </a:r>
            <a:r>
              <a:rPr lang="ru-RU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θ|λ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). Будем подбирать λ, исходя из следующего функционала:</a:t>
            </a:r>
            <a:r>
              <a:rPr lang="ru-RU" sz="1600" dirty="0"/>
              <a:t>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209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1959864" y="219306"/>
                <a:ext cx="6096000" cy="69775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sub>
                      </m:sSub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</m:d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∼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mbria Math" panose="02040503050406030204" pitchFamily="18" charset="0"/>
                            </a:rPr>
                            <m:t>𝛻</m:t>
                          </m:r>
                        </m:e>
                        <m:sub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sub>
                      </m:sSub>
                      <m:func>
                        <m:func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| 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𝐽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864" y="219306"/>
                <a:ext cx="6096000" cy="69775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246888" y="1017431"/>
                <a:ext cx="11283696" cy="9787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Итак, есть следующая идея: сгенерируем популяцию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при помощи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𝜆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после чего воспользуемся особями как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сэмплами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для несмещённой оценки градиента функционала (2.5), чтобы улучшить параметры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 впоследствии сгенерировать следующее поколение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𝒫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из более хорошего распределения.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1017431"/>
                <a:ext cx="11283696" cy="978729"/>
              </a:xfrm>
              <a:prstGeom prst="rect">
                <a:avLst/>
              </a:prstGeom>
              <a:blipFill>
                <a:blip r:embed="rId3"/>
                <a:stretch>
                  <a:fillRect l="-324" r="-270" b="-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-258564" y="1996160"/>
            <a:ext cx="4436856" cy="3877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600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Адаптация матрицы ковариации (CMA-ES)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246888" y="2383958"/>
                <a:ext cx="11457432" cy="21659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Более глубокомысленно было бы для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𝛩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≡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ℝ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(матрица ковариации размера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ℝ</m:t>
                        </m:r>
                      </m:e>
                      <m:sup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h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×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h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количество параметров нашей стратегии) адаптировать не только среднее, но и матрицу ковариации, которая имеет смысл «разброса» очередной популяции.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Covariance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Matrix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Adaptation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Evolution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6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Strategy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(CMAES - Ковариационная матрица Адаптация Эволюция Стратегия) — алгоритм, включающий довольной большой набор эвристик, в основе которого лежит эволюционная стратегия, адаптирующая не только среднее, но и матрицу ковариации: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𝑞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𝜃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|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𝜆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):=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𝑁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(µ,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𝛴</m:t>
                      </m:r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)</m:t>
                      </m:r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:=(µ,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𝛴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2383958"/>
                <a:ext cx="11457432" cy="2165914"/>
              </a:xfrm>
              <a:prstGeom prst="rect">
                <a:avLst/>
              </a:prstGeom>
              <a:blipFill>
                <a:blip r:embed="rId4"/>
                <a:stretch>
                  <a:fillRect l="-319" r="-266" b="-16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Прямоугольник 5"/>
              <p:cNvSpPr/>
              <p:nvPr/>
            </p:nvSpPr>
            <p:spPr>
              <a:xfrm>
                <a:off x="246888" y="4549872"/>
                <a:ext cx="11594592" cy="6832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Рассмотрим только основную часть формул алгоритма, касающихся формулы обновления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𝛴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Посмотрим на формулу для обновления среднего (с точностью до скорость обучения):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8" y="4549872"/>
                <a:ext cx="11594592" cy="683264"/>
              </a:xfrm>
              <a:prstGeom prst="rect">
                <a:avLst/>
              </a:prstGeom>
              <a:blipFill>
                <a:blip r:embed="rId5"/>
                <a:stretch>
                  <a:fillRect l="-315" r="-263" b="-7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/>
          <p:nvPr/>
        </p:nvPicPr>
        <p:blipFill rotWithShape="1">
          <a:blip r:embed="rId6"/>
          <a:srcRect l="66879" t="50223" r="8383" b="38246"/>
          <a:stretch/>
        </p:blipFill>
        <p:spPr bwMode="auto">
          <a:xfrm>
            <a:off x="3330702" y="5315432"/>
            <a:ext cx="6325362" cy="9024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296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Прямоугольник 1"/>
              <p:cNvSpPr/>
              <p:nvPr/>
            </p:nvSpPr>
            <p:spPr>
              <a:xfrm>
                <a:off x="384048" y="323769"/>
                <a:ext cx="11173968" cy="29170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Для обновления матрицы ковариации будем рассуждать также: каждая особь популяции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«указывает» на некоторую ковариацию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−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µ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  <m:sSup>
                      <m:sSup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−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µ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 таким образом «предлагает» следующее изменение: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𝜃</m:t>
                          </m:r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µ</m:t>
                              </m:r>
                            </m:e>
                            <m:sub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𝜃</m:t>
                              </m:r>
                              <m:r>
                                <a:rPr lang="ru-RU" sz="16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µ</m:t>
                                  </m:r>
                                </m:e>
                                <m:sub>
                                  <m:r>
                                    <a:rPr lang="ru-RU" sz="16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ru-RU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T</m:t>
                          </m:r>
                        </m:sup>
                      </m:sSup>
                      <m:r>
                        <a:rPr lang="ru-RU" sz="16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𝛴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𝛴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— матрица ковариации на текущей итерации. Усредним эти «предложения изменения» по имеющейся популяции, взвесив их на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𝐽</m:t>
                        </m:r>
                      </m:e>
                    </m:acc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и получим «градиент» для обновления матрицы: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r">
                  <a:lnSpc>
                    <a:spcPct val="120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𝛴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+1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:= </m:t>
                    </m:r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𝛴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𝛼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θ</m:t>
                        </m:r>
                        <m:r>
                          <a:rPr lang="ru-RU" sz="16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𝒫</m:t>
                            </m:r>
                          </m:e>
                          <m:sub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𝑘</m:t>
                            </m:r>
                          </m:sub>
                        </m:sSub>
                      </m:sub>
                      <m:sup/>
                      <m:e>
                        <m:acc>
                          <m:accPr>
                            <m:chr m:val="̂"/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accPr>
                          <m:e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𝐽</m:t>
                            </m:r>
                          </m:e>
                        </m:acc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(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𝜃</m:t>
                        </m:r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)</m:t>
                        </m:r>
                        <m:d>
                          <m:dPr>
                            <m:ctrlP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𝜃</m:t>
                                </m:r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µ</m:t>
                                    </m:r>
                                  </m:e>
                                  <m:sub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𝜃</m:t>
                                    </m:r>
                                    <m:r>
                                      <a:rPr lang="ru-RU" sz="16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µ</m:t>
                                        </m:r>
                                      </m:e>
                                      <m:sub>
                                        <m:r>
                                          <a:rPr lang="ru-RU" sz="1600" i="1"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ru-RU" sz="160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ru-RU" sz="16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ru-RU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𝛴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	(2.8)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Здесь нужно оговориться, что мы используем оценку ковариации как бы «методом максимального правдоподобия при условии известного среднего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µ</m:t>
                        </m:r>
                      </m:e>
                      <m:sub>
                        <m:r>
                          <a:rPr lang="ru-RU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». Исторически к этим формулам пришли эвристически, но позже у формулы появилось теоретическое обоснование.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323769"/>
                <a:ext cx="11173968" cy="2917017"/>
              </a:xfrm>
              <a:prstGeom prst="rect">
                <a:avLst/>
              </a:prstGeom>
              <a:blipFill>
                <a:blip r:embed="rId2"/>
                <a:stretch>
                  <a:fillRect l="-273" r="-273" b="-8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/>
              <p:cNvSpPr/>
              <p:nvPr/>
            </p:nvSpPr>
            <p:spPr>
              <a:xfrm>
                <a:off x="384048" y="3240786"/>
                <a:ext cx="1143000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u="sng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Теорема:</a:t>
                </a: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Формулы (2.7) и (2.8) для обновления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=(µ,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𝛴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являются формулами натурального градиентного спуска для (2.5).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indent="450215" algn="just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Именно поэтому данный вид алгоритмов для обучения эволюционных стратегий называется «натуральными»: считается, что функционал (2.5) корректнее оптимизировать именно при помощи натурального градиентного спуска, инвариантного к параметризации </a:t>
                </a:r>
                <a14:m>
                  <m:oMath xmlns:m="http://schemas.openxmlformats.org/officeDocument/2006/math"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𝑞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𝜃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|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𝜆</m:t>
                    </m:r>
                    <m:r>
                      <a:rPr lang="ru-RU" sz="16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а не обычного.</a:t>
                </a:r>
                <a:endParaRPr lang="ru-RU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3240786"/>
                <a:ext cx="11430000" cy="1569660"/>
              </a:xfrm>
              <a:prstGeom prst="rect">
                <a:avLst/>
              </a:prstGeom>
              <a:blipFill>
                <a:blip r:embed="rId3"/>
                <a:stretch>
                  <a:fillRect l="-267" r="-267" b="-27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3459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808</Words>
  <Application>Microsoft Office PowerPoint</Application>
  <PresentationFormat>Широкоэкранный</PresentationFormat>
  <Paragraphs>113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Times New Roman</vt:lpstr>
      <vt:lpstr>Тема Office</vt:lpstr>
      <vt:lpstr>Мета-эвристики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ALEKSEY</cp:lastModifiedBy>
  <cp:revision>46</cp:revision>
  <dcterms:created xsi:type="dcterms:W3CDTF">2020-10-06T14:10:24Z</dcterms:created>
  <dcterms:modified xsi:type="dcterms:W3CDTF">2023-10-05T15:18:21Z</dcterms:modified>
</cp:coreProperties>
</file>