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9" r:id="rId3"/>
    <p:sldId id="301" r:id="rId4"/>
    <p:sldId id="302" r:id="rId5"/>
    <p:sldId id="303" r:id="rId6"/>
    <p:sldId id="304" r:id="rId7"/>
    <p:sldId id="305" r:id="rId8"/>
    <p:sldId id="306" r:id="rId9"/>
    <p:sldId id="307" r:id="rId10"/>
    <p:sldId id="308" r:id="rId11"/>
    <p:sldId id="309" r:id="rId12"/>
    <p:sldId id="310" r:id="rId13"/>
    <p:sldId id="312" r:id="rId14"/>
    <p:sldId id="313" r:id="rId15"/>
    <p:sldId id="314" r:id="rId16"/>
    <p:sldId id="315" r:id="rId17"/>
    <p:sldId id="316" r:id="rId18"/>
    <p:sldId id="317" r:id="rId19"/>
    <p:sldId id="318" r:id="rId20"/>
    <p:sldId id="319" r:id="rId21"/>
    <p:sldId id="320" r:id="rId22"/>
    <p:sldId id="311"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7" autoAdjust="0"/>
    <p:restoredTop sz="94660"/>
  </p:normalViewPr>
  <p:slideViewPr>
    <p:cSldViewPr snapToGrid="0">
      <p:cViewPr varScale="1">
        <p:scale>
          <a:sx n="84" d="100"/>
          <a:sy n="84" d="100"/>
        </p:scale>
        <p:origin x="533"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8C85646-FAEB-4AB3-A326-0A08349E2827}" type="datetimeFigureOut">
              <a:rPr lang="ru-RU" smtClean="0"/>
              <a:t>31.08.2023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2296607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8C85646-FAEB-4AB3-A326-0A08349E2827}" type="datetimeFigureOut">
              <a:rPr lang="ru-RU" smtClean="0"/>
              <a:t>31.08.2023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3560330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8C85646-FAEB-4AB3-A326-0A08349E2827}" type="datetimeFigureOut">
              <a:rPr lang="ru-RU" smtClean="0"/>
              <a:t>31.08.2023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706579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8C85646-FAEB-4AB3-A326-0A08349E2827}" type="datetimeFigureOut">
              <a:rPr lang="ru-RU" smtClean="0"/>
              <a:t>31.08.2023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3330559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8C85646-FAEB-4AB3-A326-0A08349E2827}" type="datetimeFigureOut">
              <a:rPr lang="ru-RU" smtClean="0"/>
              <a:t>31.08.2023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309246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8C85646-FAEB-4AB3-A326-0A08349E2827}" type="datetimeFigureOut">
              <a:rPr lang="ru-RU" smtClean="0"/>
              <a:t>31.08.2023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1651846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8C85646-FAEB-4AB3-A326-0A08349E2827}" type="datetimeFigureOut">
              <a:rPr lang="ru-RU" smtClean="0"/>
              <a:t>31.08.2023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190731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8C85646-FAEB-4AB3-A326-0A08349E2827}" type="datetimeFigureOut">
              <a:rPr lang="ru-RU" smtClean="0"/>
              <a:t>31.08.2023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269825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8C85646-FAEB-4AB3-A326-0A08349E2827}" type="datetimeFigureOut">
              <a:rPr lang="ru-RU" smtClean="0"/>
              <a:t>31.08.2023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679832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8C85646-FAEB-4AB3-A326-0A08349E2827}" type="datetimeFigureOut">
              <a:rPr lang="ru-RU" smtClean="0"/>
              <a:t>31.08.2023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170821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8C85646-FAEB-4AB3-A326-0A08349E2827}" type="datetimeFigureOut">
              <a:rPr lang="ru-RU" smtClean="0"/>
              <a:t>31.08.2023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6C153EF-3B09-4DED-9593-102D562BC4B7}" type="slidenum">
              <a:rPr lang="ru-RU" smtClean="0"/>
              <a:t>‹#›</a:t>
            </a:fld>
            <a:endParaRPr lang="ru-RU"/>
          </a:p>
        </p:txBody>
      </p:sp>
    </p:spTree>
    <p:extLst>
      <p:ext uri="{BB962C8B-B14F-4D97-AF65-F5344CB8AC3E}">
        <p14:creationId xmlns:p14="http://schemas.microsoft.com/office/powerpoint/2010/main" val="946418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C85646-FAEB-4AB3-A326-0A08349E2827}" type="datetimeFigureOut">
              <a:rPr lang="ru-RU" smtClean="0"/>
              <a:t>31.08.2023</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C153EF-3B09-4DED-9593-102D562BC4B7}" type="slidenum">
              <a:rPr lang="ru-RU" smtClean="0"/>
              <a:t>‹#›</a:t>
            </a:fld>
            <a:endParaRPr lang="ru-RU"/>
          </a:p>
        </p:txBody>
      </p:sp>
    </p:spTree>
    <p:extLst>
      <p:ext uri="{BB962C8B-B14F-4D97-AF65-F5344CB8AC3E}">
        <p14:creationId xmlns:p14="http://schemas.microsoft.com/office/powerpoint/2010/main" val="2335316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77240" y="2202633"/>
            <a:ext cx="10515600" cy="1325563"/>
          </a:xfrm>
        </p:spPr>
        <p:txBody>
          <a:bodyPr/>
          <a:lstStyle/>
          <a:p>
            <a:pPr algn="ctr"/>
            <a:r>
              <a:rPr lang="ru-RU" b="1" dirty="0"/>
              <a:t>Градиентный бустинг</a:t>
            </a:r>
            <a:endParaRPr lang="ru-RU" b="1" dirty="0"/>
          </a:p>
        </p:txBody>
      </p:sp>
    </p:spTree>
    <p:extLst>
      <p:ext uri="{BB962C8B-B14F-4D97-AF65-F5344CB8AC3E}">
        <p14:creationId xmlns:p14="http://schemas.microsoft.com/office/powerpoint/2010/main" val="1898597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44370" y="851952"/>
            <a:ext cx="7249036" cy="400110"/>
          </a:xfrm>
          <a:prstGeom prst="rect">
            <a:avLst/>
          </a:prstGeom>
        </p:spPr>
        <p:txBody>
          <a:bodyPr wrap="none">
            <a:spAutoFit/>
          </a:bodyPr>
          <a:lstStyle/>
          <a:p>
            <a:r>
              <a:rPr lang="ru-RU" sz="2000" dirty="0">
                <a:latin typeface="Times New Roman" panose="02020603050405020304" pitchFamily="18" charset="0"/>
                <a:ea typeface="Times New Roman" panose="02020603050405020304" pitchFamily="18" charset="0"/>
              </a:rPr>
              <a:t>GBM</a:t>
            </a:r>
            <a:r>
              <a:rPr lang="ru-RU" sz="2000" dirty="0">
                <a:latin typeface="Times New Roman" panose="02020603050405020304" pitchFamily="18" charset="0"/>
                <a:ea typeface="Calibri" panose="020F0502020204030204" pitchFamily="34" charset="0"/>
              </a:rPr>
              <a:t> </a:t>
            </a:r>
            <a:r>
              <a:rPr lang="ru-RU" sz="2000" dirty="0">
                <a:latin typeface="Times New Roman" panose="02020603050405020304" pitchFamily="18" charset="0"/>
                <a:ea typeface="Times New Roman" panose="02020603050405020304" pitchFamily="18" charset="0"/>
              </a:rPr>
              <a:t>(</a:t>
            </a:r>
            <a:r>
              <a:rPr lang="ru-RU" sz="2000" dirty="0" err="1">
                <a:latin typeface="Times New Roman" panose="02020603050405020304" pitchFamily="18" charset="0"/>
                <a:ea typeface="Times New Roman" panose="02020603050405020304" pitchFamily="18" charset="0"/>
              </a:rPr>
              <a:t>Gradient</a:t>
            </a:r>
            <a:r>
              <a:rPr lang="ru-RU" sz="2000" dirty="0">
                <a:latin typeface="Times New Roman" panose="02020603050405020304" pitchFamily="18" charset="0"/>
                <a:ea typeface="Times New Roman" panose="02020603050405020304" pitchFamily="18" charset="0"/>
              </a:rPr>
              <a:t> </a:t>
            </a:r>
            <a:r>
              <a:rPr lang="ru-RU" sz="2000" dirty="0" err="1">
                <a:latin typeface="Times New Roman" panose="02020603050405020304" pitchFamily="18" charset="0"/>
                <a:ea typeface="Times New Roman" panose="02020603050405020304" pitchFamily="18" charset="0"/>
              </a:rPr>
              <a:t>Boosting</a:t>
            </a:r>
            <a:r>
              <a:rPr lang="ru-RU" sz="2000" dirty="0">
                <a:latin typeface="Times New Roman" panose="02020603050405020304" pitchFamily="18" charset="0"/>
                <a:ea typeface="Times New Roman" panose="02020603050405020304" pitchFamily="18" charset="0"/>
              </a:rPr>
              <a:t> </a:t>
            </a:r>
            <a:r>
              <a:rPr lang="ru-RU" sz="2000" dirty="0" err="1">
                <a:latin typeface="Times New Roman" panose="02020603050405020304" pitchFamily="18" charset="0"/>
                <a:ea typeface="Times New Roman" panose="02020603050405020304" pitchFamily="18" charset="0"/>
              </a:rPr>
              <a:t>Machine</a:t>
            </a:r>
            <a:r>
              <a:rPr lang="ru-RU" sz="2000" dirty="0">
                <a:latin typeface="Times New Roman" panose="02020603050405020304" pitchFamily="18" charset="0"/>
                <a:ea typeface="Times New Roman" panose="02020603050405020304" pitchFamily="18" charset="0"/>
              </a:rPr>
              <a:t> – Машина усиления градиента)</a:t>
            </a:r>
            <a:endParaRPr lang="ru-RU" sz="2000" dirty="0"/>
          </a:p>
        </p:txBody>
      </p:sp>
      <p:sp>
        <p:nvSpPr>
          <p:cNvPr id="4" name="Прямоугольник 3"/>
          <p:cNvSpPr/>
          <p:nvPr/>
        </p:nvSpPr>
        <p:spPr>
          <a:xfrm>
            <a:off x="244370" y="367320"/>
            <a:ext cx="4502771" cy="400110"/>
          </a:xfrm>
          <a:prstGeom prst="rect">
            <a:avLst/>
          </a:prstGeom>
        </p:spPr>
        <p:txBody>
          <a:bodyPr wrap="none">
            <a:spAutoFit/>
          </a:bodyPr>
          <a:lstStyle/>
          <a:p>
            <a:r>
              <a:rPr lang="ru-RU" sz="2000" dirty="0" err="1">
                <a:latin typeface="Times New Roman" panose="02020603050405020304" pitchFamily="18" charset="0"/>
                <a:ea typeface="Times New Roman" panose="02020603050405020304" pitchFamily="18" charset="0"/>
              </a:rPr>
              <a:t>AdaBoost</a:t>
            </a:r>
            <a:r>
              <a:rPr lang="ru-RU" sz="2000" dirty="0">
                <a:latin typeface="Times New Roman" panose="02020603050405020304" pitchFamily="18" charset="0"/>
                <a:ea typeface="Times New Roman" panose="02020603050405020304" pitchFamily="18" charset="0"/>
              </a:rPr>
              <a:t> (от адаптивность и усиление)</a:t>
            </a:r>
            <a:endParaRPr lang="ru-RU" sz="2000" dirty="0"/>
          </a:p>
        </p:txBody>
      </p:sp>
      <p:pic>
        <p:nvPicPr>
          <p:cNvPr id="5" name="Рисунок 4"/>
          <p:cNvPicPr>
            <a:picLocks noChangeAspect="1"/>
          </p:cNvPicPr>
          <p:nvPr/>
        </p:nvPicPr>
        <p:blipFill>
          <a:blip r:embed="rId2"/>
          <a:stretch>
            <a:fillRect/>
          </a:stretch>
        </p:blipFill>
        <p:spPr>
          <a:xfrm>
            <a:off x="4088675" y="1645770"/>
            <a:ext cx="4595222" cy="4745886"/>
          </a:xfrm>
          <a:prstGeom prst="rect">
            <a:avLst/>
          </a:prstGeom>
        </p:spPr>
      </p:pic>
    </p:spTree>
    <p:extLst>
      <p:ext uri="{BB962C8B-B14F-4D97-AF65-F5344CB8AC3E}">
        <p14:creationId xmlns:p14="http://schemas.microsoft.com/office/powerpoint/2010/main" val="119926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Прямоугольник 2"/>
              <p:cNvSpPr/>
              <p:nvPr/>
            </p:nvSpPr>
            <p:spPr>
              <a:xfrm>
                <a:off x="4620920" y="422632"/>
                <a:ext cx="9332824" cy="3129703"/>
              </a:xfrm>
              <a:prstGeom prst="rect">
                <a:avLst/>
              </a:prstGeom>
            </p:spPr>
            <p:txBody>
              <a:bodyPr wrap="square">
                <a:spAutoFit/>
              </a:bodyPr>
              <a:lstStyle/>
              <a:p>
                <a:pPr indent="457200" algn="just">
                  <a:lnSpc>
                    <a:spcPct val="120000"/>
                  </a:lnSpc>
                  <a:spcAft>
                    <a:spcPts val="0"/>
                  </a:spcAft>
                </a:pPr>
                <a:r>
                  <a:rPr lang="ru-RU" sz="1600" dirty="0">
                    <a:solidFill>
                      <a:srgbClr val="000000"/>
                    </a:solidFill>
                    <a:latin typeface="Times New Roman" panose="02020603050405020304" pitchFamily="18" charset="0"/>
                    <a:ea typeface="Times New Roman" panose="02020603050405020304" pitchFamily="18" charset="0"/>
                  </a:rPr>
                  <a:t>Псевдокод:</a:t>
                </a:r>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Symbol" panose="05050102010706020507" pitchFamily="18" charset="2"/>
                  <a:buChar char=""/>
                </a:pPr>
                <a:r>
                  <a:rPr lang="ru-RU" sz="1600" dirty="0">
                    <a:solidFill>
                      <a:srgbClr val="000000"/>
                    </a:solidFill>
                    <a:effectLst/>
                    <a:latin typeface="Times New Roman" panose="02020603050405020304" pitchFamily="18" charset="0"/>
                    <a:ea typeface="Times New Roman" panose="02020603050405020304" pitchFamily="18" charset="0"/>
                  </a:rPr>
                  <a:t>Инициализировать выборочные веса </a:t>
                </a:r>
                <a14:m>
                  <m:oMath xmlns:m="http://schemas.openxmlformats.org/officeDocument/2006/math">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𝑖</m:t>
                        </m:r>
                      </m:sub>
                      <m:sup>
                        <m:r>
                          <a:rPr lang="ru-RU" sz="1600" i="1">
                            <a:solidFill>
                              <a:srgbClr val="000000"/>
                            </a:solidFill>
                            <a:effectLst/>
                            <a:latin typeface="Cambria Math" panose="02040503050406030204" pitchFamily="18" charset="0"/>
                            <a:ea typeface="Times New Roman" panose="02020603050405020304" pitchFamily="18" charset="0"/>
                          </a:rPr>
                          <m:t>(0)</m:t>
                        </m:r>
                      </m:sup>
                    </m:sSubSup>
                    <m:r>
                      <a:rPr lang="ru-RU" sz="1600" i="1">
                        <a:solidFill>
                          <a:srgbClr val="000000"/>
                        </a:solidFill>
                        <a:effectLst/>
                        <a:latin typeface="Cambria Math" panose="02040503050406030204" pitchFamily="18" charset="0"/>
                        <a:ea typeface="Times New Roman" panose="02020603050405020304" pitchFamily="18" charset="0"/>
                      </a:rPr>
                      <m:t>=</m:t>
                    </m:r>
                    <m:f>
                      <m:fPr>
                        <m:ctrlPr>
                          <a:rPr lang="ru-RU" sz="1600" i="1">
                            <a:solidFill>
                              <a:srgbClr val="000000"/>
                            </a:solidFill>
                            <a:effectLst/>
                            <a:latin typeface="Cambria Math" panose="02040503050406030204" pitchFamily="18" charset="0"/>
                            <a:ea typeface="Times New Roman" panose="02020603050405020304" pitchFamily="18" charset="0"/>
                          </a:rPr>
                        </m:ctrlPr>
                      </m:fPr>
                      <m:num>
                        <m:r>
                          <a:rPr lang="ru-RU" sz="1600" i="1">
                            <a:solidFill>
                              <a:srgbClr val="000000"/>
                            </a:solidFill>
                            <a:effectLst/>
                            <a:latin typeface="Cambria Math" panose="02040503050406030204" pitchFamily="18" charset="0"/>
                            <a:ea typeface="Times New Roman" panose="02020603050405020304" pitchFamily="18" charset="0"/>
                          </a:rPr>
                          <m:t>1</m:t>
                        </m:r>
                      </m:num>
                      <m:den>
                        <m:r>
                          <a:rPr lang="ru-RU" sz="1600" i="1">
                            <a:solidFill>
                              <a:srgbClr val="000000"/>
                            </a:solidFill>
                            <a:effectLst/>
                            <a:latin typeface="Cambria Math" panose="02040503050406030204" pitchFamily="18" charset="0"/>
                            <a:ea typeface="Times New Roman" panose="02020603050405020304" pitchFamily="18" charset="0"/>
                          </a:rPr>
                          <m:t>𝑙</m:t>
                        </m:r>
                      </m:den>
                    </m:f>
                    <m:r>
                      <a:rPr lang="ru-RU" sz="1600" i="1">
                        <a:solidFill>
                          <a:srgbClr val="000000"/>
                        </a:solidFill>
                        <a:effectLst/>
                        <a:latin typeface="Cambria Math" panose="02040503050406030204" pitchFamily="18" charset="0"/>
                        <a:ea typeface="Times New Roman" panose="02020603050405020304" pitchFamily="18" charset="0"/>
                      </a:rPr>
                      <m:t>, </m:t>
                    </m:r>
                    <m:r>
                      <a:rPr lang="ru-RU" sz="1600" i="1">
                        <a:solidFill>
                          <a:srgbClr val="000000"/>
                        </a:solidFill>
                        <a:effectLst/>
                        <a:latin typeface="Cambria Math" panose="02040503050406030204" pitchFamily="18" charset="0"/>
                        <a:ea typeface="Times New Roman" panose="02020603050405020304" pitchFamily="18" charset="0"/>
                      </a:rPr>
                      <m:t>𝑖</m:t>
                    </m:r>
                    <m:r>
                      <a:rPr lang="ru-RU" sz="1600" i="1">
                        <a:solidFill>
                          <a:srgbClr val="000000"/>
                        </a:solidFill>
                        <a:effectLst/>
                        <a:latin typeface="Cambria Math" panose="02040503050406030204" pitchFamily="18" charset="0"/>
                        <a:ea typeface="Times New Roman" panose="02020603050405020304" pitchFamily="18" charset="0"/>
                      </a:rPr>
                      <m:t>=1,…,</m:t>
                    </m:r>
                    <m:r>
                      <a:rPr lang="ru-RU" sz="1600" i="1">
                        <a:solidFill>
                          <a:srgbClr val="000000"/>
                        </a:solidFill>
                        <a:effectLst/>
                        <a:latin typeface="Cambria Math" panose="02040503050406030204" pitchFamily="18" charset="0"/>
                        <a:ea typeface="Times New Roman" panose="02020603050405020304" pitchFamily="18" charset="0"/>
                      </a:rPr>
                      <m:t>𝑙</m:t>
                    </m:r>
                  </m:oMath>
                </a14:m>
                <a:r>
                  <a:rPr lang="ru-RU" sz="1600" dirty="0">
                    <a:solidFill>
                      <a:srgbClr val="000000"/>
                    </a:solidFill>
                    <a:effectLst/>
                    <a:latin typeface="Times New Roman" panose="02020603050405020304" pitchFamily="18" charset="0"/>
                    <a:ea typeface="Times New Roman" panose="02020603050405020304" pitchFamily="18" charset="0"/>
                  </a:rPr>
                  <a:t>.</a:t>
                </a:r>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Symbol" panose="05050102010706020507" pitchFamily="18" charset="2"/>
                  <a:buChar char=""/>
                </a:pPr>
                <a:r>
                  <a:rPr lang="ru-RU" sz="1600" dirty="0">
                    <a:solidFill>
                      <a:srgbClr val="000000"/>
                    </a:solidFill>
                    <a:effectLst/>
                    <a:latin typeface="Times New Roman" panose="02020603050405020304" pitchFamily="18" charset="0"/>
                    <a:ea typeface="Times New Roman" panose="02020603050405020304" pitchFamily="18" charset="0"/>
                  </a:rPr>
                  <a:t>Для всех </a:t>
                </a:r>
                <a14:m>
                  <m:oMath xmlns:m="http://schemas.openxmlformats.org/officeDocument/2006/math">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=1,…,</m:t>
                    </m:r>
                    <m:r>
                      <a:rPr lang="ru-RU" sz="1600" i="1">
                        <a:solidFill>
                          <a:srgbClr val="000000"/>
                        </a:solidFill>
                        <a:effectLst/>
                        <a:latin typeface="Cambria Math" panose="02040503050406030204" pitchFamily="18" charset="0"/>
                        <a:ea typeface="Times New Roman" panose="02020603050405020304" pitchFamily="18" charset="0"/>
                      </a:rPr>
                      <m:t>𝑇</m:t>
                    </m:r>
                  </m:oMath>
                </a14:m>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Courier New" panose="02070309020205020404" pitchFamily="49" charset="0"/>
                  <a:buChar char="o"/>
                </a:pPr>
                <a:r>
                  <a:rPr lang="ru-RU" sz="1600" dirty="0">
                    <a:solidFill>
                      <a:srgbClr val="000000"/>
                    </a:solidFill>
                    <a:effectLst/>
                    <a:latin typeface="Times New Roman" panose="02020603050405020304" pitchFamily="18" charset="0"/>
                    <a:ea typeface="Times New Roman" panose="02020603050405020304" pitchFamily="18" charset="0"/>
                  </a:rPr>
                  <a:t>Алгоритм тренировочной базы </a:t>
                </a:r>
                <a14:m>
                  <m:oMath xmlns:m="http://schemas.openxmlformats.org/officeDocument/2006/math">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𝑏</m:t>
                        </m:r>
                      </m:e>
                      <m:sub>
                        <m:r>
                          <a:rPr lang="ru-RU" sz="1600" i="1">
                            <a:solidFill>
                              <a:srgbClr val="000000"/>
                            </a:solidFill>
                            <a:effectLst/>
                            <a:latin typeface="Cambria Math" panose="02040503050406030204" pitchFamily="18" charset="0"/>
                            <a:ea typeface="Times New Roman" panose="02020603050405020304" pitchFamily="18" charset="0"/>
                          </a:rPr>
                          <m:t>𝑡</m:t>
                        </m:r>
                      </m:sub>
                    </m:sSub>
                  </m:oMath>
                </a14:m>
                <a:r>
                  <a:rPr lang="ru-RU" sz="1600" dirty="0">
                    <a:solidFill>
                      <a:srgbClr val="000000"/>
                    </a:solidFill>
                    <a:effectLst/>
                    <a:latin typeface="Times New Roman" panose="02020603050405020304" pitchFamily="18" charset="0"/>
                    <a:ea typeface="Times New Roman" panose="02020603050405020304" pitchFamily="18" charset="0"/>
                  </a:rPr>
                  <a:t>, позволяет определить ошибку обучения </a:t>
                </a:r>
                <a14:m>
                  <m:oMath xmlns:m="http://schemas.openxmlformats.org/officeDocument/2006/math">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𝜖</m:t>
                        </m:r>
                      </m:e>
                      <m:sub>
                        <m:r>
                          <a:rPr lang="en-US" sz="1600" i="1">
                            <a:solidFill>
                              <a:srgbClr val="000000"/>
                            </a:solidFill>
                            <a:effectLst/>
                            <a:latin typeface="Cambria Math" panose="02040503050406030204" pitchFamily="18" charset="0"/>
                            <a:ea typeface="Times New Roman" panose="02020603050405020304" pitchFamily="18" charset="0"/>
                          </a:rPr>
                          <m:t>𝑡</m:t>
                        </m:r>
                      </m:sub>
                    </m:sSub>
                  </m:oMath>
                </a14:m>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Courier New" panose="02070309020205020404" pitchFamily="49" charset="0"/>
                  <a:buChar char="o"/>
                </a:pPr>
                <a14:m>
                  <m:oMath xmlns:m="http://schemas.openxmlformats.org/officeDocument/2006/math">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m:t>
                        </m:r>
                      </m:e>
                      <m:sub>
                        <m:r>
                          <a:rPr lang="ru-RU" sz="1600" i="1">
                            <a:solidFill>
                              <a:srgbClr val="000000"/>
                            </a:solidFill>
                            <a:effectLst/>
                            <a:latin typeface="Cambria Math" panose="02040503050406030204" pitchFamily="18" charset="0"/>
                            <a:ea typeface="Times New Roman" panose="02020603050405020304" pitchFamily="18" charset="0"/>
                          </a:rPr>
                          <m:t>𝑡</m:t>
                        </m:r>
                      </m:sub>
                    </m:sSub>
                    <m:r>
                      <a:rPr lang="ru-RU" sz="1600" i="1">
                        <a:solidFill>
                          <a:srgbClr val="000000"/>
                        </a:solidFill>
                        <a:effectLst/>
                        <a:latin typeface="Cambria Math" panose="02040503050406030204" pitchFamily="18" charset="0"/>
                        <a:ea typeface="Times New Roman" panose="02020603050405020304" pitchFamily="18" charset="0"/>
                      </a:rPr>
                      <m:t>=</m:t>
                    </m:r>
                    <m:f>
                      <m:fPr>
                        <m:ctrlPr>
                          <a:rPr lang="ru-RU" sz="1600" i="1">
                            <a:solidFill>
                              <a:srgbClr val="000000"/>
                            </a:solidFill>
                            <a:effectLst/>
                            <a:latin typeface="Cambria Math" panose="02040503050406030204" pitchFamily="18" charset="0"/>
                            <a:ea typeface="Times New Roman" panose="02020603050405020304" pitchFamily="18" charset="0"/>
                          </a:rPr>
                        </m:ctrlPr>
                      </m:fPr>
                      <m:num>
                        <m:r>
                          <a:rPr lang="ru-RU" sz="1600" i="1">
                            <a:solidFill>
                              <a:srgbClr val="000000"/>
                            </a:solidFill>
                            <a:effectLst/>
                            <a:latin typeface="Cambria Math" panose="02040503050406030204" pitchFamily="18" charset="0"/>
                            <a:ea typeface="Times New Roman" panose="02020603050405020304" pitchFamily="18" charset="0"/>
                          </a:rPr>
                          <m:t>1</m:t>
                        </m:r>
                      </m:num>
                      <m:den>
                        <m:r>
                          <a:rPr lang="ru-RU" sz="1600" i="1">
                            <a:solidFill>
                              <a:srgbClr val="000000"/>
                            </a:solidFill>
                            <a:effectLst/>
                            <a:latin typeface="Cambria Math" panose="02040503050406030204" pitchFamily="18" charset="0"/>
                            <a:ea typeface="Times New Roman" panose="02020603050405020304" pitchFamily="18" charset="0"/>
                          </a:rPr>
                          <m:t>2</m:t>
                        </m:r>
                      </m:den>
                    </m:f>
                    <m:func>
                      <m:funcPr>
                        <m:ctrlPr>
                          <a:rPr lang="ru-RU" sz="1600" i="1">
                            <a:solidFill>
                              <a:srgbClr val="000000"/>
                            </a:solidFill>
                            <a:effectLst/>
                            <a:latin typeface="Cambria Math" panose="02040503050406030204" pitchFamily="18" charset="0"/>
                            <a:ea typeface="Times New Roman" panose="02020603050405020304" pitchFamily="18" charset="0"/>
                          </a:rPr>
                        </m:ctrlPr>
                      </m:funcPr>
                      <m:fName>
                        <m:r>
                          <m:rPr>
                            <m:sty m:val="p"/>
                          </m:rPr>
                          <a:rPr lang="ru-RU" sz="1600">
                            <a:solidFill>
                              <a:srgbClr val="000000"/>
                            </a:solidFill>
                            <a:effectLst/>
                            <a:latin typeface="Cambria Math" panose="02040503050406030204" pitchFamily="18" charset="0"/>
                            <a:ea typeface="Times New Roman" panose="02020603050405020304" pitchFamily="18" charset="0"/>
                          </a:rPr>
                          <m:t>ln</m:t>
                        </m:r>
                      </m:fName>
                      <m:e>
                        <m:f>
                          <m:fPr>
                            <m:ctrlPr>
                              <a:rPr lang="ru-RU" sz="1600" i="1">
                                <a:solidFill>
                                  <a:srgbClr val="000000"/>
                                </a:solidFill>
                                <a:effectLst/>
                                <a:latin typeface="Cambria Math" panose="02040503050406030204" pitchFamily="18" charset="0"/>
                                <a:ea typeface="Times New Roman" panose="02020603050405020304" pitchFamily="18" charset="0"/>
                              </a:rPr>
                            </m:ctrlPr>
                          </m:fPr>
                          <m:num>
                            <m:r>
                              <a:rPr lang="ru-RU" sz="1600" i="1">
                                <a:solidFill>
                                  <a:srgbClr val="000000"/>
                                </a:solidFill>
                                <a:effectLst/>
                                <a:latin typeface="Cambria Math" panose="02040503050406030204" pitchFamily="18" charset="0"/>
                                <a:ea typeface="Times New Roman" panose="02020603050405020304" pitchFamily="18" charset="0"/>
                              </a:rPr>
                              <m:t>1−</m:t>
                            </m:r>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𝜖</m:t>
                                </m:r>
                              </m:e>
                              <m:sub>
                                <m:r>
                                  <a:rPr lang="en-US" sz="1600" i="1">
                                    <a:solidFill>
                                      <a:srgbClr val="000000"/>
                                    </a:solidFill>
                                    <a:effectLst/>
                                    <a:latin typeface="Cambria Math" panose="02040503050406030204" pitchFamily="18" charset="0"/>
                                    <a:ea typeface="Times New Roman" panose="02020603050405020304" pitchFamily="18" charset="0"/>
                                  </a:rPr>
                                  <m:t>𝑡</m:t>
                                </m:r>
                              </m:sub>
                            </m:sSub>
                          </m:num>
                          <m:den>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𝜖</m:t>
                                </m:r>
                              </m:e>
                              <m:sub>
                                <m:r>
                                  <a:rPr lang="en-US" sz="1600" i="1">
                                    <a:solidFill>
                                      <a:srgbClr val="000000"/>
                                    </a:solidFill>
                                    <a:effectLst/>
                                    <a:latin typeface="Cambria Math" panose="02040503050406030204" pitchFamily="18" charset="0"/>
                                    <a:ea typeface="Times New Roman" panose="02020603050405020304" pitchFamily="18" charset="0"/>
                                  </a:rPr>
                                  <m:t>𝑡</m:t>
                                </m:r>
                              </m:sub>
                            </m:sSub>
                          </m:den>
                        </m:f>
                      </m:e>
                    </m:func>
                  </m:oMath>
                </a14:m>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Courier New" panose="02070309020205020404" pitchFamily="49" charset="0"/>
                  <a:buChar char="o"/>
                </a:pPr>
                <a:r>
                  <a:rPr lang="ru-RU" sz="1600" dirty="0">
                    <a:solidFill>
                      <a:srgbClr val="000000"/>
                    </a:solidFill>
                    <a:effectLst/>
                    <a:latin typeface="Times New Roman" panose="02020603050405020304" pitchFamily="18" charset="0"/>
                    <a:ea typeface="Times New Roman" panose="02020603050405020304" pitchFamily="18" charset="0"/>
                  </a:rPr>
                  <a:t>Обновить веса выборки:</a:t>
                </a:r>
                <a14:m>
                  <m:oMath xmlns:m="http://schemas.openxmlformats.org/officeDocument/2006/math">
                    <m:r>
                      <a:rPr lang="ru-RU" sz="1600">
                        <a:solidFill>
                          <a:srgbClr val="000000"/>
                        </a:solidFill>
                        <a:effectLst/>
                        <a:latin typeface="Cambria Math" panose="02040503050406030204" pitchFamily="18" charset="0"/>
                        <a:ea typeface="Times New Roman" panose="02020603050405020304" pitchFamily="18" charset="0"/>
                      </a:rPr>
                      <m:t> </m:t>
                    </m:r>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𝑖</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m:t>
                        </m:r>
                      </m:sup>
                    </m:sSubSup>
                    <m:r>
                      <a:rPr lang="ru-RU" sz="1600">
                        <a:solidFill>
                          <a:srgbClr val="000000"/>
                        </a:solidFill>
                        <a:effectLst/>
                        <a:latin typeface="Cambria Math" panose="02040503050406030204" pitchFamily="18" charset="0"/>
                        <a:ea typeface="Times New Roman" panose="02020603050405020304" pitchFamily="18" charset="0"/>
                      </a:rPr>
                      <m:t>=</m:t>
                    </m:r>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𝑖</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i="1">
                            <a:solidFill>
                              <a:srgbClr val="000000"/>
                            </a:solidFill>
                            <a:effectLst/>
                            <a:latin typeface="Cambria Math" panose="02040503050406030204" pitchFamily="18" charset="0"/>
                            <a:ea typeface="Times New Roman" panose="02020603050405020304" pitchFamily="18" charset="0"/>
                          </a:rPr>
                          <m:t>−</m:t>
                        </m:r>
                        <m:r>
                          <a:rPr lang="ru-RU" sz="1600">
                            <a:solidFill>
                              <a:srgbClr val="000000"/>
                            </a:solidFill>
                            <a:effectLst/>
                            <a:latin typeface="Cambria Math" panose="02040503050406030204" pitchFamily="18" charset="0"/>
                            <a:ea typeface="Times New Roman" panose="02020603050405020304" pitchFamily="18" charset="0"/>
                          </a:rPr>
                          <m:t>1)</m:t>
                        </m:r>
                      </m:sup>
                    </m:sSubSup>
                    <m:sSup>
                      <m:sSupPr>
                        <m:ctrlPr>
                          <a:rPr lang="ru-RU" sz="1600" i="1">
                            <a:solidFill>
                              <a:srgbClr val="000000"/>
                            </a:solidFill>
                            <a:effectLst/>
                            <a:latin typeface="Cambria Math" panose="02040503050406030204" pitchFamily="18" charset="0"/>
                            <a:ea typeface="Times New Roman" panose="02020603050405020304" pitchFamily="18" charset="0"/>
                          </a:rPr>
                        </m:ctrlPr>
                      </m:sSupPr>
                      <m:e>
                        <m:r>
                          <a:rPr lang="ru-RU" sz="1600" i="1">
                            <a:solidFill>
                              <a:srgbClr val="000000"/>
                            </a:solidFill>
                            <a:effectLst/>
                            <a:latin typeface="Cambria Math" panose="02040503050406030204" pitchFamily="18" charset="0"/>
                            <a:ea typeface="Times New Roman" panose="02020603050405020304" pitchFamily="18" charset="0"/>
                          </a:rPr>
                          <m:t>𝑒</m:t>
                        </m:r>
                      </m:e>
                      <m:sup>
                        <m:r>
                          <a:rPr lang="ru-RU" sz="1600" i="1">
                            <a:solidFill>
                              <a:srgbClr val="000000"/>
                            </a:solidFill>
                            <a:effectLst/>
                            <a:latin typeface="Cambria Math" panose="02040503050406030204" pitchFamily="18" charset="0"/>
                            <a:ea typeface="Times New Roman" panose="02020603050405020304" pitchFamily="18" charset="0"/>
                          </a:rPr>
                          <m:t>−</m:t>
                        </m:r>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m:t>
                            </m:r>
                          </m:e>
                          <m:sub>
                            <m:r>
                              <a:rPr lang="ru-RU" sz="1600" i="1">
                                <a:solidFill>
                                  <a:srgbClr val="000000"/>
                                </a:solidFill>
                                <a:effectLst/>
                                <a:latin typeface="Cambria Math" panose="02040503050406030204" pitchFamily="18" charset="0"/>
                                <a:ea typeface="Times New Roman" panose="02020603050405020304" pitchFamily="18" charset="0"/>
                              </a:rPr>
                              <m:t>𝑡</m:t>
                            </m:r>
                          </m:sub>
                        </m:sSub>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𝑦</m:t>
                            </m:r>
                          </m:e>
                          <m:sub>
                            <m:r>
                              <a:rPr lang="ru-RU" sz="1600" i="1">
                                <a:solidFill>
                                  <a:srgbClr val="000000"/>
                                </a:solidFill>
                                <a:effectLst/>
                                <a:latin typeface="Cambria Math" panose="02040503050406030204" pitchFamily="18" charset="0"/>
                                <a:ea typeface="Times New Roman" panose="02020603050405020304" pitchFamily="18" charset="0"/>
                              </a:rPr>
                              <m:t>𝑖</m:t>
                            </m:r>
                          </m:sub>
                        </m:sSub>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𝑏</m:t>
                            </m:r>
                          </m:e>
                          <m:sub>
                            <m:r>
                              <a:rPr lang="ru-RU" sz="1600" i="1">
                                <a:solidFill>
                                  <a:srgbClr val="000000"/>
                                </a:solidFill>
                                <a:effectLst/>
                                <a:latin typeface="Cambria Math" panose="02040503050406030204" pitchFamily="18" charset="0"/>
                                <a:ea typeface="Times New Roman" panose="02020603050405020304" pitchFamily="18" charset="0"/>
                              </a:rPr>
                              <m:t>𝑡</m:t>
                            </m:r>
                          </m:sub>
                        </m:sSub>
                        <m:r>
                          <a:rPr lang="ru-RU" sz="1600" i="1">
                            <a:solidFill>
                              <a:srgbClr val="000000"/>
                            </a:solidFill>
                            <a:effectLst/>
                            <a:latin typeface="Cambria Math" panose="02040503050406030204" pitchFamily="18" charset="0"/>
                            <a:ea typeface="Times New Roman" panose="02020603050405020304" pitchFamily="18" charset="0"/>
                          </a:rPr>
                          <m:t>(</m:t>
                        </m:r>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𝑥</m:t>
                            </m:r>
                          </m:e>
                          <m:sub>
                            <m:r>
                              <a:rPr lang="ru-RU" sz="1600" i="1">
                                <a:solidFill>
                                  <a:srgbClr val="000000"/>
                                </a:solidFill>
                                <a:effectLst/>
                                <a:latin typeface="Cambria Math" panose="02040503050406030204" pitchFamily="18" charset="0"/>
                                <a:ea typeface="Times New Roman" panose="02020603050405020304" pitchFamily="18" charset="0"/>
                              </a:rPr>
                              <m:t>𝑖</m:t>
                            </m:r>
                          </m:sub>
                        </m:sSub>
                        <m:r>
                          <a:rPr lang="ru-RU" sz="1600" i="1">
                            <a:solidFill>
                              <a:srgbClr val="000000"/>
                            </a:solidFill>
                            <a:effectLst/>
                            <a:latin typeface="Cambria Math" panose="02040503050406030204" pitchFamily="18" charset="0"/>
                            <a:ea typeface="Times New Roman" panose="02020603050405020304" pitchFamily="18" charset="0"/>
                          </a:rPr>
                          <m:t>)</m:t>
                        </m:r>
                      </m:sup>
                    </m:sSup>
                  </m:oMath>
                </a14:m>
                <a:r>
                  <a:rPr lang="ru-RU" sz="16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ru-RU" sz="1600" i="1">
                        <a:solidFill>
                          <a:srgbClr val="000000"/>
                        </a:solidFill>
                        <a:effectLst/>
                        <a:latin typeface="Cambria Math" panose="02040503050406030204" pitchFamily="18" charset="0"/>
                        <a:ea typeface="Times New Roman" panose="02020603050405020304" pitchFamily="18" charset="0"/>
                      </a:rPr>
                      <m:t>𝑖</m:t>
                    </m:r>
                    <m:r>
                      <a:rPr lang="ru-RU" sz="1600" i="1">
                        <a:solidFill>
                          <a:srgbClr val="000000"/>
                        </a:solidFill>
                        <a:effectLst/>
                        <a:latin typeface="Cambria Math" panose="02040503050406030204" pitchFamily="18" charset="0"/>
                        <a:ea typeface="Times New Roman" panose="02020603050405020304" pitchFamily="18" charset="0"/>
                      </a:rPr>
                      <m:t>=1,…,</m:t>
                    </m:r>
                    <m:r>
                      <a:rPr lang="ru-RU" sz="1600" i="1">
                        <a:solidFill>
                          <a:srgbClr val="000000"/>
                        </a:solidFill>
                        <a:effectLst/>
                        <a:latin typeface="Cambria Math" panose="02040503050406030204" pitchFamily="18" charset="0"/>
                        <a:ea typeface="Times New Roman" panose="02020603050405020304" pitchFamily="18" charset="0"/>
                      </a:rPr>
                      <m:t>𝑙</m:t>
                    </m:r>
                  </m:oMath>
                </a14:m>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Courier New" panose="02070309020205020404" pitchFamily="49" charset="0"/>
                  <a:buChar char="o"/>
                </a:pPr>
                <a:r>
                  <a:rPr lang="ru-RU" sz="1600" dirty="0">
                    <a:solidFill>
                      <a:srgbClr val="000000"/>
                    </a:solidFill>
                    <a:effectLst/>
                    <a:latin typeface="Times New Roman" panose="02020603050405020304" pitchFamily="18" charset="0"/>
                    <a:ea typeface="Times New Roman" panose="02020603050405020304" pitchFamily="18" charset="0"/>
                  </a:rPr>
                  <a:t>Нормировать веса выборки:</a:t>
                </a:r>
                <a14:m>
                  <m:oMath xmlns:m="http://schemas.openxmlformats.org/officeDocument/2006/math">
                    <m:r>
                      <a:rPr lang="ru-RU" sz="1600">
                        <a:solidFill>
                          <a:srgbClr val="000000"/>
                        </a:solidFill>
                        <a:effectLst/>
                        <a:latin typeface="Cambria Math" panose="02040503050406030204" pitchFamily="18" charset="0"/>
                        <a:ea typeface="Times New Roman" panose="02020603050405020304" pitchFamily="18" charset="0"/>
                      </a:rPr>
                      <m:t> </m:t>
                    </m:r>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0</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m:t>
                        </m:r>
                      </m:sup>
                    </m:sSubSup>
                    <m:r>
                      <a:rPr lang="ru-RU" sz="1600">
                        <a:solidFill>
                          <a:srgbClr val="000000"/>
                        </a:solidFill>
                        <a:effectLst/>
                        <a:latin typeface="Cambria Math" panose="02040503050406030204" pitchFamily="18" charset="0"/>
                        <a:ea typeface="Times New Roman" panose="02020603050405020304" pitchFamily="18" charset="0"/>
                      </a:rPr>
                      <m:t>=</m:t>
                    </m:r>
                    <m:nary>
                      <m:naryPr>
                        <m:chr m:val="∑"/>
                        <m:limLoc m:val="undOvr"/>
                        <m:ctrlPr>
                          <a:rPr lang="ru-RU" sz="1600" i="1">
                            <a:solidFill>
                              <a:srgbClr val="000000"/>
                            </a:solidFill>
                            <a:effectLst/>
                            <a:latin typeface="Cambria Math" panose="02040503050406030204" pitchFamily="18" charset="0"/>
                            <a:ea typeface="Times New Roman" panose="02020603050405020304" pitchFamily="18" charset="0"/>
                          </a:rPr>
                        </m:ctrlPr>
                      </m:naryPr>
                      <m:sub>
                        <m:r>
                          <a:rPr lang="ru-RU" sz="1600" i="1">
                            <a:solidFill>
                              <a:srgbClr val="000000"/>
                            </a:solidFill>
                            <a:effectLst/>
                            <a:latin typeface="Cambria Math" panose="02040503050406030204" pitchFamily="18" charset="0"/>
                            <a:ea typeface="Times New Roman" panose="02020603050405020304" pitchFamily="18" charset="0"/>
                          </a:rPr>
                          <m:t>𝑗</m:t>
                        </m:r>
                        <m:r>
                          <a:rPr lang="ru-RU" sz="1600" i="1">
                            <a:solidFill>
                              <a:srgbClr val="000000"/>
                            </a:solidFill>
                            <a:effectLst/>
                            <a:latin typeface="Cambria Math" panose="02040503050406030204" pitchFamily="18" charset="0"/>
                            <a:ea typeface="Times New Roman" panose="02020603050405020304" pitchFamily="18" charset="0"/>
                          </a:rPr>
                          <m:t>=1</m:t>
                        </m:r>
                      </m:sub>
                      <m:sup>
                        <m:r>
                          <a:rPr lang="ru-RU" sz="1600" i="1">
                            <a:solidFill>
                              <a:srgbClr val="000000"/>
                            </a:solidFill>
                            <a:effectLst/>
                            <a:latin typeface="Cambria Math" panose="02040503050406030204" pitchFamily="18" charset="0"/>
                            <a:ea typeface="Times New Roman" panose="02020603050405020304" pitchFamily="18" charset="0"/>
                          </a:rPr>
                          <m:t>𝑙</m:t>
                        </m:r>
                      </m:sup>
                      <m:e>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𝑗</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m:t>
                            </m:r>
                          </m:sup>
                        </m:sSubSup>
                      </m:e>
                    </m:nary>
                    <m:r>
                      <a:rPr lang="ru-RU" sz="1600" i="1">
                        <a:solidFill>
                          <a:srgbClr val="000000"/>
                        </a:solidFill>
                        <a:effectLst/>
                        <a:latin typeface="Cambria Math" panose="02040503050406030204" pitchFamily="18" charset="0"/>
                        <a:ea typeface="Times New Roman" panose="02020603050405020304" pitchFamily="18" charset="0"/>
                      </a:rPr>
                      <m:t>,</m:t>
                    </m:r>
                    <m:r>
                      <a:rPr lang="ru-RU" sz="1600">
                        <a:solidFill>
                          <a:srgbClr val="000000"/>
                        </a:solidFill>
                        <a:effectLst/>
                        <a:latin typeface="Cambria Math" panose="02040503050406030204" pitchFamily="18" charset="0"/>
                        <a:ea typeface="Times New Roman" panose="02020603050405020304" pitchFamily="18" charset="0"/>
                      </a:rPr>
                      <m:t> </m:t>
                    </m:r>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𝑖</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m:t>
                        </m:r>
                      </m:sup>
                    </m:sSubSup>
                    <m:r>
                      <a:rPr lang="ru-RU" sz="1600">
                        <a:solidFill>
                          <a:srgbClr val="000000"/>
                        </a:solidFill>
                        <a:effectLst/>
                        <a:latin typeface="Cambria Math" panose="02040503050406030204" pitchFamily="18" charset="0"/>
                        <a:ea typeface="Times New Roman" panose="02020603050405020304" pitchFamily="18" charset="0"/>
                      </a:rPr>
                      <m:t>=</m:t>
                    </m:r>
                    <m:f>
                      <m:fPr>
                        <m:ctrlPr>
                          <a:rPr lang="ru-RU" sz="1600" i="1">
                            <a:solidFill>
                              <a:srgbClr val="000000"/>
                            </a:solidFill>
                            <a:effectLst/>
                            <a:latin typeface="Cambria Math" panose="02040503050406030204" pitchFamily="18" charset="0"/>
                            <a:ea typeface="Times New Roman" panose="02020603050405020304" pitchFamily="18" charset="0"/>
                          </a:rPr>
                        </m:ctrlPr>
                      </m:fPr>
                      <m:num>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𝑖</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m:t>
                            </m:r>
                          </m:sup>
                        </m:sSubSup>
                      </m:num>
                      <m:den>
                        <m:sSubSup>
                          <m:sSubSupPr>
                            <m:ctrlPr>
                              <a:rPr lang="ru-RU" sz="1600" i="1">
                                <a:solidFill>
                                  <a:srgbClr val="000000"/>
                                </a:solidFill>
                                <a:effectLst/>
                                <a:latin typeface="Cambria Math" panose="02040503050406030204" pitchFamily="18" charset="0"/>
                                <a:ea typeface="Times New Roman" panose="02020603050405020304" pitchFamily="18" charset="0"/>
                              </a:rPr>
                            </m:ctrlPr>
                          </m:sSubSupPr>
                          <m:e>
                            <m:r>
                              <a:rPr lang="ru-RU" sz="1600" i="1">
                                <a:solidFill>
                                  <a:srgbClr val="000000"/>
                                </a:solidFill>
                                <a:effectLst/>
                                <a:latin typeface="Cambria Math" panose="02040503050406030204" pitchFamily="18" charset="0"/>
                                <a:ea typeface="Times New Roman" panose="02020603050405020304" pitchFamily="18" charset="0"/>
                              </a:rPr>
                              <m:t>𝑤</m:t>
                            </m:r>
                          </m:e>
                          <m:sub>
                            <m:r>
                              <a:rPr lang="ru-RU" sz="1600" i="1">
                                <a:solidFill>
                                  <a:srgbClr val="000000"/>
                                </a:solidFill>
                                <a:effectLst/>
                                <a:latin typeface="Cambria Math" panose="02040503050406030204" pitchFamily="18" charset="0"/>
                                <a:ea typeface="Times New Roman" panose="02020603050405020304" pitchFamily="18" charset="0"/>
                              </a:rPr>
                              <m:t>0</m:t>
                            </m:r>
                          </m:sub>
                          <m:sup>
                            <m:r>
                              <a:rPr lang="ru-RU" sz="1600">
                                <a:solidFill>
                                  <a:srgbClr val="000000"/>
                                </a:solidFill>
                                <a:effectLst/>
                                <a:latin typeface="Cambria Math" panose="02040503050406030204" pitchFamily="18" charset="0"/>
                                <a:ea typeface="Times New Roman" panose="02020603050405020304" pitchFamily="18" charset="0"/>
                              </a:rPr>
                              <m:t>(</m:t>
                            </m:r>
                            <m:r>
                              <a:rPr lang="ru-RU" sz="1600" i="1">
                                <a:solidFill>
                                  <a:srgbClr val="000000"/>
                                </a:solidFill>
                                <a:effectLst/>
                                <a:latin typeface="Cambria Math" panose="02040503050406030204" pitchFamily="18" charset="0"/>
                                <a:ea typeface="Times New Roman" panose="02020603050405020304" pitchFamily="18" charset="0"/>
                              </a:rPr>
                              <m:t>𝑡</m:t>
                            </m:r>
                            <m:r>
                              <a:rPr lang="ru-RU" sz="1600">
                                <a:solidFill>
                                  <a:srgbClr val="000000"/>
                                </a:solidFill>
                                <a:effectLst/>
                                <a:latin typeface="Cambria Math" panose="02040503050406030204" pitchFamily="18" charset="0"/>
                                <a:ea typeface="Times New Roman" panose="02020603050405020304" pitchFamily="18" charset="0"/>
                              </a:rPr>
                              <m:t>)</m:t>
                            </m:r>
                          </m:sup>
                        </m:sSubSup>
                      </m:den>
                    </m:f>
                    <m:r>
                      <a:rPr lang="ru-RU" sz="1600" i="1">
                        <a:solidFill>
                          <a:srgbClr val="000000"/>
                        </a:solidFill>
                        <a:effectLst/>
                        <a:latin typeface="Cambria Math" panose="02040503050406030204" pitchFamily="18" charset="0"/>
                        <a:ea typeface="Times New Roman" panose="02020603050405020304" pitchFamily="18" charset="0"/>
                      </a:rPr>
                      <m:t>, </m:t>
                    </m:r>
                    <m:r>
                      <a:rPr lang="ru-RU" sz="1600" i="1">
                        <a:solidFill>
                          <a:srgbClr val="000000"/>
                        </a:solidFill>
                        <a:effectLst/>
                        <a:latin typeface="Cambria Math" panose="02040503050406030204" pitchFamily="18" charset="0"/>
                        <a:ea typeface="Times New Roman" panose="02020603050405020304" pitchFamily="18" charset="0"/>
                      </a:rPr>
                      <m:t>𝑖</m:t>
                    </m:r>
                    <m:r>
                      <a:rPr lang="ru-RU" sz="1600" i="1">
                        <a:solidFill>
                          <a:srgbClr val="000000"/>
                        </a:solidFill>
                        <a:effectLst/>
                        <a:latin typeface="Cambria Math" panose="02040503050406030204" pitchFamily="18" charset="0"/>
                        <a:ea typeface="Times New Roman" panose="02020603050405020304" pitchFamily="18" charset="0"/>
                      </a:rPr>
                      <m:t>=1,…,</m:t>
                    </m:r>
                    <m:r>
                      <a:rPr lang="ru-RU" sz="1600" i="1">
                        <a:solidFill>
                          <a:srgbClr val="000000"/>
                        </a:solidFill>
                        <a:effectLst/>
                        <a:latin typeface="Cambria Math" panose="02040503050406030204" pitchFamily="18" charset="0"/>
                        <a:ea typeface="Times New Roman" panose="02020603050405020304" pitchFamily="18" charset="0"/>
                      </a:rPr>
                      <m:t>𝑙</m:t>
                    </m:r>
                  </m:oMath>
                </a14:m>
                <a:endParaRPr lang="ru-RU" sz="16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Symbol" panose="05050102010706020507" pitchFamily="18" charset="2"/>
                  <a:buChar char=""/>
                </a:pPr>
                <a:r>
                  <a:rPr lang="ru-RU" sz="1600" dirty="0">
                    <a:solidFill>
                      <a:srgbClr val="000000"/>
                    </a:solidFill>
                    <a:effectLst/>
                    <a:latin typeface="Times New Roman" panose="02020603050405020304" pitchFamily="18" charset="0"/>
                    <a:ea typeface="Times New Roman" panose="02020603050405020304" pitchFamily="18" charset="0"/>
                  </a:rPr>
                  <a:t>Возвращаться </a:t>
                </a:r>
                <a14:m>
                  <m:oMath xmlns:m="http://schemas.openxmlformats.org/officeDocument/2006/math">
                    <m:nary>
                      <m:naryPr>
                        <m:chr m:val="∑"/>
                        <m:limLoc m:val="undOvr"/>
                        <m:ctrlPr>
                          <a:rPr lang="ru-RU" sz="1600" i="1">
                            <a:solidFill>
                              <a:srgbClr val="000000"/>
                            </a:solidFill>
                            <a:effectLst/>
                            <a:latin typeface="Cambria Math" panose="02040503050406030204" pitchFamily="18" charset="0"/>
                            <a:ea typeface="Times New Roman" panose="02020603050405020304" pitchFamily="18" charset="0"/>
                          </a:rPr>
                        </m:ctrlPr>
                      </m:naryPr>
                      <m:sub>
                        <m:r>
                          <a:rPr lang="en-US" sz="1600" i="1">
                            <a:solidFill>
                              <a:srgbClr val="000000"/>
                            </a:solidFill>
                            <a:effectLst/>
                            <a:latin typeface="Cambria Math" panose="02040503050406030204" pitchFamily="18" charset="0"/>
                            <a:ea typeface="Times New Roman" panose="02020603050405020304" pitchFamily="18" charset="0"/>
                          </a:rPr>
                          <m:t>𝑡</m:t>
                        </m:r>
                      </m:sub>
                      <m:sup>
                        <m:r>
                          <a:rPr lang="en-US" sz="1600" i="1">
                            <a:solidFill>
                              <a:srgbClr val="000000"/>
                            </a:solidFill>
                            <a:effectLst/>
                            <a:latin typeface="Cambria Math" panose="02040503050406030204" pitchFamily="18" charset="0"/>
                            <a:ea typeface="Times New Roman" panose="02020603050405020304" pitchFamily="18" charset="0"/>
                          </a:rPr>
                          <m:t>𝑇</m:t>
                        </m:r>
                      </m:sup>
                      <m:e>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m:t>
                            </m:r>
                          </m:e>
                          <m:sub>
                            <m:r>
                              <a:rPr lang="ru-RU" sz="1600" i="1">
                                <a:solidFill>
                                  <a:srgbClr val="000000"/>
                                </a:solidFill>
                                <a:effectLst/>
                                <a:latin typeface="Cambria Math" panose="02040503050406030204" pitchFamily="18" charset="0"/>
                                <a:ea typeface="Times New Roman" panose="02020603050405020304" pitchFamily="18" charset="0"/>
                              </a:rPr>
                              <m:t>𝑡</m:t>
                            </m:r>
                          </m:sub>
                        </m:sSub>
                        <m:sSub>
                          <m:sSubPr>
                            <m:ctrlPr>
                              <a:rPr lang="ru-RU" sz="1600" i="1">
                                <a:solidFill>
                                  <a:srgbClr val="000000"/>
                                </a:solidFill>
                                <a:effectLst/>
                                <a:latin typeface="Cambria Math" panose="02040503050406030204" pitchFamily="18" charset="0"/>
                                <a:ea typeface="Times New Roman" panose="02020603050405020304" pitchFamily="18" charset="0"/>
                              </a:rPr>
                            </m:ctrlPr>
                          </m:sSubPr>
                          <m:e>
                            <m:r>
                              <a:rPr lang="ru-RU" sz="1600" i="1">
                                <a:solidFill>
                                  <a:srgbClr val="000000"/>
                                </a:solidFill>
                                <a:effectLst/>
                                <a:latin typeface="Cambria Math" panose="02040503050406030204" pitchFamily="18" charset="0"/>
                                <a:ea typeface="Times New Roman" panose="02020603050405020304" pitchFamily="18" charset="0"/>
                              </a:rPr>
                              <m:t>𝑏</m:t>
                            </m:r>
                          </m:e>
                          <m:sub>
                            <m:r>
                              <a:rPr lang="ru-RU" sz="1600" i="1">
                                <a:solidFill>
                                  <a:srgbClr val="000000"/>
                                </a:solidFill>
                                <a:effectLst/>
                                <a:latin typeface="Cambria Math" panose="02040503050406030204" pitchFamily="18" charset="0"/>
                                <a:ea typeface="Times New Roman" panose="02020603050405020304" pitchFamily="18" charset="0"/>
                              </a:rPr>
                              <m:t>𝑡</m:t>
                            </m:r>
                          </m:sub>
                        </m:sSub>
                      </m:e>
                    </m:nary>
                  </m:oMath>
                </a14:m>
                <a:endParaRPr lang="ru-RU" sz="1600" dirty="0">
                  <a:solidFill>
                    <a:srgbClr val="000000"/>
                  </a:solidFill>
                  <a:effectLst/>
                  <a:latin typeface="Times New Roman" panose="02020603050405020304" pitchFamily="18" charset="0"/>
                  <a:ea typeface="Calibri" panose="020F0502020204030204" pitchFamily="34" charset="0"/>
                </a:endParaRPr>
              </a:p>
            </p:txBody>
          </p:sp>
        </mc:Choice>
        <mc:Fallback>
          <p:sp>
            <p:nvSpPr>
              <p:cNvPr id="3" name="Прямоугольник 2"/>
              <p:cNvSpPr>
                <a:spLocks noRot="1" noChangeAspect="1" noMove="1" noResize="1" noEditPoints="1" noAdjustHandles="1" noChangeArrowheads="1" noChangeShapeType="1" noTextEdit="1"/>
              </p:cNvSpPr>
              <p:nvPr/>
            </p:nvSpPr>
            <p:spPr>
              <a:xfrm>
                <a:off x="4620920" y="422632"/>
                <a:ext cx="9332824" cy="3129703"/>
              </a:xfrm>
              <a:prstGeom prst="rect">
                <a:avLst/>
              </a:prstGeom>
              <a:blipFill>
                <a:blip r:embed="rId2"/>
                <a:stretch>
                  <a:fillRect l="-327" b="-17704"/>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91439" y="186657"/>
            <a:ext cx="4328385" cy="2721135"/>
          </a:xfrm>
          <a:prstGeom prst="rect">
            <a:avLst/>
          </a:prstGeom>
        </p:spPr>
      </p:pic>
      <p:sp>
        <p:nvSpPr>
          <p:cNvPr id="5" name="Прямоугольник 4"/>
          <p:cNvSpPr/>
          <p:nvPr/>
        </p:nvSpPr>
        <p:spPr>
          <a:xfrm>
            <a:off x="850616" y="4562624"/>
            <a:ext cx="10698256" cy="1015663"/>
          </a:xfrm>
          <a:prstGeom prst="rect">
            <a:avLst/>
          </a:prstGeom>
        </p:spPr>
        <p:txBody>
          <a:bodyPr wrap="square">
            <a:spAutoFit/>
          </a:bodyPr>
          <a:lstStyle/>
          <a:p>
            <a:pPr lvl="0"/>
            <a:r>
              <a:rPr lang="ru-RU" sz="2000" dirty="0">
                <a:solidFill>
                  <a:prstClr val="black"/>
                </a:solidFill>
                <a:latin typeface="Times New Roman" panose="02020603050405020304" pitchFamily="18" charset="0"/>
                <a:ea typeface="Times New Roman" panose="02020603050405020304" pitchFamily="18" charset="0"/>
              </a:rPr>
              <a:t>GBDT (</a:t>
            </a:r>
            <a:r>
              <a:rPr lang="ru-RU" sz="2000" dirty="0" err="1">
                <a:solidFill>
                  <a:prstClr val="black"/>
                </a:solidFill>
                <a:latin typeface="Times New Roman" panose="02020603050405020304" pitchFamily="18" charset="0"/>
                <a:ea typeface="Times New Roman" panose="02020603050405020304" pitchFamily="18" charset="0"/>
              </a:rPr>
              <a:t>Gradient</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Boosted</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Decision</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Trees</a:t>
            </a:r>
            <a:r>
              <a:rPr lang="ru-RU" sz="2000" dirty="0">
                <a:solidFill>
                  <a:prstClr val="black"/>
                </a:solidFill>
                <a:latin typeface="Times New Roman" panose="02020603050405020304" pitchFamily="18" charset="0"/>
                <a:ea typeface="Times New Roman" panose="02020603050405020304" pitchFamily="18" charset="0"/>
              </a:rPr>
              <a:t> – деревья решений с градиентным усилением), </a:t>
            </a:r>
          </a:p>
          <a:p>
            <a:pPr lvl="0"/>
            <a:r>
              <a:rPr lang="ru-RU" sz="2000" dirty="0">
                <a:solidFill>
                  <a:prstClr val="black"/>
                </a:solidFill>
                <a:latin typeface="Times New Roman" panose="02020603050405020304" pitchFamily="18" charset="0"/>
                <a:ea typeface="Times New Roman" panose="02020603050405020304" pitchFamily="18" charset="0"/>
              </a:rPr>
              <a:t>GBRT (</a:t>
            </a:r>
            <a:r>
              <a:rPr lang="ru-RU" sz="2000" dirty="0" err="1">
                <a:solidFill>
                  <a:prstClr val="black"/>
                </a:solidFill>
                <a:latin typeface="Times New Roman" panose="02020603050405020304" pitchFamily="18" charset="0"/>
                <a:ea typeface="Times New Roman" panose="02020603050405020304" pitchFamily="18" charset="0"/>
              </a:rPr>
              <a:t>Gradient</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Boosted</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Regression</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Trees</a:t>
            </a:r>
            <a:r>
              <a:rPr lang="ru-RU" sz="2000" dirty="0">
                <a:solidFill>
                  <a:prstClr val="black"/>
                </a:solidFill>
                <a:latin typeface="Times New Roman" panose="02020603050405020304" pitchFamily="18" charset="0"/>
                <a:ea typeface="Times New Roman" panose="02020603050405020304" pitchFamily="18" charset="0"/>
              </a:rPr>
              <a:t> – деревья регрессии с градиентным усилением), </a:t>
            </a:r>
          </a:p>
          <a:p>
            <a:pPr lvl="0"/>
            <a:r>
              <a:rPr lang="ru-RU" sz="2000" dirty="0">
                <a:solidFill>
                  <a:prstClr val="black"/>
                </a:solidFill>
                <a:latin typeface="Times New Roman" panose="02020603050405020304" pitchFamily="18" charset="0"/>
                <a:ea typeface="Times New Roman" panose="02020603050405020304" pitchFamily="18" charset="0"/>
              </a:rPr>
              <a:t>MART (</a:t>
            </a:r>
            <a:r>
              <a:rPr lang="ru-RU" sz="2000" dirty="0" err="1">
                <a:solidFill>
                  <a:prstClr val="black"/>
                </a:solidFill>
                <a:latin typeface="Times New Roman" panose="02020603050405020304" pitchFamily="18" charset="0"/>
                <a:ea typeface="Times New Roman" panose="02020603050405020304" pitchFamily="18" charset="0"/>
              </a:rPr>
              <a:t>Multiple</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Additive</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Regression</a:t>
            </a:r>
            <a:r>
              <a:rPr lang="ru-RU" sz="2000" dirty="0">
                <a:solidFill>
                  <a:prstClr val="black"/>
                </a:solidFill>
                <a:latin typeface="Times New Roman" panose="02020603050405020304" pitchFamily="18" charset="0"/>
                <a:ea typeface="Times New Roman" panose="02020603050405020304" pitchFamily="18" charset="0"/>
              </a:rPr>
              <a:t> </a:t>
            </a:r>
            <a:r>
              <a:rPr lang="ru-RU" sz="2000" dirty="0" err="1">
                <a:solidFill>
                  <a:prstClr val="black"/>
                </a:solidFill>
                <a:latin typeface="Times New Roman" panose="02020603050405020304" pitchFamily="18" charset="0"/>
                <a:ea typeface="Times New Roman" panose="02020603050405020304" pitchFamily="18" charset="0"/>
              </a:rPr>
              <a:t>Trees</a:t>
            </a:r>
            <a:r>
              <a:rPr lang="ru-RU" sz="2000" dirty="0">
                <a:solidFill>
                  <a:prstClr val="black"/>
                </a:solidFill>
                <a:latin typeface="Times New Roman" panose="02020603050405020304" pitchFamily="18" charset="0"/>
                <a:ea typeface="Times New Roman" panose="02020603050405020304" pitchFamily="18" charset="0"/>
              </a:rPr>
              <a:t> – деревья множественной аддитивной регрессии</a:t>
            </a:r>
            <a:endParaRPr lang="ru-RU" dirty="0"/>
          </a:p>
        </p:txBody>
      </p:sp>
    </p:spTree>
    <p:extLst>
      <p:ext uri="{BB962C8B-B14F-4D97-AF65-F5344CB8AC3E}">
        <p14:creationId xmlns:p14="http://schemas.microsoft.com/office/powerpoint/2010/main" val="1284602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181184"/>
            <a:ext cx="1853392" cy="429413"/>
          </a:xfrm>
          <a:prstGeom prst="rect">
            <a:avLst/>
          </a:prstGeom>
        </p:spPr>
        <p:txBody>
          <a:bodyPr wrap="none">
            <a:spAutoFit/>
          </a:bodyPr>
          <a:lstStyle/>
          <a:p>
            <a:pPr indent="457200" algn="just">
              <a:lnSpc>
                <a:spcPct val="120000"/>
              </a:lnSpc>
              <a:spcAft>
                <a:spcPts val="0"/>
              </a:spcAft>
            </a:pPr>
            <a:r>
              <a:rPr lang="ru-RU" sz="2000" b="1" i="1" dirty="0">
                <a:solidFill>
                  <a:srgbClr val="000000"/>
                </a:solidFill>
                <a:latin typeface="Times New Roman" panose="02020603050405020304" pitchFamily="18" charset="0"/>
                <a:ea typeface="Times New Roman" panose="02020603050405020304" pitchFamily="18" charset="0"/>
              </a:rPr>
              <a:t>Интуиция</a:t>
            </a:r>
            <a:endParaRPr lang="ru-RU" sz="2000" dirty="0">
              <a:solidFill>
                <a:srgbClr val="000000"/>
              </a:solidFill>
              <a:effectLst/>
              <a:latin typeface="Times New Roman" panose="02020603050405020304" pitchFamily="18" charset="0"/>
              <a:ea typeface="Calibri" panose="020F0502020204030204" pitchFamily="34" charset="0"/>
            </a:endParaRPr>
          </a:p>
        </p:txBody>
      </p:sp>
      <p:pic>
        <p:nvPicPr>
          <p:cNvPr id="4" name="Рисунок 3"/>
          <p:cNvPicPr>
            <a:picLocks noChangeAspect="1"/>
          </p:cNvPicPr>
          <p:nvPr/>
        </p:nvPicPr>
        <p:blipFill>
          <a:blip r:embed="rId2"/>
          <a:stretch>
            <a:fillRect/>
          </a:stretch>
        </p:blipFill>
        <p:spPr>
          <a:xfrm>
            <a:off x="2214614" y="426620"/>
            <a:ext cx="7494909" cy="2728060"/>
          </a:xfrm>
          <a:prstGeom prst="rect">
            <a:avLst/>
          </a:prstGeom>
        </p:spPr>
      </p:pic>
      <p:sp>
        <p:nvSpPr>
          <p:cNvPr id="5" name="Прямоугольник 4"/>
          <p:cNvSpPr/>
          <p:nvPr/>
        </p:nvSpPr>
        <p:spPr>
          <a:xfrm>
            <a:off x="10070746" y="610597"/>
            <a:ext cx="1295547" cy="707886"/>
          </a:xfrm>
          <a:prstGeom prst="rect">
            <a:avLst/>
          </a:prstGeom>
        </p:spPr>
        <p:txBody>
          <a:bodyPr wrap="none">
            <a:spAutoFit/>
          </a:bodyPr>
          <a:lstStyle/>
          <a:p>
            <a:r>
              <a:rPr lang="ru-RU" sz="2000" dirty="0" err="1">
                <a:latin typeface="Times New Roman" panose="02020603050405020304" pitchFamily="18" charset="0"/>
                <a:ea typeface="Times New Roman" panose="02020603050405020304" pitchFamily="18" charset="0"/>
              </a:rPr>
              <a:t>Adaboost</a:t>
            </a:r>
            <a:r>
              <a:rPr lang="ru-RU" sz="2000" dirty="0">
                <a:latin typeface="Times New Roman" panose="02020603050405020304" pitchFamily="18" charset="0"/>
                <a:ea typeface="Times New Roman" panose="02020603050405020304" pitchFamily="18" charset="0"/>
              </a:rPr>
              <a:t>, </a:t>
            </a:r>
            <a:endParaRPr lang="ru-RU" sz="2000" dirty="0" smtClean="0">
              <a:latin typeface="Times New Roman" panose="02020603050405020304" pitchFamily="18" charset="0"/>
              <a:ea typeface="Times New Roman" panose="02020603050405020304" pitchFamily="18" charset="0"/>
            </a:endParaRPr>
          </a:p>
          <a:p>
            <a:r>
              <a:rPr lang="ru-RU" sz="2000" dirty="0" err="1" smtClean="0">
                <a:latin typeface="Times New Roman" panose="02020603050405020304" pitchFamily="18" charset="0"/>
                <a:ea typeface="Times New Roman" panose="02020603050405020304" pitchFamily="18" charset="0"/>
              </a:rPr>
              <a:t>XGBoost</a:t>
            </a:r>
            <a:r>
              <a:rPr lang="ru-RU" sz="2000" dirty="0" smtClean="0">
                <a:latin typeface="Times New Roman" panose="02020603050405020304" pitchFamily="18" charset="0"/>
                <a:ea typeface="Times New Roman" panose="02020603050405020304" pitchFamily="18" charset="0"/>
              </a:rPr>
              <a:t> </a:t>
            </a:r>
            <a:endParaRPr lang="ru-RU" sz="2000" dirty="0"/>
          </a:p>
        </p:txBody>
      </p:sp>
      <mc:AlternateContent xmlns:mc="http://schemas.openxmlformats.org/markup-compatibility/2006">
        <mc:Choice xmlns:a14="http://schemas.microsoft.com/office/drawing/2010/main" Requires="a14">
          <p:sp>
            <p:nvSpPr>
              <p:cNvPr id="6" name="Прямоугольник 5"/>
              <p:cNvSpPr/>
              <p:nvPr/>
            </p:nvSpPr>
            <p:spPr>
              <a:xfrm>
                <a:off x="681606" y="3260038"/>
                <a:ext cx="4143378" cy="95782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ru-RU" sz="2000">
                          <a:latin typeface="Cambria Math" panose="02040503050406030204" pitchFamily="18" charset="0"/>
                        </a:rPr>
                        <m:t>ℒ</m:t>
                      </m:r>
                      <m:d>
                        <m:dPr>
                          <m:ctrlPr>
                            <a:rPr lang="ru-RU" sz="2000" i="1">
                              <a:latin typeface="Cambria Math" panose="02040503050406030204" pitchFamily="18" charset="0"/>
                            </a:rPr>
                          </m:ctrlPr>
                        </m:dPr>
                        <m:e>
                          <m:r>
                            <a:rPr lang="ru-RU" sz="2000" i="1">
                              <a:latin typeface="Cambria Math" panose="02040503050406030204" pitchFamily="18" charset="0"/>
                            </a:rPr>
                            <m:t>𝑦</m:t>
                          </m:r>
                          <m:r>
                            <a:rPr lang="ru-RU" sz="2000" i="0">
                              <a:latin typeface="Cambria Math" panose="02040503050406030204" pitchFamily="18" charset="0"/>
                            </a:rPr>
                            <m:t>,</m:t>
                          </m:r>
                          <m:r>
                            <a:rPr lang="ru-RU" sz="2000" i="1">
                              <a:latin typeface="Cambria Math" panose="02040503050406030204" pitchFamily="18" charset="0"/>
                            </a:rPr>
                            <m:t>𝑥</m:t>
                          </m:r>
                        </m:e>
                      </m:d>
                      <m:r>
                        <a:rPr lang="ru-RU" sz="2000" i="0">
                          <a:latin typeface="Cambria Math" panose="02040503050406030204" pitchFamily="18" charset="0"/>
                        </a:rPr>
                        <m:t>=</m:t>
                      </m:r>
                      <m:r>
                        <a:rPr lang="ru-RU" sz="2000" i="1">
                          <a:latin typeface="Cambria Math" panose="02040503050406030204" pitchFamily="18" charset="0"/>
                        </a:rPr>
                        <m:t>𝐶</m:t>
                      </m:r>
                      <m:nary>
                        <m:naryPr>
                          <m:chr m:val="∑"/>
                          <m:limLoc m:val="undOvr"/>
                          <m:ctrlPr>
                            <a:rPr lang="ru-RU" sz="2000" i="1">
                              <a:latin typeface="Cambria Math" panose="02040503050406030204" pitchFamily="18" charset="0"/>
                            </a:rPr>
                          </m:ctrlPr>
                        </m:naryPr>
                        <m:sub>
                          <m:r>
                            <a:rPr lang="ru-RU" sz="2000" i="1">
                              <a:latin typeface="Cambria Math" panose="02040503050406030204" pitchFamily="18" charset="0"/>
                            </a:rPr>
                            <m:t>𝑖</m:t>
                          </m:r>
                          <m:r>
                            <a:rPr lang="ru-RU" sz="2000" i="0">
                              <a:latin typeface="Cambria Math" panose="02040503050406030204" pitchFamily="18" charset="0"/>
                            </a:rPr>
                            <m:t>=1</m:t>
                          </m:r>
                        </m:sub>
                        <m:sup>
                          <m:r>
                            <a:rPr lang="ru-RU" sz="2000" i="1">
                              <a:latin typeface="Cambria Math" panose="02040503050406030204" pitchFamily="18" charset="0"/>
                            </a:rPr>
                            <m:t>𝑁</m:t>
                          </m:r>
                        </m:sup>
                        <m:e>
                          <m:sSup>
                            <m:sSupPr>
                              <m:ctrlPr>
                                <a:rPr lang="ru-RU" sz="2000" i="1">
                                  <a:latin typeface="Cambria Math" panose="02040503050406030204" pitchFamily="18" charset="0"/>
                                </a:rPr>
                              </m:ctrlPr>
                            </m:sSupPr>
                            <m:e>
                              <m:d>
                                <m:dPr>
                                  <m:ctrlPr>
                                    <a:rPr lang="ru-RU" sz="2000" i="1">
                                      <a:latin typeface="Cambria Math" panose="02040503050406030204" pitchFamily="18" charset="0"/>
                                    </a:rPr>
                                  </m:ctrlPr>
                                </m:dPr>
                                <m:e>
                                  <m:sSub>
                                    <m:sSubPr>
                                      <m:ctrlPr>
                                        <a:rPr lang="ru-RU" sz="2000" i="1">
                                          <a:latin typeface="Cambria Math" panose="02040503050406030204" pitchFamily="18" charset="0"/>
                                        </a:rPr>
                                      </m:ctrlPr>
                                    </m:sSubPr>
                                    <m:e>
                                      <m:r>
                                        <a:rPr lang="ru-RU" sz="2000" i="1">
                                          <a:latin typeface="Cambria Math" panose="02040503050406030204" pitchFamily="18" charset="0"/>
                                        </a:rPr>
                                        <m:t>𝑦</m:t>
                                      </m:r>
                                    </m:e>
                                    <m:sub>
                                      <m:r>
                                        <a:rPr lang="ru-RU" sz="2000" i="1">
                                          <a:latin typeface="Cambria Math" panose="02040503050406030204" pitchFamily="18" charset="0"/>
                                        </a:rPr>
                                        <m:t>𝑖</m:t>
                                      </m:r>
                                    </m:sub>
                                  </m:sSub>
                                  <m:r>
                                    <a:rPr lang="ru-RU" sz="2000" i="0">
                                      <a:latin typeface="Cambria Math" panose="02040503050406030204" pitchFamily="18" charset="0"/>
                                    </a:rPr>
                                    <m:t>−</m:t>
                                  </m:r>
                                  <m:r>
                                    <a:rPr lang="ru-RU" sz="2000" i="1">
                                      <a:latin typeface="Cambria Math" panose="02040503050406030204" pitchFamily="18" charset="0"/>
                                    </a:rPr>
                                    <m:t>𝑎</m:t>
                                  </m:r>
                                  <m:d>
                                    <m:dPr>
                                      <m:ctrlPr>
                                        <a:rPr lang="ru-RU" sz="2000" i="1">
                                          <a:latin typeface="Cambria Math" panose="02040503050406030204" pitchFamily="18" charset="0"/>
                                        </a:rPr>
                                      </m:ctrlPr>
                                    </m:dPr>
                                    <m:e>
                                      <m:sSub>
                                        <m:sSubPr>
                                          <m:ctrlPr>
                                            <a:rPr lang="ru-RU" sz="2000" i="1">
                                              <a:latin typeface="Cambria Math" panose="02040503050406030204" pitchFamily="18" charset="0"/>
                                            </a:rPr>
                                          </m:ctrlPr>
                                        </m:sSubPr>
                                        <m:e>
                                          <m:r>
                                            <a:rPr lang="ru-RU" sz="2000" i="1">
                                              <a:latin typeface="Cambria Math" panose="02040503050406030204" pitchFamily="18" charset="0"/>
                                            </a:rPr>
                                            <m:t>𝑥</m:t>
                                          </m:r>
                                        </m:e>
                                        <m:sub>
                                          <m:r>
                                            <a:rPr lang="ru-RU" sz="2000" i="1">
                                              <a:latin typeface="Cambria Math" panose="02040503050406030204" pitchFamily="18" charset="0"/>
                                            </a:rPr>
                                            <m:t>𝑖</m:t>
                                          </m:r>
                                        </m:sub>
                                      </m:sSub>
                                    </m:e>
                                  </m:d>
                                </m:e>
                              </m:d>
                            </m:e>
                            <m:sup>
                              <m:r>
                                <a:rPr lang="ru-RU" sz="2000" i="0">
                                  <a:latin typeface="Cambria Math" panose="02040503050406030204" pitchFamily="18" charset="0"/>
                                </a:rPr>
                                <m:t>2</m:t>
                              </m:r>
                            </m:sup>
                          </m:sSup>
                        </m:e>
                      </m:nary>
                      <m:r>
                        <a:rPr lang="ru-RU" sz="2000" i="0">
                          <a:latin typeface="Cambria Math" panose="02040503050406030204" pitchFamily="18" charset="0"/>
                        </a:rPr>
                        <m:t>→</m:t>
                      </m:r>
                      <m:r>
                        <a:rPr lang="ru-RU" sz="2000" i="1">
                          <a:latin typeface="Cambria Math" panose="02040503050406030204" pitchFamily="18" charset="0"/>
                        </a:rPr>
                        <m:t>𝑚𝑖𝑛</m:t>
                      </m:r>
                    </m:oMath>
                  </m:oMathPara>
                </a14:m>
                <a:endParaRPr lang="ru-RU" sz="2000" dirty="0"/>
              </a:p>
            </p:txBody>
          </p:sp>
        </mc:Choice>
        <mc:Fallback>
          <p:sp>
            <p:nvSpPr>
              <p:cNvPr id="6" name="Прямоугольник 5"/>
              <p:cNvSpPr>
                <a:spLocks noRot="1" noChangeAspect="1" noMove="1" noResize="1" noEditPoints="1" noAdjustHandles="1" noChangeArrowheads="1" noChangeShapeType="1" noTextEdit="1"/>
              </p:cNvSpPr>
              <p:nvPr/>
            </p:nvSpPr>
            <p:spPr>
              <a:xfrm>
                <a:off x="681606" y="3260038"/>
                <a:ext cx="4143378" cy="957826"/>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7" name="Прямоугольник 6"/>
              <p:cNvSpPr/>
              <p:nvPr/>
            </p:nvSpPr>
            <p:spPr>
              <a:xfrm>
                <a:off x="5487350" y="3497530"/>
                <a:ext cx="5036956"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ru-RU" sz="2000" i="1">
                          <a:latin typeface="Cambria Math" panose="02040503050406030204" pitchFamily="18" charset="0"/>
                        </a:rPr>
                        <m:t>𝑎</m:t>
                      </m:r>
                      <m:d>
                        <m:dPr>
                          <m:ctrlPr>
                            <a:rPr lang="ru-RU" sz="2000" i="1">
                              <a:latin typeface="Cambria Math" panose="02040503050406030204" pitchFamily="18" charset="0"/>
                            </a:rPr>
                          </m:ctrlPr>
                        </m:dPr>
                        <m:e>
                          <m:r>
                            <a:rPr lang="ru-RU" sz="2000" i="1">
                              <a:latin typeface="Cambria Math" panose="02040503050406030204" pitchFamily="18" charset="0"/>
                            </a:rPr>
                            <m:t>𝑥</m:t>
                          </m:r>
                        </m:e>
                      </m:d>
                      <m:r>
                        <a:rPr lang="ru-RU" sz="2000" i="0">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𝑎</m:t>
                          </m:r>
                        </m:e>
                        <m:sub>
                          <m:r>
                            <a:rPr lang="ru-RU" sz="2000" i="1">
                              <a:latin typeface="Cambria Math" panose="02040503050406030204" pitchFamily="18" charset="0"/>
                            </a:rPr>
                            <m:t>𝐾</m:t>
                          </m:r>
                        </m:sub>
                      </m:sSub>
                      <m:d>
                        <m:dPr>
                          <m:ctrlPr>
                            <a:rPr lang="ru-RU" sz="2000" i="1">
                              <a:latin typeface="Cambria Math" panose="02040503050406030204" pitchFamily="18" charset="0"/>
                            </a:rPr>
                          </m:ctrlPr>
                        </m:dPr>
                        <m:e>
                          <m:r>
                            <a:rPr lang="ru-RU" sz="2000" i="1">
                              <a:latin typeface="Cambria Math" panose="02040503050406030204" pitchFamily="18" charset="0"/>
                            </a:rPr>
                            <m:t>𝑥</m:t>
                          </m:r>
                        </m:e>
                      </m:d>
                      <m:r>
                        <a:rPr lang="ru-RU" sz="2000" i="0">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𝑏</m:t>
                          </m:r>
                        </m:e>
                        <m:sub>
                          <m:r>
                            <a:rPr lang="ru-RU" sz="2000" i="0">
                              <a:latin typeface="Cambria Math" panose="02040503050406030204" pitchFamily="18" charset="0"/>
                            </a:rPr>
                            <m:t>1</m:t>
                          </m:r>
                        </m:sub>
                      </m:sSub>
                      <m:d>
                        <m:dPr>
                          <m:ctrlPr>
                            <a:rPr lang="ru-RU" sz="2000" i="1">
                              <a:latin typeface="Cambria Math" panose="02040503050406030204" pitchFamily="18" charset="0"/>
                            </a:rPr>
                          </m:ctrlPr>
                        </m:dPr>
                        <m:e>
                          <m:r>
                            <a:rPr lang="ru-RU" sz="2000" i="1">
                              <a:latin typeface="Cambria Math" panose="02040503050406030204" pitchFamily="18" charset="0"/>
                            </a:rPr>
                            <m:t>𝑥</m:t>
                          </m:r>
                        </m:e>
                      </m:d>
                      <m:r>
                        <a:rPr lang="ru-RU" sz="2000" i="0">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𝑏</m:t>
                          </m:r>
                        </m:e>
                        <m:sub>
                          <m:r>
                            <a:rPr lang="ru-RU" sz="2000" i="0">
                              <a:latin typeface="Cambria Math" panose="02040503050406030204" pitchFamily="18" charset="0"/>
                            </a:rPr>
                            <m:t>2</m:t>
                          </m:r>
                        </m:sub>
                      </m:sSub>
                      <m:d>
                        <m:dPr>
                          <m:ctrlPr>
                            <a:rPr lang="ru-RU" sz="2000" i="1">
                              <a:latin typeface="Cambria Math" panose="02040503050406030204" pitchFamily="18" charset="0"/>
                            </a:rPr>
                          </m:ctrlPr>
                        </m:dPr>
                        <m:e>
                          <m:r>
                            <a:rPr lang="ru-RU" sz="2000" i="1">
                              <a:latin typeface="Cambria Math" panose="02040503050406030204" pitchFamily="18" charset="0"/>
                            </a:rPr>
                            <m:t>𝑥</m:t>
                          </m:r>
                        </m:e>
                      </m:d>
                      <m:r>
                        <a:rPr lang="ru-RU" sz="2000" i="0">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𝑏</m:t>
                          </m:r>
                        </m:e>
                        <m:sub>
                          <m:r>
                            <a:rPr lang="ru-RU" sz="2000" i="1">
                              <a:latin typeface="Cambria Math" panose="02040503050406030204" pitchFamily="18" charset="0"/>
                            </a:rPr>
                            <m:t>𝐾</m:t>
                          </m:r>
                        </m:sub>
                      </m:sSub>
                      <m:d>
                        <m:dPr>
                          <m:ctrlPr>
                            <a:rPr lang="ru-RU" sz="2000" i="1">
                              <a:latin typeface="Cambria Math" panose="02040503050406030204" pitchFamily="18" charset="0"/>
                            </a:rPr>
                          </m:ctrlPr>
                        </m:dPr>
                        <m:e>
                          <m:r>
                            <a:rPr lang="ru-RU" sz="2000" i="1">
                              <a:latin typeface="Cambria Math" panose="02040503050406030204" pitchFamily="18" charset="0"/>
                            </a:rPr>
                            <m:t>𝑥</m:t>
                          </m:r>
                        </m:e>
                      </m:d>
                    </m:oMath>
                  </m:oMathPara>
                </a14:m>
                <a:endParaRPr lang="ru-RU" sz="2000" dirty="0"/>
              </a:p>
            </p:txBody>
          </p:sp>
        </mc:Choice>
        <mc:Fallback>
          <p:sp>
            <p:nvSpPr>
              <p:cNvPr id="7" name="Прямоугольник 6"/>
              <p:cNvSpPr>
                <a:spLocks noRot="1" noChangeAspect="1" noMove="1" noResize="1" noEditPoints="1" noAdjustHandles="1" noChangeArrowheads="1" noChangeShapeType="1" noTextEdit="1"/>
              </p:cNvSpPr>
              <p:nvPr/>
            </p:nvSpPr>
            <p:spPr>
              <a:xfrm>
                <a:off x="5487350" y="3497530"/>
                <a:ext cx="5036956" cy="400110"/>
              </a:xfrm>
              <a:prstGeom prst="rect">
                <a:avLst/>
              </a:prstGeom>
              <a:blipFill>
                <a:blip r:embed="rId4"/>
                <a:stretch>
                  <a:fillRect b="-153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8" name="Прямоугольник 7"/>
              <p:cNvSpPr/>
              <p:nvPr/>
            </p:nvSpPr>
            <p:spPr>
              <a:xfrm>
                <a:off x="174037" y="4323222"/>
                <a:ext cx="11192256" cy="1569660"/>
              </a:xfrm>
              <a:prstGeom prst="rect">
                <a:avLst/>
              </a:prstGeom>
            </p:spPr>
            <p:txBody>
              <a:bodyPr wrap="square">
                <a:spAutoFit/>
              </a:bodyPr>
              <a:lstStyle/>
              <a:p>
                <a:pPr indent="457200" algn="just">
                  <a:lnSpc>
                    <a:spcPct val="120000"/>
                  </a:lnSpc>
                  <a:spcAft>
                    <a:spcPts val="0"/>
                  </a:spcAft>
                </a:pPr>
                <a:r>
                  <a:rPr lang="ru-RU" sz="2000" dirty="0">
                    <a:solidFill>
                      <a:srgbClr val="000000"/>
                    </a:solidFill>
                    <a:latin typeface="Times New Roman" panose="02020603050405020304" pitchFamily="18" charset="0"/>
                    <a:ea typeface="Times New Roman" panose="02020603050405020304" pitchFamily="18" charset="0"/>
                  </a:rPr>
                  <a:t>Допустим, что предсказание первой модели на объекте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𝑙</m:t>
                        </m:r>
                      </m:sub>
                    </m:sSub>
                  </m:oMath>
                </a14:m>
                <a:r>
                  <a:rPr lang="ru-RU" sz="2000" dirty="0">
                    <a:solidFill>
                      <a:srgbClr val="000000"/>
                    </a:solidFill>
                    <a:effectLst/>
                    <a:latin typeface="Times New Roman" panose="02020603050405020304" pitchFamily="18" charset="0"/>
                    <a:ea typeface="Times New Roman" panose="02020603050405020304" pitchFamily="18" charset="0"/>
                  </a:rPr>
                  <a:t> на 10 больше, чем необходимо (т.е.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𝑏</m:t>
                        </m:r>
                      </m:e>
                      <m:sub>
                        <m:r>
                          <a:rPr lang="ru-RU" sz="2000" i="1">
                            <a:solidFill>
                              <a:srgbClr val="000000"/>
                            </a:solidFill>
                            <a:effectLst/>
                            <a:latin typeface="Cambria Math" panose="02040503050406030204" pitchFamily="18" charset="0"/>
                            <a:ea typeface="Times New Roman" panose="02020603050405020304" pitchFamily="18" charset="0"/>
                          </a:rPr>
                          <m:t>1</m:t>
                        </m:r>
                      </m:sub>
                    </m:sSub>
                    <m:d>
                      <m:dPr>
                        <m:ctrlPr>
                          <a:rPr lang="ru-RU" sz="2000" i="1">
                            <a:solidFill>
                              <a:srgbClr val="000000"/>
                            </a:solidFill>
                            <a:effectLst/>
                            <a:latin typeface="Cambria Math" panose="02040503050406030204" pitchFamily="18" charset="0"/>
                            <a:ea typeface="Times New Roman" panose="02020603050405020304" pitchFamily="18" charset="0"/>
                          </a:rPr>
                        </m:ctrlPr>
                      </m:dPr>
                      <m:e>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𝑙</m:t>
                            </m:r>
                          </m:sub>
                        </m:sSub>
                      </m:e>
                    </m:d>
                    <m:r>
                      <a:rPr lang="ru-RU" sz="2000" i="1">
                        <a:solidFill>
                          <a:srgbClr val="000000"/>
                        </a:solidFill>
                        <a:effectLst/>
                        <a:latin typeface="Cambria Math" panose="02040503050406030204" pitchFamily="18" charset="0"/>
                        <a:ea typeface="Times New Roman" panose="02020603050405020304" pitchFamily="18" charset="0"/>
                      </a:rPr>
                      <m:t>=</m:t>
                    </m:r>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𝑦</m:t>
                        </m:r>
                      </m:e>
                      <m:sub>
                        <m:r>
                          <a:rPr lang="ru-RU" sz="2000" i="1">
                            <a:solidFill>
                              <a:srgbClr val="000000"/>
                            </a:solidFill>
                            <a:effectLst/>
                            <a:latin typeface="Cambria Math" panose="02040503050406030204" pitchFamily="18" charset="0"/>
                            <a:ea typeface="Times New Roman" panose="02020603050405020304" pitchFamily="18" charset="0"/>
                          </a:rPr>
                          <m:t>𝑙</m:t>
                        </m:r>
                      </m:sub>
                    </m:sSub>
                    <m:r>
                      <a:rPr lang="ru-RU" sz="2000" i="1">
                        <a:solidFill>
                          <a:srgbClr val="000000"/>
                        </a:solidFill>
                        <a:effectLst/>
                        <a:latin typeface="Cambria Math" panose="02040503050406030204" pitchFamily="18" charset="0"/>
                        <a:ea typeface="Times New Roman" panose="02020603050405020304" pitchFamily="18" charset="0"/>
                      </a:rPr>
                      <m:t>+10</m:t>
                    </m:r>
                  </m:oMath>
                </a14:m>
                <a:r>
                  <a:rPr lang="ru-RU" sz="2000" dirty="0">
                    <a:solidFill>
                      <a:srgbClr val="000000"/>
                    </a:solidFill>
                    <a:effectLst/>
                    <a:latin typeface="Times New Roman" panose="02020603050405020304" pitchFamily="18" charset="0"/>
                    <a:ea typeface="Times New Roman" panose="02020603050405020304" pitchFamily="18" charset="0"/>
                  </a:rPr>
                  <a:t>). Если бы мы могли обучить новую модель, которая на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𝑙</m:t>
                        </m:r>
                      </m:sub>
                    </m:sSub>
                  </m:oMath>
                </a14:m>
                <a:r>
                  <a:rPr lang="ru-RU" sz="2000" dirty="0">
                    <a:solidFill>
                      <a:srgbClr val="000000"/>
                    </a:solidFill>
                    <a:effectLst/>
                    <a:latin typeface="Times New Roman" panose="02020603050405020304" pitchFamily="18" charset="0"/>
                    <a:ea typeface="Times New Roman" panose="02020603050405020304" pitchFamily="18" charset="0"/>
                  </a:rPr>
                  <a:t> будет выдавать ответ </a:t>
                </a:r>
                <a14:m>
                  <m:oMath xmlns:m="http://schemas.openxmlformats.org/officeDocument/2006/math">
                    <m:r>
                      <a:rPr lang="ru-RU" sz="2000" i="1">
                        <a:solidFill>
                          <a:srgbClr val="000000"/>
                        </a:solidFill>
                        <a:effectLst/>
                        <a:latin typeface="Cambria Math" panose="02040503050406030204" pitchFamily="18" charset="0"/>
                        <a:ea typeface="Times New Roman" panose="02020603050405020304" pitchFamily="18" charset="0"/>
                      </a:rPr>
                      <m:t>−10</m:t>
                    </m:r>
                  </m:oMath>
                </a14:m>
                <a:r>
                  <a:rPr lang="ru-RU" sz="2000" dirty="0">
                    <a:solidFill>
                      <a:srgbClr val="000000"/>
                    </a:solidFill>
                    <a:effectLst/>
                    <a:latin typeface="Times New Roman" panose="02020603050405020304" pitchFamily="18" charset="0"/>
                    <a:ea typeface="Times New Roman" panose="02020603050405020304" pitchFamily="18" charset="0"/>
                  </a:rPr>
                  <a:t>, то сумма ответов этих двух моделей на объекте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𝑙</m:t>
                        </m:r>
                      </m:sub>
                    </m:sSub>
                  </m:oMath>
                </a14:m>
                <a:r>
                  <a:rPr lang="ru-RU" sz="2000" dirty="0">
                    <a:solidFill>
                      <a:srgbClr val="000000"/>
                    </a:solidFill>
                    <a:effectLst/>
                    <a:latin typeface="Times New Roman" panose="02020603050405020304" pitchFamily="18" charset="0"/>
                    <a:ea typeface="Times New Roman" panose="02020603050405020304" pitchFamily="18" charset="0"/>
                  </a:rPr>
                  <a:t> в точности совпала бы с истинным значением:</a:t>
                </a:r>
                <a:endParaRPr lang="ru-RU" sz="2000"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𝑏</m:t>
                          </m:r>
                        </m:e>
                        <m:sub>
                          <m:r>
                            <a:rPr lang="ru-RU" sz="2000" i="1">
                              <a:solidFill>
                                <a:srgbClr val="000000"/>
                              </a:solidFill>
                              <a:effectLst/>
                              <a:latin typeface="Cambria Math" panose="02040503050406030204" pitchFamily="18" charset="0"/>
                              <a:ea typeface="Times New Roman" panose="02020603050405020304" pitchFamily="18" charset="0"/>
                            </a:rPr>
                            <m:t>1</m:t>
                          </m:r>
                        </m:sub>
                      </m:sSub>
                      <m:d>
                        <m:dPr>
                          <m:ctrlPr>
                            <a:rPr lang="ru-RU" sz="2000" i="1">
                              <a:solidFill>
                                <a:srgbClr val="000000"/>
                              </a:solidFill>
                              <a:effectLst/>
                              <a:latin typeface="Cambria Math" panose="02040503050406030204" pitchFamily="18" charset="0"/>
                              <a:ea typeface="Times New Roman" panose="02020603050405020304" pitchFamily="18" charset="0"/>
                            </a:rPr>
                          </m:ctrlPr>
                        </m:dPr>
                        <m:e>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𝑙</m:t>
                              </m:r>
                            </m:sub>
                          </m:sSub>
                        </m:e>
                      </m:d>
                      <m:r>
                        <a:rPr lang="ru-RU" sz="2000" i="1">
                          <a:solidFill>
                            <a:srgbClr val="000000"/>
                          </a:solidFill>
                          <a:effectLst/>
                          <a:latin typeface="Cambria Math" panose="02040503050406030204" pitchFamily="18" charset="0"/>
                          <a:ea typeface="Times New Roman" panose="02020603050405020304" pitchFamily="18" charset="0"/>
                        </a:rPr>
                        <m:t>+</m:t>
                      </m:r>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𝑏</m:t>
                          </m:r>
                        </m:e>
                        <m:sub>
                          <m:r>
                            <a:rPr lang="ru-RU" sz="2000" i="1">
                              <a:solidFill>
                                <a:srgbClr val="000000"/>
                              </a:solidFill>
                              <a:effectLst/>
                              <a:latin typeface="Cambria Math" panose="02040503050406030204" pitchFamily="18" charset="0"/>
                              <a:ea typeface="Times New Roman" panose="02020603050405020304" pitchFamily="18" charset="0"/>
                            </a:rPr>
                            <m:t>2</m:t>
                          </m:r>
                        </m:sub>
                      </m:sSub>
                      <m:d>
                        <m:dPr>
                          <m:ctrlPr>
                            <a:rPr lang="ru-RU" sz="2000" i="1">
                              <a:solidFill>
                                <a:srgbClr val="000000"/>
                              </a:solidFill>
                              <a:effectLst/>
                              <a:latin typeface="Cambria Math" panose="02040503050406030204" pitchFamily="18" charset="0"/>
                              <a:ea typeface="Times New Roman" panose="02020603050405020304" pitchFamily="18" charset="0"/>
                            </a:rPr>
                          </m:ctrlPr>
                        </m:dPr>
                        <m:e>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𝑙</m:t>
                              </m:r>
                            </m:sub>
                          </m:sSub>
                        </m:e>
                      </m:d>
                      <m:r>
                        <a:rPr lang="ru-RU" sz="2000" i="1">
                          <a:solidFill>
                            <a:srgbClr val="000000"/>
                          </a:solidFill>
                          <a:effectLst/>
                          <a:latin typeface="Cambria Math" panose="02040503050406030204" pitchFamily="18" charset="0"/>
                          <a:ea typeface="Times New Roman" panose="02020603050405020304" pitchFamily="18" charset="0"/>
                        </a:rPr>
                        <m:t>=</m:t>
                      </m:r>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𝑦</m:t>
                          </m:r>
                        </m:e>
                        <m:sub>
                          <m:r>
                            <a:rPr lang="ru-RU" sz="2000" i="1">
                              <a:solidFill>
                                <a:srgbClr val="000000"/>
                              </a:solidFill>
                              <a:effectLst/>
                              <a:latin typeface="Cambria Math" panose="02040503050406030204" pitchFamily="18" charset="0"/>
                              <a:ea typeface="Times New Roman" panose="02020603050405020304" pitchFamily="18" charset="0"/>
                            </a:rPr>
                            <m:t>𝑙</m:t>
                          </m:r>
                        </m:sub>
                      </m:sSub>
                      <m:r>
                        <a:rPr lang="ru-RU" sz="2000" i="1">
                          <a:solidFill>
                            <a:srgbClr val="000000"/>
                          </a:solidFill>
                          <a:effectLst/>
                          <a:latin typeface="Cambria Math" panose="02040503050406030204" pitchFamily="18" charset="0"/>
                          <a:ea typeface="Times New Roman" panose="02020603050405020304" pitchFamily="18" charset="0"/>
                        </a:rPr>
                        <m:t>+10)+</m:t>
                      </m:r>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−10</m:t>
                          </m:r>
                        </m:e>
                      </m:d>
                      <m:r>
                        <a:rPr lang="ru-RU" sz="2000" i="1">
                          <a:solidFill>
                            <a:srgbClr val="000000"/>
                          </a:solidFill>
                          <a:effectLst/>
                          <a:latin typeface="Cambria Math" panose="02040503050406030204" pitchFamily="18" charset="0"/>
                          <a:ea typeface="Times New Roman" panose="02020603050405020304" pitchFamily="18" charset="0"/>
                        </a:rPr>
                        <m:t>=</m:t>
                      </m:r>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𝑦</m:t>
                          </m:r>
                        </m:e>
                        <m:sub>
                          <m:r>
                            <a:rPr lang="ru-RU" sz="2000" i="1">
                              <a:solidFill>
                                <a:srgbClr val="000000"/>
                              </a:solidFill>
                              <a:effectLst/>
                              <a:latin typeface="Cambria Math" panose="02040503050406030204" pitchFamily="18" charset="0"/>
                              <a:ea typeface="Times New Roman" panose="02020603050405020304" pitchFamily="18" charset="0"/>
                            </a:rPr>
                            <m:t>𝑙</m:t>
                          </m:r>
                        </m:sub>
                      </m:sSub>
                    </m:oMath>
                  </m:oMathPara>
                </a14:m>
                <a:endParaRPr lang="ru-RU" sz="2000" dirty="0">
                  <a:solidFill>
                    <a:srgbClr val="000000"/>
                  </a:solidFill>
                  <a:effectLst/>
                  <a:latin typeface="Times New Roman" panose="02020603050405020304" pitchFamily="18" charset="0"/>
                  <a:ea typeface="Calibri" panose="020F0502020204030204" pitchFamily="34" charset="0"/>
                </a:endParaRPr>
              </a:p>
            </p:txBody>
          </p:sp>
        </mc:Choice>
        <mc:Fallback>
          <p:sp>
            <p:nvSpPr>
              <p:cNvPr id="8" name="Прямоугольник 7"/>
              <p:cNvSpPr>
                <a:spLocks noRot="1" noChangeAspect="1" noMove="1" noResize="1" noEditPoints="1" noAdjustHandles="1" noChangeArrowheads="1" noChangeShapeType="1" noTextEdit="1"/>
              </p:cNvSpPr>
              <p:nvPr/>
            </p:nvSpPr>
            <p:spPr>
              <a:xfrm>
                <a:off x="174037" y="4323222"/>
                <a:ext cx="11192256" cy="1569660"/>
              </a:xfrm>
              <a:prstGeom prst="rect">
                <a:avLst/>
              </a:prstGeom>
              <a:blipFill>
                <a:blip r:embed="rId5"/>
                <a:stretch>
                  <a:fillRect l="-599" r="-545"/>
                </a:stretch>
              </a:blipFill>
            </p:spPr>
            <p:txBody>
              <a:bodyPr/>
              <a:lstStyle/>
              <a:p>
                <a:r>
                  <a:rPr lang="ru-RU">
                    <a:noFill/>
                  </a:rPr>
                  <a:t> </a:t>
                </a:r>
              </a:p>
            </p:txBody>
          </p:sp>
        </mc:Fallback>
      </mc:AlternateContent>
    </p:spTree>
    <p:extLst>
      <p:ext uri="{BB962C8B-B14F-4D97-AF65-F5344CB8AC3E}">
        <p14:creationId xmlns:p14="http://schemas.microsoft.com/office/powerpoint/2010/main" val="720271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228600" y="302949"/>
                <a:ext cx="11667744" cy="1569660"/>
              </a:xfrm>
              <a:prstGeom prst="rect">
                <a:avLst/>
              </a:prstGeom>
            </p:spPr>
            <p:txBody>
              <a:bodyPr wrap="square">
                <a:spAutoFit/>
              </a:bodyPr>
              <a:lstStyle/>
              <a:p>
                <a:pPr indent="457200" algn="just">
                  <a:lnSpc>
                    <a:spcPct val="120000"/>
                  </a:lnSpc>
                  <a:spcAft>
                    <a:spcPts val="0"/>
                  </a:spcAft>
                </a:pPr>
                <a:r>
                  <a:rPr lang="ru-RU" sz="2000" dirty="0">
                    <a:solidFill>
                      <a:srgbClr val="000000"/>
                    </a:solidFill>
                    <a:latin typeface="Times New Roman" panose="02020603050405020304" pitchFamily="18" charset="0"/>
                    <a:ea typeface="Times New Roman" panose="02020603050405020304" pitchFamily="18" charset="0"/>
                  </a:rPr>
                  <a:t>Для объяснения метода градиентного </a:t>
                </a:r>
                <a:r>
                  <a:rPr lang="ru-RU" sz="2000" dirty="0" err="1">
                    <a:solidFill>
                      <a:srgbClr val="000000"/>
                    </a:solidFill>
                    <a:latin typeface="Times New Roman" panose="02020603050405020304" pitchFamily="18" charset="0"/>
                    <a:ea typeface="Times New Roman" panose="02020603050405020304" pitchFamily="18" charset="0"/>
                  </a:rPr>
                  <a:t>бустинга</a:t>
                </a:r>
                <a:r>
                  <a:rPr lang="ru-RU" sz="2000" dirty="0">
                    <a:solidFill>
                      <a:srgbClr val="000000"/>
                    </a:solidFill>
                    <a:latin typeface="Times New Roman" panose="02020603050405020304" pitchFamily="18" charset="0"/>
                    <a:ea typeface="Times New Roman" panose="02020603050405020304" pitchFamily="18" charset="0"/>
                  </a:rPr>
                  <a:t> полезно воспользоваться следующей аналогией. Бустинг можно представить как гольфиста, цель которого – загнать мяч в лунку с координатой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𝑦</m:t>
                        </m:r>
                      </m:e>
                      <m:sub>
                        <m:r>
                          <a:rPr lang="ru-RU" sz="2000" i="1">
                            <a:solidFill>
                              <a:srgbClr val="000000"/>
                            </a:solidFill>
                            <a:effectLst/>
                            <a:latin typeface="Cambria Math" panose="02040503050406030204" pitchFamily="18" charset="0"/>
                            <a:ea typeface="Times New Roman" panose="02020603050405020304" pitchFamily="18" charset="0"/>
                          </a:rPr>
                          <m:t>𝑏𝑎𝑙𝑙</m:t>
                        </m:r>
                      </m:sub>
                    </m:sSub>
                  </m:oMath>
                </a14:m>
                <a:r>
                  <a:rPr lang="ru-RU" sz="2000" dirty="0">
                    <a:solidFill>
                      <a:srgbClr val="000000"/>
                    </a:solidFill>
                    <a:effectLst/>
                    <a:latin typeface="Times New Roman" panose="02020603050405020304" pitchFamily="18" charset="0"/>
                    <a:ea typeface="Times New Roman" panose="02020603050405020304" pitchFamily="18" charset="0"/>
                  </a:rPr>
                  <a:t>. Положение мяча здесь – ответ композиции </a:t>
                </a:r>
                <a14:m>
                  <m:oMath xmlns:m="http://schemas.openxmlformats.org/officeDocument/2006/math">
                    <m:r>
                      <a:rPr lang="ru-RU" sz="2000" i="1">
                        <a:solidFill>
                          <a:srgbClr val="000000"/>
                        </a:solidFill>
                        <a:effectLst/>
                        <a:latin typeface="Cambria Math" panose="02040503050406030204" pitchFamily="18" charset="0"/>
                        <a:ea typeface="Times New Roman" panose="02020603050405020304" pitchFamily="18" charset="0"/>
                      </a:rPr>
                      <m:t>𝑎</m:t>
                    </m:r>
                    <m:d>
                      <m:dPr>
                        <m:ctrlPr>
                          <a:rPr lang="ru-RU" sz="2000" i="1">
                            <a:solidFill>
                              <a:srgbClr val="000000"/>
                            </a:solidFill>
                            <a:effectLst/>
                            <a:latin typeface="Cambria Math" panose="02040503050406030204" pitchFamily="18" charset="0"/>
                            <a:ea typeface="Times New Roman" panose="02020603050405020304" pitchFamily="18" charset="0"/>
                          </a:rPr>
                        </m:ctrlPr>
                      </m:dPr>
                      <m:e>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𝑏𝑎𝑙𝑙</m:t>
                            </m:r>
                          </m:sub>
                        </m:sSub>
                      </m:e>
                    </m:d>
                  </m:oMath>
                </a14:m>
                <a:r>
                  <a:rPr lang="ru-RU" sz="2000" dirty="0">
                    <a:solidFill>
                      <a:srgbClr val="000000"/>
                    </a:solidFill>
                    <a:effectLst/>
                    <a:latin typeface="Times New Roman" panose="02020603050405020304" pitchFamily="18" charset="0"/>
                    <a:ea typeface="Times New Roman" panose="02020603050405020304" pitchFamily="18" charset="0"/>
                  </a:rPr>
                  <a:t>. Гольфист мог бы один раз ударить по мячу, не попасть в лунку и пойти домой, но настырность заставляет его продолжить.</a:t>
                </a:r>
                <a:endParaRPr lang="ru-RU" sz="2000"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228600" y="302949"/>
                <a:ext cx="11667744" cy="1569660"/>
              </a:xfrm>
              <a:prstGeom prst="rect">
                <a:avLst/>
              </a:prstGeom>
              <a:blipFill>
                <a:blip r:embed="rId2"/>
                <a:stretch>
                  <a:fillRect l="-575" t="-389" r="-522" b="-4280"/>
                </a:stretch>
              </a:blipFill>
            </p:spPr>
            <p:txBody>
              <a:bodyPr/>
              <a:lstStyle/>
              <a:p>
                <a:r>
                  <a:rPr lang="ru-RU">
                    <a:noFill/>
                  </a:rPr>
                  <a:t> </a:t>
                </a:r>
              </a:p>
            </p:txBody>
          </p:sp>
        </mc:Fallback>
      </mc:AlternateContent>
      <p:pic>
        <p:nvPicPr>
          <p:cNvPr id="3" name="Рисунок 2"/>
          <p:cNvPicPr>
            <a:picLocks noChangeAspect="1"/>
          </p:cNvPicPr>
          <p:nvPr/>
        </p:nvPicPr>
        <p:blipFill>
          <a:blip r:embed="rId3"/>
          <a:stretch>
            <a:fillRect/>
          </a:stretch>
        </p:blipFill>
        <p:spPr>
          <a:xfrm>
            <a:off x="2044937" y="2102970"/>
            <a:ext cx="7419168" cy="4078373"/>
          </a:xfrm>
          <a:prstGeom prst="rect">
            <a:avLst/>
          </a:prstGeom>
        </p:spPr>
      </p:pic>
    </p:spTree>
    <p:extLst>
      <p:ext uri="{BB962C8B-B14F-4D97-AF65-F5344CB8AC3E}">
        <p14:creationId xmlns:p14="http://schemas.microsoft.com/office/powerpoint/2010/main" val="1546912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329184" y="944279"/>
                <a:ext cx="11210544" cy="1938992"/>
              </a:xfrm>
              <a:prstGeom prst="rect">
                <a:avLst/>
              </a:prstGeom>
            </p:spPr>
            <p:txBody>
              <a:bodyPr wrap="square">
                <a:spAutoFit/>
              </a:bodyPr>
              <a:lstStyle/>
              <a:p>
                <a:pPr indent="457200" algn="just">
                  <a:lnSpc>
                    <a:spcPct val="120000"/>
                  </a:lnSpc>
                  <a:spcAft>
                    <a:spcPts val="0"/>
                  </a:spcAft>
                </a:pPr>
                <a:r>
                  <a:rPr lang="ru-RU" sz="2000" dirty="0">
                    <a:solidFill>
                      <a:srgbClr val="000000"/>
                    </a:solidFill>
                    <a:latin typeface="Times New Roman" panose="02020603050405020304" pitchFamily="18" charset="0"/>
                    <a:ea typeface="Times New Roman" panose="02020603050405020304" pitchFamily="18" charset="0"/>
                  </a:rPr>
                  <a:t>Следующий удар гольфиста переводит мяч из текущего положения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𝑎</m:t>
                        </m:r>
                      </m:e>
                      <m:sub>
                        <m:r>
                          <a:rPr lang="en-US" sz="2000" i="1">
                            <a:solidFill>
                              <a:srgbClr val="000000"/>
                            </a:solidFill>
                            <a:effectLst/>
                            <a:latin typeface="Cambria Math" panose="02040503050406030204" pitchFamily="18" charset="0"/>
                            <a:ea typeface="Times New Roman" panose="02020603050405020304" pitchFamily="18" charset="0"/>
                          </a:rPr>
                          <m:t>𝑘</m:t>
                        </m:r>
                      </m:sub>
                    </m:sSub>
                    <m:d>
                      <m:dPr>
                        <m:ctrlPr>
                          <a:rPr lang="ru-RU" sz="2000" i="1">
                            <a:solidFill>
                              <a:srgbClr val="000000"/>
                            </a:solidFill>
                            <a:effectLst/>
                            <a:latin typeface="Cambria Math" panose="02040503050406030204" pitchFamily="18" charset="0"/>
                            <a:ea typeface="Times New Roman" panose="02020603050405020304" pitchFamily="18" charset="0"/>
                          </a:rPr>
                        </m:ctrlPr>
                      </m:dPr>
                      <m:e>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𝑏𝑎𝑙𝑙</m:t>
                            </m:r>
                          </m:sub>
                        </m:sSub>
                      </m:e>
                    </m:d>
                  </m:oMath>
                </a14:m>
                <a:r>
                  <a:rPr lang="ru-RU" sz="2000" dirty="0">
                    <a:solidFill>
                      <a:srgbClr val="000000"/>
                    </a:solidFill>
                    <a:effectLst/>
                    <a:latin typeface="Times New Roman" panose="02020603050405020304" pitchFamily="18" charset="0"/>
                    <a:ea typeface="Times New Roman" panose="02020603050405020304" pitchFamily="18" charset="0"/>
                  </a:rPr>
                  <a:t> в положение </a:t>
                </a:r>
                <a14:m>
                  <m:oMath xmlns:m="http://schemas.openxmlformats.org/officeDocument/2006/math">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𝑎</m:t>
                        </m:r>
                      </m:e>
                      <m:sub>
                        <m:r>
                          <a:rPr lang="en-US" sz="2000" i="1">
                            <a:solidFill>
                              <a:srgbClr val="000000"/>
                            </a:solidFill>
                            <a:effectLst/>
                            <a:latin typeface="Cambria Math" panose="02040503050406030204" pitchFamily="18" charset="0"/>
                            <a:ea typeface="Times New Roman" panose="02020603050405020304" pitchFamily="18" charset="0"/>
                          </a:rPr>
                          <m:t>𝑘</m:t>
                        </m:r>
                        <m:r>
                          <a:rPr lang="ru-RU" sz="2000" i="1">
                            <a:solidFill>
                              <a:srgbClr val="000000"/>
                            </a:solidFill>
                            <a:effectLst/>
                            <a:latin typeface="Cambria Math" panose="02040503050406030204" pitchFamily="18" charset="0"/>
                            <a:ea typeface="Times New Roman" panose="02020603050405020304" pitchFamily="18" charset="0"/>
                          </a:rPr>
                          <m:t>+1</m:t>
                        </m:r>
                      </m:sub>
                    </m:sSub>
                    <m:d>
                      <m:dPr>
                        <m:ctrlPr>
                          <a:rPr lang="ru-RU" sz="2000" i="1">
                            <a:solidFill>
                              <a:srgbClr val="000000"/>
                            </a:solidFill>
                            <a:effectLst/>
                            <a:latin typeface="Cambria Math" panose="02040503050406030204" pitchFamily="18" charset="0"/>
                            <a:ea typeface="Times New Roman" panose="02020603050405020304" pitchFamily="18" charset="0"/>
                          </a:rPr>
                        </m:ctrlPr>
                      </m:dPr>
                      <m:e>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𝑥</m:t>
                            </m:r>
                          </m:e>
                          <m:sub>
                            <m:r>
                              <a:rPr lang="ru-RU" sz="2000" i="1">
                                <a:solidFill>
                                  <a:srgbClr val="000000"/>
                                </a:solidFill>
                                <a:effectLst/>
                                <a:latin typeface="Cambria Math" panose="02040503050406030204" pitchFamily="18" charset="0"/>
                                <a:ea typeface="Times New Roman" panose="02020603050405020304" pitchFamily="18" charset="0"/>
                              </a:rPr>
                              <m:t>𝑏𝑎𝑙𝑙</m:t>
                            </m:r>
                          </m:sub>
                        </m:sSub>
                      </m:e>
                    </m:d>
                  </m:oMath>
                </a14:m>
                <a:r>
                  <a:rPr lang="ru-RU" sz="2000" dirty="0">
                    <a:solidFill>
                      <a:srgbClr val="000000"/>
                    </a:solidFill>
                    <a:effectLst/>
                    <a:latin typeface="Times New Roman" panose="02020603050405020304" pitchFamily="18" charset="0"/>
                    <a:ea typeface="Times New Roman" panose="02020603050405020304" pitchFamily="18" charset="0"/>
                  </a:rPr>
                  <a:t>. Каждый следующий удар – это та поправка, которую вносит очередной базовый алгоритм в композицию. Если гольфист все делает правильно, то функция потерь будет уменьшаться:</a:t>
                </a:r>
                <a:endParaRPr lang="ru-RU" sz="2000"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ru-RU" sz="2000" i="1">
                          <a:solidFill>
                            <a:srgbClr val="000000"/>
                          </a:solidFill>
                          <a:effectLst/>
                          <a:latin typeface="Cambria Math" panose="02040503050406030204" pitchFamily="18" charset="0"/>
                          <a:ea typeface="Times New Roman" panose="02020603050405020304" pitchFamily="18" charset="0"/>
                        </a:rPr>
                        <m:t>ℒ</m:t>
                      </m:r>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𝑦</m:t>
                          </m:r>
                          <m:r>
                            <a:rPr lang="ru-RU" sz="2000" i="1">
                              <a:solidFill>
                                <a:srgbClr val="000000"/>
                              </a:solidFill>
                              <a:effectLst/>
                              <a:latin typeface="Cambria Math" panose="02040503050406030204" pitchFamily="18" charset="0"/>
                              <a:ea typeface="Times New Roman" panose="02020603050405020304" pitchFamily="18" charset="0"/>
                            </a:rPr>
                            <m:t>,</m:t>
                          </m:r>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𝑎</m:t>
                              </m:r>
                            </m:e>
                            <m:sub>
                              <m:r>
                                <a:rPr lang="ru-RU" sz="2000" i="1">
                                  <a:solidFill>
                                    <a:srgbClr val="000000"/>
                                  </a:solidFill>
                                  <a:effectLst/>
                                  <a:latin typeface="Cambria Math" panose="02040503050406030204" pitchFamily="18" charset="0"/>
                                  <a:ea typeface="Times New Roman" panose="02020603050405020304" pitchFamily="18" charset="0"/>
                                </a:rPr>
                                <m:t>𝑘</m:t>
                              </m:r>
                              <m:r>
                                <a:rPr lang="ru-RU" sz="2000" i="1">
                                  <a:solidFill>
                                    <a:srgbClr val="000000"/>
                                  </a:solidFill>
                                  <a:effectLst/>
                                  <a:latin typeface="Cambria Math" panose="02040503050406030204" pitchFamily="18" charset="0"/>
                                  <a:ea typeface="Times New Roman" panose="02020603050405020304" pitchFamily="18" charset="0"/>
                                </a:rPr>
                                <m:t>+1</m:t>
                              </m:r>
                            </m:sub>
                          </m:sSub>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𝑥</m:t>
                          </m:r>
                          <m:r>
                            <a:rPr lang="ru-RU" sz="2000" i="1">
                              <a:solidFill>
                                <a:srgbClr val="000000"/>
                              </a:solidFill>
                              <a:effectLst/>
                              <a:latin typeface="Cambria Math" panose="02040503050406030204" pitchFamily="18" charset="0"/>
                              <a:ea typeface="Times New Roman" panose="02020603050405020304" pitchFamily="18" charset="0"/>
                            </a:rPr>
                            <m:t>)</m:t>
                          </m:r>
                        </m:e>
                      </m:d>
                      <m:r>
                        <a:rPr lang="ru-RU" sz="2000" i="1">
                          <a:solidFill>
                            <a:srgbClr val="000000"/>
                          </a:solidFill>
                          <a:effectLst/>
                          <a:latin typeface="Cambria Math" panose="02040503050406030204" pitchFamily="18" charset="0"/>
                          <a:ea typeface="Times New Roman" panose="02020603050405020304" pitchFamily="18" charset="0"/>
                        </a:rPr>
                        <m:t>&lt;</m:t>
                      </m:r>
                      <m:r>
                        <a:rPr lang="ru-RU" sz="2000" i="1">
                          <a:solidFill>
                            <a:srgbClr val="000000"/>
                          </a:solidFill>
                          <a:effectLst/>
                          <a:latin typeface="Cambria Math" panose="02040503050406030204" pitchFamily="18" charset="0"/>
                          <a:ea typeface="Times New Roman" panose="02020603050405020304" pitchFamily="18" charset="0"/>
                        </a:rPr>
                        <m:t>ℒ</m:t>
                      </m:r>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𝑦</m:t>
                          </m:r>
                          <m:r>
                            <a:rPr lang="ru-RU" sz="2000" i="1">
                              <a:solidFill>
                                <a:srgbClr val="000000"/>
                              </a:solidFill>
                              <a:effectLst/>
                              <a:latin typeface="Cambria Math" panose="02040503050406030204" pitchFamily="18" charset="0"/>
                              <a:ea typeface="Times New Roman" panose="02020603050405020304" pitchFamily="18" charset="0"/>
                            </a:rPr>
                            <m:t>,</m:t>
                          </m:r>
                          <m:sSub>
                            <m:sSubPr>
                              <m:ctrlPr>
                                <a:rPr lang="ru-RU" sz="2000" i="1">
                                  <a:solidFill>
                                    <a:srgbClr val="000000"/>
                                  </a:solidFill>
                                  <a:effectLst/>
                                  <a:latin typeface="Cambria Math" panose="02040503050406030204" pitchFamily="18" charset="0"/>
                                  <a:ea typeface="Times New Roman" panose="02020603050405020304" pitchFamily="18" charset="0"/>
                                </a:rPr>
                              </m:ctrlPr>
                            </m:sSubPr>
                            <m:e>
                              <m:r>
                                <a:rPr lang="ru-RU" sz="2000" i="1">
                                  <a:solidFill>
                                    <a:srgbClr val="000000"/>
                                  </a:solidFill>
                                  <a:effectLst/>
                                  <a:latin typeface="Cambria Math" panose="02040503050406030204" pitchFamily="18" charset="0"/>
                                  <a:ea typeface="Times New Roman" panose="02020603050405020304" pitchFamily="18" charset="0"/>
                                </a:rPr>
                                <m:t>𝑎</m:t>
                              </m:r>
                            </m:e>
                            <m:sub>
                              <m:r>
                                <a:rPr lang="ru-RU" sz="2000" i="1">
                                  <a:solidFill>
                                    <a:srgbClr val="000000"/>
                                  </a:solidFill>
                                  <a:effectLst/>
                                  <a:latin typeface="Cambria Math" panose="02040503050406030204" pitchFamily="18" charset="0"/>
                                  <a:ea typeface="Times New Roman" panose="02020603050405020304" pitchFamily="18" charset="0"/>
                                </a:rPr>
                                <m:t>𝑘</m:t>
                              </m:r>
                            </m:sub>
                          </m:sSub>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𝑥</m:t>
                          </m:r>
                          <m:r>
                            <a:rPr lang="ru-RU" sz="2000" i="1">
                              <a:solidFill>
                                <a:srgbClr val="000000"/>
                              </a:solidFill>
                              <a:effectLst/>
                              <a:latin typeface="Cambria Math" panose="02040503050406030204" pitchFamily="18" charset="0"/>
                              <a:ea typeface="Times New Roman" panose="02020603050405020304" pitchFamily="18" charset="0"/>
                            </a:rPr>
                            <m:t>)</m:t>
                          </m:r>
                        </m:e>
                      </m:d>
                    </m:oMath>
                  </m:oMathPara>
                </a14:m>
                <a:endParaRPr lang="ru-RU" sz="2000"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329184" y="944279"/>
                <a:ext cx="11210544" cy="1938992"/>
              </a:xfrm>
              <a:prstGeom prst="rect">
                <a:avLst/>
              </a:prstGeom>
              <a:blipFill>
                <a:blip r:embed="rId2"/>
                <a:stretch>
                  <a:fillRect l="-544" t="-314" r="-544"/>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3" name="Прямоугольник 2"/>
              <p:cNvSpPr/>
              <p:nvPr/>
            </p:nvSpPr>
            <p:spPr>
              <a:xfrm>
                <a:off x="329184" y="3316594"/>
                <a:ext cx="11210544" cy="2577116"/>
              </a:xfrm>
              <a:prstGeom prst="rect">
                <a:avLst/>
              </a:prstGeom>
            </p:spPr>
            <p:txBody>
              <a:bodyPr wrap="square">
                <a:spAutoFit/>
              </a:bodyPr>
              <a:lstStyle/>
              <a:p>
                <a:pPr indent="457200" algn="just">
                  <a:lnSpc>
                    <a:spcPct val="120000"/>
                  </a:lnSpc>
                  <a:spcAft>
                    <a:spcPts val="0"/>
                  </a:spcAft>
                </a:pPr>
                <a:r>
                  <a:rPr lang="ru-RU" sz="2000" dirty="0">
                    <a:solidFill>
                      <a:srgbClr val="000000"/>
                    </a:solidFill>
                    <a:latin typeface="Times New Roman" panose="02020603050405020304" pitchFamily="18" charset="0"/>
                    <a:ea typeface="Times New Roman" panose="02020603050405020304" pitchFamily="18" charset="0"/>
                  </a:rPr>
                  <a:t>Рассмотрим теперь другую аналогию – разложение функции в ряд Тейлора. Из курса математического анализа известно, что (достаточно хорошую) бесконечно дифференцируемую функцию </a:t>
                </a:r>
                <a14:m>
                  <m:oMath xmlns:m="http://schemas.openxmlformats.org/officeDocument/2006/math">
                    <m:r>
                      <a:rPr lang="ru-RU" sz="2000" i="1">
                        <a:solidFill>
                          <a:srgbClr val="000000"/>
                        </a:solidFill>
                        <a:effectLst/>
                        <a:latin typeface="Cambria Math" panose="02040503050406030204" pitchFamily="18" charset="0"/>
                        <a:ea typeface="Times New Roman" panose="02020603050405020304" pitchFamily="18" charset="0"/>
                      </a:rPr>
                      <m:t>𝑓</m:t>
                    </m:r>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𝑥</m:t>
                        </m:r>
                      </m:e>
                    </m:d>
                  </m:oMath>
                </a14:m>
                <a:r>
                  <a:rPr lang="ru-RU" sz="2000" dirty="0">
                    <a:solidFill>
                      <a:srgbClr val="000000"/>
                    </a:solidFill>
                    <a:effectLst/>
                    <a:latin typeface="Times New Roman" panose="02020603050405020304" pitchFamily="18" charset="0"/>
                    <a:ea typeface="Times New Roman" panose="02020603050405020304" pitchFamily="18" charset="0"/>
                  </a:rPr>
                  <a:t> на интервале </a:t>
                </a:r>
                <a14:m>
                  <m:oMath xmlns:m="http://schemas.openxmlformats.org/officeDocument/2006/math">
                    <m:r>
                      <a:rPr lang="ru-RU" sz="2000" i="1">
                        <a:solidFill>
                          <a:srgbClr val="000000"/>
                        </a:solidFill>
                        <a:effectLst/>
                        <a:latin typeface="Cambria Math" panose="02040503050406030204" pitchFamily="18" charset="0"/>
                        <a:ea typeface="Times New Roman" panose="02020603050405020304" pitchFamily="18" charset="0"/>
                      </a:rPr>
                      <m:t>𝑥</m:t>
                    </m:r>
                    <m:r>
                      <a:rPr lang="ru-RU" sz="2000" i="1">
                        <a:solidFill>
                          <a:srgbClr val="000000"/>
                        </a:solidFill>
                        <a:effectLst/>
                        <a:latin typeface="Cambria Math" panose="02040503050406030204" pitchFamily="18" charset="0"/>
                        <a:ea typeface="Times New Roman" panose="02020603050405020304" pitchFamily="18" charset="0"/>
                      </a:rPr>
                      <m:t>∈</m:t>
                    </m:r>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𝑎</m:t>
                        </m:r>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𝑅</m:t>
                        </m:r>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𝑎</m:t>
                        </m:r>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𝑅</m:t>
                        </m:r>
                      </m:e>
                    </m:d>
                  </m:oMath>
                </a14:m>
                <a:r>
                  <a:rPr lang="ru-RU" sz="2000" dirty="0">
                    <a:solidFill>
                      <a:srgbClr val="000000"/>
                    </a:solidFill>
                    <a:effectLst/>
                    <a:latin typeface="Times New Roman" panose="02020603050405020304" pitchFamily="18" charset="0"/>
                    <a:ea typeface="Times New Roman" panose="02020603050405020304" pitchFamily="18" charset="0"/>
                  </a:rPr>
                  <a:t>  можно представить в виде бесконечной суммы степенных функций:</a:t>
                </a:r>
                <a:endParaRPr lang="ru-RU" sz="2000"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ru-RU" sz="2000" i="1">
                          <a:solidFill>
                            <a:srgbClr val="000000"/>
                          </a:solidFill>
                          <a:effectLst/>
                          <a:latin typeface="Cambria Math" panose="02040503050406030204" pitchFamily="18" charset="0"/>
                          <a:ea typeface="Times New Roman" panose="02020603050405020304" pitchFamily="18" charset="0"/>
                        </a:rPr>
                        <m:t>𝑓</m:t>
                      </m:r>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𝑥</m:t>
                          </m:r>
                        </m:e>
                      </m:d>
                      <m:r>
                        <a:rPr lang="ru-RU" sz="2000" i="1">
                          <a:solidFill>
                            <a:srgbClr val="000000"/>
                          </a:solidFill>
                          <a:effectLst/>
                          <a:latin typeface="Cambria Math" panose="02040503050406030204" pitchFamily="18" charset="0"/>
                          <a:ea typeface="Times New Roman" panose="02020603050405020304" pitchFamily="18" charset="0"/>
                        </a:rPr>
                        <m:t>=</m:t>
                      </m:r>
                      <m:nary>
                        <m:naryPr>
                          <m:chr m:val="∑"/>
                          <m:limLoc m:val="undOvr"/>
                          <m:ctrlPr>
                            <a:rPr lang="ru-RU" sz="2000" i="1">
                              <a:solidFill>
                                <a:srgbClr val="000000"/>
                              </a:solidFill>
                              <a:effectLst/>
                              <a:latin typeface="Cambria Math" panose="02040503050406030204" pitchFamily="18" charset="0"/>
                              <a:ea typeface="Times New Roman" panose="02020603050405020304" pitchFamily="18" charset="0"/>
                            </a:rPr>
                          </m:ctrlPr>
                        </m:naryPr>
                        <m:sub>
                          <m:r>
                            <a:rPr lang="ru-RU" sz="2000" i="1">
                              <a:solidFill>
                                <a:srgbClr val="000000"/>
                              </a:solidFill>
                              <a:effectLst/>
                              <a:latin typeface="Cambria Math" panose="02040503050406030204" pitchFamily="18" charset="0"/>
                              <a:ea typeface="Times New Roman" panose="02020603050405020304" pitchFamily="18" charset="0"/>
                            </a:rPr>
                            <m:t>𝑛</m:t>
                          </m:r>
                          <m:r>
                            <a:rPr lang="ru-RU" sz="2000" i="1">
                              <a:solidFill>
                                <a:srgbClr val="000000"/>
                              </a:solidFill>
                              <a:effectLst/>
                              <a:latin typeface="Cambria Math" panose="02040503050406030204" pitchFamily="18" charset="0"/>
                              <a:ea typeface="Times New Roman" panose="02020603050405020304" pitchFamily="18" charset="0"/>
                            </a:rPr>
                            <m:t>=0</m:t>
                          </m:r>
                        </m:sub>
                        <m:sup>
                          <m:r>
                            <a:rPr lang="ru-RU" sz="2000" i="1">
                              <a:solidFill>
                                <a:srgbClr val="000000"/>
                              </a:solidFill>
                              <a:effectLst/>
                              <a:latin typeface="Cambria Math" panose="02040503050406030204" pitchFamily="18" charset="0"/>
                              <a:ea typeface="Times New Roman" panose="02020603050405020304" pitchFamily="18" charset="0"/>
                            </a:rPr>
                            <m:t>∞</m:t>
                          </m:r>
                        </m:sup>
                        <m:e>
                          <m:f>
                            <m:fPr>
                              <m:ctrlPr>
                                <a:rPr lang="ru-RU" sz="2000" i="1">
                                  <a:solidFill>
                                    <a:srgbClr val="000000"/>
                                  </a:solidFill>
                                  <a:effectLst/>
                                  <a:latin typeface="Cambria Math" panose="02040503050406030204" pitchFamily="18" charset="0"/>
                                  <a:ea typeface="Times New Roman" panose="02020603050405020304" pitchFamily="18" charset="0"/>
                                </a:rPr>
                              </m:ctrlPr>
                            </m:fPr>
                            <m:num>
                              <m:sSup>
                                <m:sSupPr>
                                  <m:ctrlPr>
                                    <a:rPr lang="ru-RU" sz="2000" i="1">
                                      <a:solidFill>
                                        <a:srgbClr val="000000"/>
                                      </a:solidFill>
                                      <a:effectLst/>
                                      <a:latin typeface="Cambria Math" panose="02040503050406030204" pitchFamily="18" charset="0"/>
                                      <a:ea typeface="Times New Roman" panose="02020603050405020304" pitchFamily="18" charset="0"/>
                                    </a:rPr>
                                  </m:ctrlPr>
                                </m:sSupPr>
                                <m:e>
                                  <m:r>
                                    <a:rPr lang="ru-RU" sz="2000" i="1">
                                      <a:solidFill>
                                        <a:srgbClr val="000000"/>
                                      </a:solidFill>
                                      <a:effectLst/>
                                      <a:latin typeface="Cambria Math" panose="02040503050406030204" pitchFamily="18" charset="0"/>
                                      <a:ea typeface="Times New Roman" panose="02020603050405020304" pitchFamily="18" charset="0"/>
                                    </a:rPr>
                                    <m:t>𝑓</m:t>
                                  </m:r>
                                </m:e>
                                <m:sup>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𝑛</m:t>
                                      </m:r>
                                    </m:e>
                                  </m:d>
                                </m:sup>
                              </m:sSup>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𝑎</m:t>
                              </m:r>
                              <m:r>
                                <a:rPr lang="ru-RU" sz="2000" i="1">
                                  <a:solidFill>
                                    <a:srgbClr val="000000"/>
                                  </a:solidFill>
                                  <a:effectLst/>
                                  <a:latin typeface="Cambria Math" panose="02040503050406030204" pitchFamily="18" charset="0"/>
                                  <a:ea typeface="Times New Roman" panose="02020603050405020304" pitchFamily="18" charset="0"/>
                                </a:rPr>
                                <m:t>)</m:t>
                              </m:r>
                            </m:num>
                            <m:den>
                              <m:r>
                                <a:rPr lang="ru-RU" sz="2000" i="1">
                                  <a:solidFill>
                                    <a:srgbClr val="000000"/>
                                  </a:solidFill>
                                  <a:effectLst/>
                                  <a:latin typeface="Cambria Math" panose="02040503050406030204" pitchFamily="18" charset="0"/>
                                  <a:ea typeface="Times New Roman" panose="02020603050405020304" pitchFamily="18" charset="0"/>
                                </a:rPr>
                                <m:t>𝑛</m:t>
                              </m:r>
                              <m:r>
                                <a:rPr lang="ru-RU" sz="2000" i="1">
                                  <a:solidFill>
                                    <a:srgbClr val="000000"/>
                                  </a:solidFill>
                                  <a:effectLst/>
                                  <a:latin typeface="Cambria Math" panose="02040503050406030204" pitchFamily="18" charset="0"/>
                                  <a:ea typeface="Times New Roman" panose="02020603050405020304" pitchFamily="18" charset="0"/>
                                </a:rPr>
                                <m:t>!</m:t>
                              </m:r>
                            </m:den>
                          </m:f>
                        </m:e>
                      </m:nary>
                      <m:sSup>
                        <m:sSupPr>
                          <m:ctrlPr>
                            <a:rPr lang="ru-RU" sz="2000" i="1">
                              <a:solidFill>
                                <a:srgbClr val="000000"/>
                              </a:solidFill>
                              <a:effectLst/>
                              <a:latin typeface="Cambria Math" panose="02040503050406030204" pitchFamily="18" charset="0"/>
                              <a:ea typeface="Times New Roman" panose="02020603050405020304" pitchFamily="18" charset="0"/>
                            </a:rPr>
                          </m:ctrlPr>
                        </m:sSupPr>
                        <m:e>
                          <m:d>
                            <m:dPr>
                              <m:ctrlPr>
                                <a:rPr lang="ru-RU" sz="2000" i="1">
                                  <a:solidFill>
                                    <a:srgbClr val="000000"/>
                                  </a:solidFill>
                                  <a:effectLst/>
                                  <a:latin typeface="Cambria Math" panose="02040503050406030204" pitchFamily="18" charset="0"/>
                                  <a:ea typeface="Times New Roman" panose="02020603050405020304" pitchFamily="18" charset="0"/>
                                </a:rPr>
                              </m:ctrlPr>
                            </m:dPr>
                            <m:e>
                              <m:r>
                                <a:rPr lang="ru-RU" sz="2000" i="1">
                                  <a:solidFill>
                                    <a:srgbClr val="000000"/>
                                  </a:solidFill>
                                  <a:effectLst/>
                                  <a:latin typeface="Cambria Math" panose="02040503050406030204" pitchFamily="18" charset="0"/>
                                  <a:ea typeface="Times New Roman" panose="02020603050405020304" pitchFamily="18" charset="0"/>
                                </a:rPr>
                                <m:t>𝑥</m:t>
                              </m:r>
                              <m:r>
                                <a:rPr lang="ru-RU" sz="2000" i="1">
                                  <a:solidFill>
                                    <a:srgbClr val="000000"/>
                                  </a:solidFill>
                                  <a:effectLst/>
                                  <a:latin typeface="Cambria Math" panose="02040503050406030204" pitchFamily="18" charset="0"/>
                                  <a:ea typeface="Times New Roman" panose="02020603050405020304" pitchFamily="18" charset="0"/>
                                </a:rPr>
                                <m:t>−</m:t>
                              </m:r>
                              <m:r>
                                <a:rPr lang="ru-RU" sz="2000" i="1">
                                  <a:solidFill>
                                    <a:srgbClr val="000000"/>
                                  </a:solidFill>
                                  <a:effectLst/>
                                  <a:latin typeface="Cambria Math" panose="02040503050406030204" pitchFamily="18" charset="0"/>
                                  <a:ea typeface="Times New Roman" panose="02020603050405020304" pitchFamily="18" charset="0"/>
                                </a:rPr>
                                <m:t>𝑎</m:t>
                              </m:r>
                            </m:e>
                          </m:d>
                        </m:e>
                        <m:sup>
                          <m:r>
                            <a:rPr lang="ru-RU" sz="2000" i="1">
                              <a:solidFill>
                                <a:srgbClr val="000000"/>
                              </a:solidFill>
                              <a:effectLst/>
                              <a:latin typeface="Cambria Math" panose="02040503050406030204" pitchFamily="18" charset="0"/>
                              <a:ea typeface="Times New Roman" panose="02020603050405020304" pitchFamily="18" charset="0"/>
                            </a:rPr>
                            <m:t>𝑛</m:t>
                          </m:r>
                        </m:sup>
                      </m:sSup>
                    </m:oMath>
                  </m:oMathPara>
                </a14:m>
                <a:endParaRPr lang="ru-RU" sz="2000" dirty="0">
                  <a:solidFill>
                    <a:srgbClr val="000000"/>
                  </a:solidFill>
                  <a:effectLst/>
                  <a:latin typeface="Times New Roman" panose="02020603050405020304" pitchFamily="18" charset="0"/>
                  <a:ea typeface="Calibri" panose="020F0502020204030204" pitchFamily="34" charset="0"/>
                </a:endParaRPr>
              </a:p>
            </p:txBody>
          </p:sp>
        </mc:Choice>
        <mc:Fallback>
          <p:sp>
            <p:nvSpPr>
              <p:cNvPr id="3" name="Прямоугольник 2"/>
              <p:cNvSpPr>
                <a:spLocks noRot="1" noChangeAspect="1" noMove="1" noResize="1" noEditPoints="1" noAdjustHandles="1" noChangeArrowheads="1" noChangeShapeType="1" noTextEdit="1"/>
              </p:cNvSpPr>
              <p:nvPr/>
            </p:nvSpPr>
            <p:spPr>
              <a:xfrm>
                <a:off x="329184" y="3316594"/>
                <a:ext cx="11210544" cy="2577116"/>
              </a:xfrm>
              <a:prstGeom prst="rect">
                <a:avLst/>
              </a:prstGeom>
              <a:blipFill>
                <a:blip r:embed="rId3"/>
                <a:stretch>
                  <a:fillRect l="-544" r="-544"/>
                </a:stretch>
              </a:blipFill>
            </p:spPr>
            <p:txBody>
              <a:bodyPr/>
              <a:lstStyle/>
              <a:p>
                <a:r>
                  <a:rPr lang="ru-RU">
                    <a:noFill/>
                  </a:rPr>
                  <a:t> </a:t>
                </a:r>
              </a:p>
            </p:txBody>
          </p:sp>
        </mc:Fallback>
      </mc:AlternateContent>
    </p:spTree>
    <p:extLst>
      <p:ext uri="{BB962C8B-B14F-4D97-AF65-F5344CB8AC3E}">
        <p14:creationId xmlns:p14="http://schemas.microsoft.com/office/powerpoint/2010/main" val="87443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2043" y="126320"/>
            <a:ext cx="6426183" cy="461665"/>
          </a:xfrm>
          <a:prstGeom prst="rect">
            <a:avLst/>
          </a:prstGeom>
        </p:spPr>
        <p:txBody>
          <a:bodyPr wrap="none">
            <a:spAutoFit/>
          </a:bodyPr>
          <a:lstStyle/>
          <a:p>
            <a:pPr indent="457200" algn="just">
              <a:lnSpc>
                <a:spcPct val="120000"/>
              </a:lnSpc>
              <a:spcAft>
                <a:spcPts val="0"/>
              </a:spcAft>
            </a:pPr>
            <a:r>
              <a:rPr lang="ru-RU" sz="2000" b="1" i="1" dirty="0">
                <a:solidFill>
                  <a:srgbClr val="000000"/>
                </a:solidFill>
                <a:latin typeface="Times New Roman" panose="02020603050405020304" pitchFamily="18" charset="0"/>
                <a:ea typeface="Times New Roman" panose="02020603050405020304" pitchFamily="18" charset="0"/>
              </a:rPr>
              <a:t>Пример с задачей регрессии: формальное описание</a:t>
            </a:r>
            <a:endParaRPr lang="ru-RU" sz="2000" dirty="0">
              <a:solidFill>
                <a:srgbClr val="000000"/>
              </a:solidFill>
              <a:effectLst/>
              <a:latin typeface="Times New Roman" panose="02020603050405020304" pitchFamily="18" charset="0"/>
              <a:ea typeface="Calibri" panose="020F0502020204030204" pitchFamily="34" charset="0"/>
            </a:endParaRPr>
          </a:p>
        </p:txBody>
      </p:sp>
      <mc:AlternateContent xmlns:mc="http://schemas.openxmlformats.org/markup-compatibility/2006">
        <mc:Choice xmlns:a14="http://schemas.microsoft.com/office/drawing/2010/main" Requires="a14">
          <p:sp>
            <p:nvSpPr>
              <p:cNvPr id="3" name="Прямоугольник 2"/>
              <p:cNvSpPr/>
              <p:nvPr/>
            </p:nvSpPr>
            <p:spPr>
              <a:xfrm>
                <a:off x="3963967" y="698224"/>
                <a:ext cx="3733714" cy="87126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ru-RU">
                          <a:latin typeface="Cambria Math" panose="02040503050406030204" pitchFamily="18" charset="0"/>
                        </a:rPr>
                        <m:t>ℒ</m:t>
                      </m:r>
                      <m:d>
                        <m:dPr>
                          <m:ctrlPr>
                            <a:rPr lang="ru-RU" i="1">
                              <a:latin typeface="Cambria Math" panose="02040503050406030204" pitchFamily="18" charset="0"/>
                            </a:rPr>
                          </m:ctrlPr>
                        </m:dPr>
                        <m:e>
                          <m:r>
                            <a:rPr lang="ru-RU" i="1">
                              <a:latin typeface="Cambria Math" panose="02040503050406030204" pitchFamily="18" charset="0"/>
                            </a:rPr>
                            <m:t>𝑦</m:t>
                          </m:r>
                          <m:r>
                            <a:rPr lang="ru-RU" i="0">
                              <a:latin typeface="Cambria Math" panose="02040503050406030204" pitchFamily="18" charset="0"/>
                            </a:rPr>
                            <m:t>,</m:t>
                          </m:r>
                          <m:r>
                            <a:rPr lang="ru-RU" i="1">
                              <a:latin typeface="Cambria Math" panose="02040503050406030204" pitchFamily="18" charset="0"/>
                            </a:rPr>
                            <m:t>𝑥</m:t>
                          </m:r>
                        </m:e>
                      </m:d>
                      <m:r>
                        <a:rPr lang="ru-RU" i="0">
                          <a:latin typeface="Cambria Math" panose="02040503050406030204" pitchFamily="18" charset="0"/>
                        </a:rPr>
                        <m:t>=</m:t>
                      </m:r>
                      <m:f>
                        <m:fPr>
                          <m:ctrlPr>
                            <a:rPr lang="ru-RU" i="1">
                              <a:latin typeface="Cambria Math" panose="02040503050406030204" pitchFamily="18" charset="0"/>
                            </a:rPr>
                          </m:ctrlPr>
                        </m:fPr>
                        <m:num>
                          <m:r>
                            <a:rPr lang="ru-RU" i="0">
                              <a:latin typeface="Cambria Math" panose="02040503050406030204" pitchFamily="18" charset="0"/>
                            </a:rPr>
                            <m:t>1</m:t>
                          </m:r>
                        </m:num>
                        <m:den>
                          <m:r>
                            <a:rPr lang="ru-RU" i="0">
                              <a:latin typeface="Cambria Math" panose="02040503050406030204" pitchFamily="18" charset="0"/>
                            </a:rPr>
                            <m:t>2</m:t>
                          </m:r>
                        </m:den>
                      </m:f>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𝑖</m:t>
                          </m:r>
                          <m:r>
                            <a:rPr lang="ru-RU" i="0">
                              <a:latin typeface="Cambria Math" panose="02040503050406030204" pitchFamily="18" charset="0"/>
                            </a:rPr>
                            <m:t>=1</m:t>
                          </m:r>
                        </m:sub>
                        <m:sup>
                          <m:r>
                            <a:rPr lang="ru-RU" i="1">
                              <a:latin typeface="Cambria Math" panose="02040503050406030204" pitchFamily="18" charset="0"/>
                            </a:rPr>
                            <m:t>𝑁</m:t>
                          </m:r>
                        </m:sup>
                        <m:e>
                          <m:sSup>
                            <m:sSupPr>
                              <m:ctrlPr>
                                <a:rPr lang="ru-RU" i="1">
                                  <a:latin typeface="Cambria Math" panose="02040503050406030204" pitchFamily="18" charset="0"/>
                                </a:rPr>
                              </m:ctrlPr>
                            </m:sSupPr>
                            <m:e>
                              <m:d>
                                <m:dPr>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𝑖</m:t>
                                      </m:r>
                                    </m:sub>
                                  </m:sSub>
                                  <m:r>
                                    <a:rPr lang="ru-RU" i="0">
                                      <a:latin typeface="Cambria Math" panose="02040503050406030204" pitchFamily="18" charset="0"/>
                                    </a:rPr>
                                    <m:t>−</m:t>
                                  </m:r>
                                  <m:r>
                                    <a:rPr lang="ru-RU" i="1">
                                      <a:latin typeface="Cambria Math" panose="02040503050406030204" pitchFamily="18" charset="0"/>
                                    </a:rPr>
                                    <m:t>𝑎</m:t>
                                  </m:r>
                                  <m:d>
                                    <m:dPr>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𝑖</m:t>
                                          </m:r>
                                        </m:sub>
                                      </m:sSub>
                                    </m:e>
                                  </m:d>
                                </m:e>
                              </m:d>
                            </m:e>
                            <m:sup>
                              <m:r>
                                <a:rPr lang="ru-RU" i="0">
                                  <a:latin typeface="Cambria Math" panose="02040503050406030204" pitchFamily="18" charset="0"/>
                                </a:rPr>
                                <m:t>2</m:t>
                              </m:r>
                            </m:sup>
                          </m:sSup>
                        </m:e>
                      </m:nary>
                      <m:r>
                        <a:rPr lang="ru-RU" i="0">
                          <a:latin typeface="Cambria Math" panose="02040503050406030204" pitchFamily="18" charset="0"/>
                        </a:rPr>
                        <m:t>→</m:t>
                      </m:r>
                      <m:r>
                        <a:rPr lang="ru-RU" i="1">
                          <a:latin typeface="Cambria Math" panose="02040503050406030204" pitchFamily="18" charset="0"/>
                        </a:rPr>
                        <m:t>𝑚𝑖𝑛</m:t>
                      </m:r>
                    </m:oMath>
                  </m:oMathPara>
                </a14:m>
                <a:endParaRPr lang="ru-RU" dirty="0"/>
              </a:p>
            </p:txBody>
          </p:sp>
        </mc:Choice>
        <mc:Fallback>
          <p:sp>
            <p:nvSpPr>
              <p:cNvPr id="3" name="Прямоугольник 2"/>
              <p:cNvSpPr>
                <a:spLocks noRot="1" noChangeAspect="1" noMove="1" noResize="1" noEditPoints="1" noAdjustHandles="1" noChangeArrowheads="1" noChangeShapeType="1" noTextEdit="1"/>
              </p:cNvSpPr>
              <p:nvPr/>
            </p:nvSpPr>
            <p:spPr>
              <a:xfrm>
                <a:off x="3963967" y="698224"/>
                <a:ext cx="3733714" cy="871264"/>
              </a:xfrm>
              <a:prstGeom prst="rect">
                <a:avLst/>
              </a:prstGeom>
              <a:blipFill>
                <a:blip r:embed="rId2"/>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4" name="Прямоугольник 3"/>
              <p:cNvSpPr/>
              <p:nvPr/>
            </p:nvSpPr>
            <p:spPr>
              <a:xfrm>
                <a:off x="539496" y="1679727"/>
                <a:ext cx="11055096" cy="2519472"/>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Для решения также будем строить композицию из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𝐾</m:t>
                    </m:r>
                  </m:oMath>
                </a14:m>
                <a:r>
                  <a:rPr lang="ru-RU" dirty="0">
                    <a:solidFill>
                      <a:srgbClr val="000000"/>
                    </a:solidFill>
                    <a:effectLst/>
                    <a:latin typeface="Times New Roman" panose="02020603050405020304" pitchFamily="18" charset="0"/>
                    <a:ea typeface="Times New Roman" panose="02020603050405020304" pitchFamily="18" charset="0"/>
                  </a:rPr>
                  <a:t> базовых алгоритмов семейства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ℬ</m:t>
                    </m:r>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𝑎</m:t>
                      </m:r>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𝐾</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𝐾</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В качестве базовых алгоритмов выберем семейство</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 </m:t>
                    </m:r>
                    <m:r>
                      <a:rPr lang="ru-RU" i="1">
                        <a:solidFill>
                          <a:srgbClr val="000000"/>
                        </a:solidFill>
                        <a:effectLst/>
                        <a:latin typeface="Cambria Math" panose="02040503050406030204" pitchFamily="18" charset="0"/>
                        <a:ea typeface="Times New Roman" panose="02020603050405020304" pitchFamily="18" charset="0"/>
                      </a:rPr>
                      <m:t>ℬ</m:t>
                    </m:r>
                  </m:oMath>
                </a14:m>
                <a:r>
                  <a:rPr lang="ru-RU" dirty="0">
                    <a:solidFill>
                      <a:srgbClr val="000000"/>
                    </a:solidFill>
                    <a:effectLst/>
                    <a:latin typeface="Times New Roman" panose="02020603050405020304" pitchFamily="18" charset="0"/>
                    <a:ea typeface="Times New Roman" panose="02020603050405020304" pitchFamily="18" charset="0"/>
                  </a:rPr>
                  <a:t> решающих деревьев некоторой фиксированной глубины.</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Используя известные нам методы построения решающих деревьев, обучим алгоритм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oMath>
                </a14:m>
                <a:r>
                  <a:rPr lang="ru-RU" dirty="0">
                    <a:solidFill>
                      <a:srgbClr val="000000"/>
                    </a:solidFill>
                    <a:effectLst/>
                    <a:latin typeface="Times New Roman" panose="02020603050405020304" pitchFamily="18" charset="0"/>
                    <a:ea typeface="Times New Roman" panose="02020603050405020304" pitchFamily="18" charset="0"/>
                  </a:rPr>
                  <a:t>, который наилучшим образом приближает целевую переменную:</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𝑎𝑟𝑔</m:t>
                      </m:r>
                      <m:func>
                        <m:funcPr>
                          <m:ctrlPr>
                            <a:rPr lang="ru-RU" i="1">
                              <a:solidFill>
                                <a:srgbClr val="000000"/>
                              </a:solidFill>
                              <a:effectLst/>
                              <a:latin typeface="Cambria Math" panose="02040503050406030204" pitchFamily="18" charset="0"/>
                              <a:ea typeface="Times New Roman" panose="02020603050405020304" pitchFamily="18" charset="0"/>
                            </a:rPr>
                          </m:ctrlPr>
                        </m:funcPr>
                        <m:fName>
                          <m:limLow>
                            <m:limLowPr>
                              <m:ctrlPr>
                                <a:rPr lang="ru-RU" i="1">
                                  <a:solidFill>
                                    <a:srgbClr val="000000"/>
                                  </a:solidFill>
                                  <a:effectLst/>
                                  <a:latin typeface="Cambria Math" panose="02040503050406030204" pitchFamily="18" charset="0"/>
                                  <a:ea typeface="Times New Roman" panose="02020603050405020304" pitchFamily="18" charset="0"/>
                                </a:rPr>
                              </m:ctrlPr>
                            </m:limLowPr>
                            <m:e>
                              <m:r>
                                <m:rPr>
                                  <m:sty m:val="p"/>
                                </m:rPr>
                                <a:rPr lang="ru-RU">
                                  <a:solidFill>
                                    <a:srgbClr val="000000"/>
                                  </a:solidFill>
                                  <a:effectLst/>
                                  <a:latin typeface="Cambria Math" panose="02040503050406030204" pitchFamily="18" charset="0"/>
                                  <a:ea typeface="Times New Roman" panose="02020603050405020304" pitchFamily="18" charset="0"/>
                                </a:rPr>
                                <m:t>min</m:t>
                              </m:r>
                            </m:e>
                            <m:lim>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lim>
                          </m:limLow>
                        </m:fName>
                        <m:e>
                          <m:r>
                            <a:rPr lang="ru-RU" i="1">
                              <a:solidFill>
                                <a:srgbClr val="000000"/>
                              </a:solidFill>
                              <a:effectLst/>
                              <a:latin typeface="Cambria Math" panose="02040503050406030204" pitchFamily="18" charset="0"/>
                              <a:ea typeface="Times New Roman" panose="02020603050405020304" pitchFamily="18" charset="0"/>
                            </a:rPr>
                            <m:t>𝐿</m:t>
                          </m:r>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𝑦</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𝑥</m:t>
                              </m:r>
                              <m:r>
                                <a:rPr lang="ru-RU" i="1">
                                  <a:solidFill>
                                    <a:srgbClr val="000000"/>
                                  </a:solidFill>
                                  <a:effectLst/>
                                  <a:latin typeface="Cambria Math" panose="02040503050406030204" pitchFamily="18" charset="0"/>
                                  <a:ea typeface="Times New Roman" panose="02020603050405020304" pitchFamily="18" charset="0"/>
                                </a:rPr>
                                <m:t>)</m:t>
                              </m:r>
                            </m:e>
                          </m:d>
                        </m:e>
                      </m:func>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4" name="Прямоугольник 3"/>
              <p:cNvSpPr>
                <a:spLocks noRot="1" noChangeAspect="1" noMove="1" noResize="1" noEditPoints="1" noAdjustHandles="1" noChangeArrowheads="1" noChangeShapeType="1" noTextEdit="1"/>
              </p:cNvSpPr>
              <p:nvPr/>
            </p:nvSpPr>
            <p:spPr>
              <a:xfrm>
                <a:off x="539496" y="1679727"/>
                <a:ext cx="11055096" cy="2519472"/>
              </a:xfrm>
              <a:prstGeom prst="rect">
                <a:avLst/>
              </a:prstGeom>
              <a:blipFill>
                <a:blip r:embed="rId3"/>
                <a:stretch>
                  <a:fillRect l="-496" t="-242" r="-441"/>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Прямоугольник 4"/>
              <p:cNvSpPr/>
              <p:nvPr/>
            </p:nvSpPr>
            <p:spPr>
              <a:xfrm>
                <a:off x="457200" y="4309438"/>
                <a:ext cx="11329416" cy="1771639"/>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Построенный алгоритм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oMath>
                </a14:m>
                <a:r>
                  <a:rPr lang="ru-RU" dirty="0">
                    <a:solidFill>
                      <a:srgbClr val="000000"/>
                    </a:solidFill>
                    <a:effectLst/>
                    <a:latin typeface="Times New Roman" panose="02020603050405020304" pitchFamily="18" charset="0"/>
                    <a:ea typeface="Times New Roman" panose="02020603050405020304" pitchFamily="18" charset="0"/>
                  </a:rPr>
                  <a:t>, скорее всего, работает не идеально. Более того, если базовый алгоритм работает слишком хорошо на обучающей выборке, то высока вероятность переобучения (низкий уровень смещения, но высокий уровень разброса). Далее вычислим, насколько сильно отличаются предсказания этого дерева от истинных значений:</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1</m:t>
                          </m:r>
                        </m:sup>
                      </m:sSubSup>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457200" y="4309438"/>
                <a:ext cx="11329416" cy="1771639"/>
              </a:xfrm>
              <a:prstGeom prst="rect">
                <a:avLst/>
              </a:prstGeom>
              <a:blipFill>
                <a:blip r:embed="rId4"/>
                <a:stretch>
                  <a:fillRect l="-430" t="-344" r="-377"/>
                </a:stretch>
              </a:blipFill>
            </p:spPr>
            <p:txBody>
              <a:bodyPr/>
              <a:lstStyle/>
              <a:p>
                <a:r>
                  <a:rPr lang="ru-RU">
                    <a:noFill/>
                  </a:rPr>
                  <a:t> </a:t>
                </a:r>
              </a:p>
            </p:txBody>
          </p:sp>
        </mc:Fallback>
      </mc:AlternateContent>
    </p:spTree>
    <p:extLst>
      <p:ext uri="{BB962C8B-B14F-4D97-AF65-F5344CB8AC3E}">
        <p14:creationId xmlns:p14="http://schemas.microsoft.com/office/powerpoint/2010/main" val="3203013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530352" y="128563"/>
                <a:ext cx="10890504" cy="2602764"/>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Теперь мы хотим скорректировать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oMath>
                </a14:m>
                <a:r>
                  <a:rPr lang="ru-RU" dirty="0">
                    <a:solidFill>
                      <a:srgbClr val="000000"/>
                    </a:solidFill>
                    <a:effectLst/>
                    <a:latin typeface="Times New Roman" panose="02020603050405020304" pitchFamily="18" charset="0"/>
                    <a:ea typeface="Times New Roman" panose="02020603050405020304" pitchFamily="18" charset="0"/>
                  </a:rPr>
                  <a:t>  с помощью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oMath>
                </a14:m>
                <a:r>
                  <a:rPr lang="ru-RU" dirty="0">
                    <a:solidFill>
                      <a:srgbClr val="000000"/>
                    </a:solidFill>
                    <a:effectLst/>
                    <a:latin typeface="Times New Roman" panose="02020603050405020304" pitchFamily="18" charset="0"/>
                    <a:ea typeface="Times New Roman" panose="02020603050405020304" pitchFamily="18" charset="0"/>
                  </a:rPr>
                  <a:t>; в идеале так, чтобы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oMath>
                </a14:m>
                <a:r>
                  <a:rPr lang="ru-RU" dirty="0">
                    <a:solidFill>
                      <a:srgbClr val="000000"/>
                    </a:solidFill>
                    <a:effectLst/>
                    <a:latin typeface="Times New Roman" panose="02020603050405020304" pitchFamily="18" charset="0"/>
                    <a:ea typeface="Times New Roman" panose="02020603050405020304" pitchFamily="18" charset="0"/>
                  </a:rPr>
                  <a:t> идеально предсказывал величины </a:t>
                </a:r>
                <a14:m>
                  <m:oMath xmlns:m="http://schemas.openxmlformats.org/officeDocument/2006/math">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1</m:t>
                        </m:r>
                      </m:sup>
                    </m:sSubSup>
                  </m:oMath>
                </a14:m>
                <a:r>
                  <a:rPr lang="ru-RU" dirty="0">
                    <a:solidFill>
                      <a:srgbClr val="000000"/>
                    </a:solidFill>
                    <a:effectLst/>
                    <a:latin typeface="Times New Roman" panose="02020603050405020304" pitchFamily="18" charset="0"/>
                    <a:ea typeface="Times New Roman" panose="02020603050405020304" pitchFamily="18" charset="0"/>
                  </a:rPr>
                  <a:t>, ведь в этом случае</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1</m:t>
                          </m:r>
                        </m:sup>
                      </m:sSubSup>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𝑥</m:t>
                              </m:r>
                            </m:e>
                          </m:d>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𝑖</m:t>
                          </m:r>
                        </m:sub>
                      </m:sSub>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Найти совершенный алгоритм, скорее всего, не получится, но по крайней мере мы можем выбрать из семейства наилучшего представителя для такой задачи. Итак, второе решающее дерево будет обучаться предсказывать разности </a:t>
                </a:r>
                <a14:m>
                  <m:oMath xmlns:m="http://schemas.openxmlformats.org/officeDocument/2006/math">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1</m:t>
                        </m:r>
                      </m:sup>
                    </m:sSubSup>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𝑎𝑟𝑔</m:t>
                      </m:r>
                      <m:func>
                        <m:funcPr>
                          <m:ctrlPr>
                            <a:rPr lang="ru-RU" i="1">
                              <a:solidFill>
                                <a:srgbClr val="000000"/>
                              </a:solidFill>
                              <a:effectLst/>
                              <a:latin typeface="Cambria Math" panose="02040503050406030204" pitchFamily="18" charset="0"/>
                              <a:ea typeface="Times New Roman" panose="02020603050405020304" pitchFamily="18" charset="0"/>
                            </a:rPr>
                          </m:ctrlPr>
                        </m:funcPr>
                        <m:fName>
                          <m:limLow>
                            <m:limLowPr>
                              <m:ctrlPr>
                                <a:rPr lang="ru-RU" i="1">
                                  <a:solidFill>
                                    <a:srgbClr val="000000"/>
                                  </a:solidFill>
                                  <a:effectLst/>
                                  <a:latin typeface="Cambria Math" panose="02040503050406030204" pitchFamily="18" charset="0"/>
                                  <a:ea typeface="Times New Roman" panose="02020603050405020304" pitchFamily="18" charset="0"/>
                                </a:rPr>
                              </m:ctrlPr>
                            </m:limLowPr>
                            <m:e>
                              <m:r>
                                <m:rPr>
                                  <m:sty m:val="p"/>
                                </m:rPr>
                                <a:rPr lang="ru-RU">
                                  <a:solidFill>
                                    <a:srgbClr val="000000"/>
                                  </a:solidFill>
                                  <a:effectLst/>
                                  <a:latin typeface="Cambria Math" panose="02040503050406030204" pitchFamily="18" charset="0"/>
                                  <a:ea typeface="Times New Roman" panose="02020603050405020304" pitchFamily="18" charset="0"/>
                                </a:rPr>
                                <m:t>min</m:t>
                              </m:r>
                            </m:e>
                            <m:lim>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lim>
                          </m:limLow>
                        </m:fName>
                        <m:e>
                          <m:r>
                            <a:rPr lang="ru-RU" i="1">
                              <a:solidFill>
                                <a:srgbClr val="000000"/>
                              </a:solidFill>
                              <a:effectLst/>
                              <a:latin typeface="Cambria Math" panose="02040503050406030204" pitchFamily="18" charset="0"/>
                              <a:ea typeface="Times New Roman" panose="02020603050405020304" pitchFamily="18" charset="0"/>
                            </a:rPr>
                            <m:t>𝐿</m:t>
                          </m:r>
                          <m:d>
                            <m:dPr>
                              <m:ctrlPr>
                                <a:rPr lang="ru-RU" i="1">
                                  <a:solidFill>
                                    <a:srgbClr val="000000"/>
                                  </a:solidFill>
                                  <a:effectLst/>
                                  <a:latin typeface="Cambria Math" panose="02040503050406030204" pitchFamily="18" charset="0"/>
                                  <a:ea typeface="Times New Roman" panose="02020603050405020304" pitchFamily="18" charset="0"/>
                                </a:rPr>
                              </m:ctrlPr>
                            </m:dPr>
                            <m:e>
                              <m:sSup>
                                <m:sSupPr>
                                  <m:ctrlPr>
                                    <a:rPr lang="ru-RU" i="1">
                                      <a:solidFill>
                                        <a:srgbClr val="000000"/>
                                      </a:solidFill>
                                      <a:effectLst/>
                                      <a:latin typeface="Cambria Math" panose="02040503050406030204" pitchFamily="18" charset="0"/>
                                      <a:ea typeface="Times New Roman" panose="02020603050405020304" pitchFamily="18" charset="0"/>
                                    </a:rPr>
                                  </m:ctrlPr>
                                </m:sSupPr>
                                <m:e>
                                  <m:r>
                                    <a:rPr lang="ru-RU" i="1">
                                      <a:solidFill>
                                        <a:srgbClr val="000000"/>
                                      </a:solidFill>
                                      <a:effectLst/>
                                      <a:latin typeface="Cambria Math" panose="02040503050406030204" pitchFamily="18" charset="0"/>
                                      <a:ea typeface="Times New Roman" panose="02020603050405020304" pitchFamily="18" charset="0"/>
                                    </a:rPr>
                                    <m:t>𝑠</m:t>
                                  </m:r>
                                </m:e>
                                <m:sup>
                                  <m:r>
                                    <a:rPr lang="ru-RU" i="1">
                                      <a:solidFill>
                                        <a:srgbClr val="000000"/>
                                      </a:solidFill>
                                      <a:effectLst/>
                                      <a:latin typeface="Cambria Math" panose="02040503050406030204" pitchFamily="18" charset="0"/>
                                      <a:ea typeface="Times New Roman" panose="02020603050405020304" pitchFamily="18" charset="0"/>
                                    </a:rPr>
                                    <m:t>1</m:t>
                                  </m:r>
                                </m:sup>
                              </m:sSup>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𝑥</m:t>
                              </m:r>
                              <m:r>
                                <a:rPr lang="ru-RU" i="1">
                                  <a:solidFill>
                                    <a:srgbClr val="000000"/>
                                  </a:solidFill>
                                  <a:effectLst/>
                                  <a:latin typeface="Cambria Math" panose="02040503050406030204" pitchFamily="18" charset="0"/>
                                  <a:ea typeface="Times New Roman" panose="02020603050405020304" pitchFamily="18" charset="0"/>
                                </a:rPr>
                                <m:t>)</m:t>
                              </m:r>
                            </m:e>
                          </m:d>
                        </m:e>
                      </m:func>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530352" y="128563"/>
                <a:ext cx="10890504" cy="2602764"/>
              </a:xfrm>
              <a:prstGeom prst="rect">
                <a:avLst/>
              </a:prstGeom>
              <a:blipFill>
                <a:blip r:embed="rId2"/>
                <a:stretch>
                  <a:fillRect l="-448" r="-392"/>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3" name="Прямоугольник 2"/>
              <p:cNvSpPr/>
              <p:nvPr/>
            </p:nvSpPr>
            <p:spPr>
              <a:xfrm>
                <a:off x="530352" y="2718089"/>
                <a:ext cx="11183112" cy="2363404"/>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Ожидается, что композиция из двух таких моделей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oMath>
                </a14:m>
                <a:r>
                  <a:rPr lang="ru-RU" dirty="0">
                    <a:solidFill>
                      <a:srgbClr val="000000"/>
                    </a:solidFill>
                    <a:effectLst/>
                    <a:latin typeface="Times New Roman" panose="02020603050405020304" pitchFamily="18" charset="0"/>
                    <a:ea typeface="Times New Roman" panose="02020603050405020304" pitchFamily="18" charset="0"/>
                  </a:rPr>
                  <a:t> станет более качественно предсказывать целевую переменную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𝑦</m:t>
                    </m:r>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Далее рассуждения повторяются до построения всей композиции. На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𝑘</m:t>
                    </m:r>
                  </m:oMath>
                </a14:m>
                <a:r>
                  <a:rPr lang="ru-RU" dirty="0">
                    <a:solidFill>
                      <a:srgbClr val="000000"/>
                    </a:solidFill>
                    <a:effectLst/>
                    <a:latin typeface="Times New Roman" panose="02020603050405020304" pitchFamily="18" charset="0"/>
                    <a:ea typeface="Times New Roman" panose="02020603050405020304" pitchFamily="18" charset="0"/>
                  </a:rPr>
                  <a:t>-ом шаге вычисляется разность между правильным ответом и текущим предсказанием композиции из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oMath>
                </a14:m>
                <a:r>
                  <a:rPr lang="ru-RU" dirty="0">
                    <a:solidFill>
                      <a:srgbClr val="000000"/>
                    </a:solidFill>
                    <a:effectLst/>
                    <a:latin typeface="Times New Roman" panose="02020603050405020304" pitchFamily="18" charset="0"/>
                    <a:ea typeface="Times New Roman" panose="02020603050405020304" pitchFamily="18" charset="0"/>
                  </a:rPr>
                  <a:t> алгоритмов:</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p>
                      </m:sSubSup>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p>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e>
                      </m:nary>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3" name="Прямоугольник 2"/>
              <p:cNvSpPr>
                <a:spLocks noRot="1" noChangeAspect="1" noMove="1" noResize="1" noEditPoints="1" noAdjustHandles="1" noChangeArrowheads="1" noChangeShapeType="1" noTextEdit="1"/>
              </p:cNvSpPr>
              <p:nvPr/>
            </p:nvSpPr>
            <p:spPr>
              <a:xfrm>
                <a:off x="530352" y="2718089"/>
                <a:ext cx="11183112" cy="2363404"/>
              </a:xfrm>
              <a:prstGeom prst="rect">
                <a:avLst/>
              </a:prstGeom>
              <a:blipFill>
                <a:blip r:embed="rId3"/>
                <a:stretch>
                  <a:fillRect l="-436" t="-258" r="-381"/>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4" name="Прямоугольник 3"/>
              <p:cNvSpPr/>
              <p:nvPr/>
            </p:nvSpPr>
            <p:spPr>
              <a:xfrm>
                <a:off x="667512" y="5081493"/>
                <a:ext cx="10954512" cy="1545936"/>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Затем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𝑘</m:t>
                    </m:r>
                  </m:oMath>
                </a14:m>
                <a:r>
                  <a:rPr lang="ru-RU" dirty="0">
                    <a:solidFill>
                      <a:srgbClr val="000000"/>
                    </a:solidFill>
                    <a:effectLst/>
                    <a:latin typeface="Times New Roman" panose="02020603050405020304" pitchFamily="18" charset="0"/>
                    <a:ea typeface="Times New Roman" panose="02020603050405020304" pitchFamily="18" charset="0"/>
                  </a:rPr>
                  <a:t>-й алгоритм учится предсказывать эту разность:</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𝑎𝑟𝑔</m:t>
                      </m:r>
                      <m:func>
                        <m:funcPr>
                          <m:ctrlPr>
                            <a:rPr lang="ru-RU" i="1">
                              <a:solidFill>
                                <a:srgbClr val="000000"/>
                              </a:solidFill>
                              <a:effectLst/>
                              <a:latin typeface="Cambria Math" panose="02040503050406030204" pitchFamily="18" charset="0"/>
                              <a:ea typeface="Times New Roman" panose="02020603050405020304" pitchFamily="18" charset="0"/>
                            </a:rPr>
                          </m:ctrlPr>
                        </m:funcPr>
                        <m:fName>
                          <m:limLow>
                            <m:limLowPr>
                              <m:ctrlPr>
                                <a:rPr lang="ru-RU" i="1">
                                  <a:solidFill>
                                    <a:srgbClr val="000000"/>
                                  </a:solidFill>
                                  <a:effectLst/>
                                  <a:latin typeface="Cambria Math" panose="02040503050406030204" pitchFamily="18" charset="0"/>
                                  <a:ea typeface="Times New Roman" panose="02020603050405020304" pitchFamily="18" charset="0"/>
                                </a:rPr>
                              </m:ctrlPr>
                            </m:limLowPr>
                            <m:e>
                              <m:r>
                                <m:rPr>
                                  <m:sty m:val="p"/>
                                </m:rPr>
                                <a:rPr lang="ru-RU">
                                  <a:solidFill>
                                    <a:srgbClr val="000000"/>
                                  </a:solidFill>
                                  <a:effectLst/>
                                  <a:latin typeface="Cambria Math" panose="02040503050406030204" pitchFamily="18" charset="0"/>
                                  <a:ea typeface="Times New Roman" panose="02020603050405020304" pitchFamily="18" charset="0"/>
                                </a:rPr>
                                <m:t>min</m:t>
                              </m:r>
                            </m:e>
                            <m:lim>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lim>
                          </m:limLow>
                        </m:fName>
                        <m:e>
                          <m:r>
                            <a:rPr lang="ru-RU" i="1">
                              <a:solidFill>
                                <a:srgbClr val="000000"/>
                              </a:solidFill>
                              <a:effectLst/>
                              <a:latin typeface="Cambria Math" panose="02040503050406030204" pitchFamily="18" charset="0"/>
                              <a:ea typeface="Times New Roman" panose="02020603050405020304" pitchFamily="18" charset="0"/>
                            </a:rPr>
                            <m:t>ℒ</m:t>
                          </m:r>
                          <m:d>
                            <m:dPr>
                              <m:ctrlPr>
                                <a:rPr lang="ru-RU" i="1">
                                  <a:solidFill>
                                    <a:srgbClr val="000000"/>
                                  </a:solidFill>
                                  <a:effectLst/>
                                  <a:latin typeface="Cambria Math" panose="02040503050406030204" pitchFamily="18" charset="0"/>
                                  <a:ea typeface="Times New Roman" panose="02020603050405020304" pitchFamily="18" charset="0"/>
                                </a:rPr>
                              </m:ctrlPr>
                            </m:dPr>
                            <m:e>
                              <m:sSup>
                                <m:sSupPr>
                                  <m:ctrlPr>
                                    <a:rPr lang="ru-RU" i="1">
                                      <a:solidFill>
                                        <a:srgbClr val="000000"/>
                                      </a:solidFill>
                                      <a:effectLst/>
                                      <a:latin typeface="Cambria Math" panose="02040503050406030204" pitchFamily="18" charset="0"/>
                                      <a:ea typeface="Times New Roman" panose="02020603050405020304" pitchFamily="18" charset="0"/>
                                    </a:rPr>
                                  </m:ctrlPr>
                                </m:sSupPr>
                                <m:e>
                                  <m:r>
                                    <a:rPr lang="ru-RU" i="1">
                                      <a:solidFill>
                                        <a:srgbClr val="000000"/>
                                      </a:solidFill>
                                      <a:effectLst/>
                                      <a:latin typeface="Cambria Math" panose="02040503050406030204" pitchFamily="18" charset="0"/>
                                      <a:ea typeface="Times New Roman" panose="02020603050405020304" pitchFamily="18" charset="0"/>
                                    </a:rPr>
                                    <m:t>𝑠</m:t>
                                  </m:r>
                                </m:e>
                                <m:sup>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p>
                              </m:sSup>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𝑥</m:t>
                              </m:r>
                              <m:r>
                                <a:rPr lang="ru-RU" i="1">
                                  <a:solidFill>
                                    <a:srgbClr val="000000"/>
                                  </a:solidFill>
                                  <a:effectLst/>
                                  <a:latin typeface="Cambria Math" panose="02040503050406030204" pitchFamily="18" charset="0"/>
                                  <a:ea typeface="Times New Roman" panose="02020603050405020304" pitchFamily="18" charset="0"/>
                                </a:rPr>
                                <m:t>)</m:t>
                              </m:r>
                            </m:e>
                          </m:d>
                        </m:e>
                      </m:func>
                    </m:oMath>
                  </m:oMathPara>
                </a14:m>
                <a:endParaRPr lang="ru-RU" dirty="0">
                  <a:solidFill>
                    <a:srgbClr val="000000"/>
                  </a:solidFill>
                  <a:effectLst/>
                  <a:latin typeface="Times New Roman" panose="02020603050405020304" pitchFamily="18" charset="0"/>
                  <a:ea typeface="Calibri" panose="020F0502020204030204" pitchFamily="34" charset="0"/>
                </a:endParaRPr>
              </a:p>
              <a:p>
                <a:pPr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а композиция в целом обновляется по формуле</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ru-RU"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𝑘</m:t>
                          </m:r>
                        </m:sub>
                      </m:sSub>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𝑥</m:t>
                      </m:r>
                      <m:r>
                        <a:rPr lang="ru-RU" i="1">
                          <a:solidFill>
                            <a:srgbClr val="000000"/>
                          </a:solidFill>
                          <a:effectLst/>
                          <a:latin typeface="Cambria Math" panose="02040503050406030204" pitchFamily="18" charset="0"/>
                          <a:ea typeface="Times New Roman" panose="02020603050405020304" pitchFamily="18" charset="0"/>
                        </a:rPr>
                        <m:t>)</m:t>
                      </m:r>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4" name="Прямоугольник 3"/>
              <p:cNvSpPr>
                <a:spLocks noRot="1" noChangeAspect="1" noMove="1" noResize="1" noEditPoints="1" noAdjustHandles="1" noChangeArrowheads="1" noChangeShapeType="1" noTextEdit="1"/>
              </p:cNvSpPr>
              <p:nvPr/>
            </p:nvSpPr>
            <p:spPr>
              <a:xfrm>
                <a:off x="667512" y="5081493"/>
                <a:ext cx="10954512" cy="1545936"/>
              </a:xfrm>
              <a:prstGeom prst="rect">
                <a:avLst/>
              </a:prstGeom>
              <a:blipFill>
                <a:blip r:embed="rId4"/>
                <a:stretch>
                  <a:fillRect l="-501" t="-395" b="-1186"/>
                </a:stretch>
              </a:blipFill>
            </p:spPr>
            <p:txBody>
              <a:bodyPr/>
              <a:lstStyle/>
              <a:p>
                <a:r>
                  <a:rPr lang="ru-RU">
                    <a:noFill/>
                  </a:rPr>
                  <a:t> </a:t>
                </a:r>
              </a:p>
            </p:txBody>
          </p:sp>
        </mc:Fallback>
      </mc:AlternateContent>
    </p:spTree>
    <p:extLst>
      <p:ext uri="{BB962C8B-B14F-4D97-AF65-F5344CB8AC3E}">
        <p14:creationId xmlns:p14="http://schemas.microsoft.com/office/powerpoint/2010/main" val="295325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356616" y="1805458"/>
                <a:ext cx="11164824" cy="2751522"/>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Обучение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𝐾</m:t>
                    </m:r>
                  </m:oMath>
                </a14:m>
                <a:r>
                  <a:rPr lang="ru-RU" dirty="0">
                    <a:solidFill>
                      <a:srgbClr val="000000"/>
                    </a:solidFill>
                    <a:effectLst/>
                    <a:latin typeface="Times New Roman" panose="02020603050405020304" pitchFamily="18" charset="0"/>
                    <a:ea typeface="Times New Roman" panose="02020603050405020304" pitchFamily="18" charset="0"/>
                  </a:rPr>
                  <a:t> базовых алгоритмов завершает построение композиции.</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Таким образом можно выделить входные требования для </a:t>
                </a:r>
                <a:r>
                  <a:rPr lang="ru-RU" dirty="0" err="1">
                    <a:solidFill>
                      <a:srgbClr val="000000"/>
                    </a:solidFill>
                    <a:effectLst/>
                    <a:latin typeface="Times New Roman" panose="02020603050405020304" pitchFamily="18" charset="0"/>
                    <a:ea typeface="Times New Roman" panose="02020603050405020304" pitchFamily="18" charset="0"/>
                  </a:rPr>
                  <a:t>Gradient</a:t>
                </a:r>
                <a:r>
                  <a:rPr lang="ru-RU" dirty="0">
                    <a:solidFill>
                      <a:srgbClr val="000000"/>
                    </a:solidFill>
                    <a:effectLst/>
                    <a:latin typeface="Times New Roman" panose="02020603050405020304" pitchFamily="18" charset="0"/>
                    <a:ea typeface="Times New Roman" panose="02020603050405020304" pitchFamily="18" charset="0"/>
                  </a:rPr>
                  <a:t> </a:t>
                </a:r>
                <a:r>
                  <a:rPr lang="ru-RU" dirty="0" err="1">
                    <a:solidFill>
                      <a:srgbClr val="000000"/>
                    </a:solidFill>
                    <a:effectLst/>
                    <a:latin typeface="Times New Roman" panose="02020603050405020304" pitchFamily="18" charset="0"/>
                    <a:ea typeface="Times New Roman" panose="02020603050405020304" pitchFamily="18" charset="0"/>
                  </a:rPr>
                  <a:t>Boosting</a:t>
                </a:r>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1. Функция потерь. Например, потери L1 или средние абсолютные ошибки (MAE); потери L2 или среднеквадратическая ошибка (MSE)</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2. Слабые ученики — это модели, которые используются последовательно, чтобы уменьшить ошибку, порожденную предыдущими моделями, и в конце вернуть сильную модель.</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3. Аддитивная модель. При повышении градиента деревья решений добавляются по одному (последовательно), а существующие деревья в модели не изменяются.</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356616" y="1805458"/>
                <a:ext cx="11164824" cy="2751522"/>
              </a:xfrm>
              <a:prstGeom prst="rect">
                <a:avLst/>
              </a:prstGeom>
              <a:blipFill>
                <a:blip r:embed="rId2"/>
                <a:stretch>
                  <a:fillRect l="-492" r="-437" b="-1549"/>
                </a:stretch>
              </a:blipFill>
            </p:spPr>
            <p:txBody>
              <a:bodyPr/>
              <a:lstStyle/>
              <a:p>
                <a:r>
                  <a:rPr lang="ru-RU">
                    <a:noFill/>
                  </a:rPr>
                  <a:t> </a:t>
                </a:r>
              </a:p>
            </p:txBody>
          </p:sp>
        </mc:Fallback>
      </mc:AlternateContent>
    </p:spTree>
    <p:extLst>
      <p:ext uri="{BB962C8B-B14F-4D97-AF65-F5344CB8AC3E}">
        <p14:creationId xmlns:p14="http://schemas.microsoft.com/office/powerpoint/2010/main" val="4073725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4324" y="144608"/>
            <a:ext cx="5000856" cy="429413"/>
          </a:xfrm>
          <a:prstGeom prst="rect">
            <a:avLst/>
          </a:prstGeom>
        </p:spPr>
        <p:txBody>
          <a:bodyPr wrap="none">
            <a:spAutoFit/>
          </a:bodyPr>
          <a:lstStyle/>
          <a:p>
            <a:pPr indent="457200" algn="just">
              <a:lnSpc>
                <a:spcPct val="120000"/>
              </a:lnSpc>
              <a:spcAft>
                <a:spcPts val="0"/>
              </a:spcAft>
            </a:pPr>
            <a:r>
              <a:rPr lang="ru-RU" sz="2000" b="1" i="1" dirty="0">
                <a:solidFill>
                  <a:srgbClr val="000000"/>
                </a:solidFill>
                <a:latin typeface="Times New Roman" panose="02020603050405020304" pitchFamily="18" charset="0"/>
                <a:ea typeface="Times New Roman" panose="02020603050405020304" pitchFamily="18" charset="0"/>
              </a:rPr>
              <a:t>Обобщение на другие функции потерь</a:t>
            </a:r>
            <a:endParaRPr lang="ru-RU" sz="2000" dirty="0">
              <a:solidFill>
                <a:srgbClr val="000000"/>
              </a:solidFill>
              <a:effectLst/>
              <a:latin typeface="Times New Roman" panose="02020603050405020304" pitchFamily="18" charset="0"/>
              <a:ea typeface="Calibri" panose="020F0502020204030204" pitchFamily="34" charset="0"/>
            </a:endParaRPr>
          </a:p>
        </p:txBody>
      </p:sp>
      <mc:AlternateContent xmlns:mc="http://schemas.openxmlformats.org/markup-compatibility/2006">
        <mc:Choice xmlns:a14="http://schemas.microsoft.com/office/drawing/2010/main" Requires="a14">
          <p:sp>
            <p:nvSpPr>
              <p:cNvPr id="3" name="Прямоугольник 2"/>
              <p:cNvSpPr/>
              <p:nvPr/>
            </p:nvSpPr>
            <p:spPr>
              <a:xfrm>
                <a:off x="105156" y="569824"/>
                <a:ext cx="11393424" cy="757130"/>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Отметим теперь важное свойство функции потерь в рассмотренном выше примере с регрессией. Для этого посчитаем производную функции потерь по предсказанию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𝑧</m:t>
                    </m:r>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𝑎</m:t>
                        </m:r>
                      </m:e>
                      <m:sub>
                        <m:r>
                          <a:rPr lang="ru-RU" i="1">
                            <a:solidFill>
                              <a:srgbClr val="000000"/>
                            </a:solidFill>
                            <a:effectLst/>
                            <a:latin typeface="Cambria Math" panose="02040503050406030204" pitchFamily="18" charset="0"/>
                            <a:ea typeface="Times New Roman" panose="02020603050405020304" pitchFamily="18" charset="0"/>
                          </a:rPr>
                          <m:t>𝑘</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oMath>
                </a14:m>
                <a:r>
                  <a:rPr lang="ru-RU" dirty="0">
                    <a:solidFill>
                      <a:srgbClr val="000000"/>
                    </a:solidFill>
                    <a:effectLst/>
                    <a:latin typeface="Times New Roman" panose="02020603050405020304" pitchFamily="18" charset="0"/>
                    <a:ea typeface="Times New Roman" panose="02020603050405020304" pitchFamily="18" charset="0"/>
                  </a:rPr>
                  <a:t> модели для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𝑖</m:t>
                    </m:r>
                  </m:oMath>
                </a14:m>
                <a:r>
                  <a:rPr lang="ru-RU" dirty="0">
                    <a:solidFill>
                      <a:srgbClr val="000000"/>
                    </a:solidFill>
                    <a:effectLst/>
                    <a:latin typeface="Times New Roman" panose="02020603050405020304" pitchFamily="18" charset="0"/>
                    <a:ea typeface="Times New Roman" panose="02020603050405020304" pitchFamily="18" charset="0"/>
                  </a:rPr>
                  <a:t>-го объекта:</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3" name="Прямоугольник 2"/>
              <p:cNvSpPr>
                <a:spLocks noRot="1" noChangeAspect="1" noMove="1" noResize="1" noEditPoints="1" noAdjustHandles="1" noChangeArrowheads="1" noChangeShapeType="1" noTextEdit="1"/>
              </p:cNvSpPr>
              <p:nvPr/>
            </p:nvSpPr>
            <p:spPr>
              <a:xfrm>
                <a:off x="105156" y="569824"/>
                <a:ext cx="11393424" cy="757130"/>
              </a:xfrm>
              <a:prstGeom prst="rect">
                <a:avLst/>
              </a:prstGeom>
              <a:blipFill>
                <a:blip r:embed="rId2"/>
                <a:stretch>
                  <a:fillRect l="-428" r="-482" b="-8000"/>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2898448" y="1349189"/>
            <a:ext cx="5424823" cy="649248"/>
          </a:xfrm>
          <a:prstGeom prst="rect">
            <a:avLst/>
          </a:prstGeom>
        </p:spPr>
      </p:pic>
      <mc:AlternateContent xmlns:mc="http://schemas.openxmlformats.org/markup-compatibility/2006">
        <mc:Choice xmlns:a14="http://schemas.microsoft.com/office/drawing/2010/main" Requires="a14">
          <p:sp>
            <p:nvSpPr>
              <p:cNvPr id="5" name="Прямоугольник 4"/>
              <p:cNvSpPr/>
              <p:nvPr/>
            </p:nvSpPr>
            <p:spPr>
              <a:xfrm>
                <a:off x="339344" y="2065368"/>
                <a:ext cx="11219688" cy="424732"/>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Видим, что разность, на которую обучается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𝑘</m:t>
                    </m:r>
                  </m:oMath>
                </a14:m>
                <a:r>
                  <a:rPr lang="ru-RU" dirty="0">
                    <a:solidFill>
                      <a:srgbClr val="000000"/>
                    </a:solidFill>
                    <a:effectLst/>
                    <a:latin typeface="Times New Roman" panose="02020603050405020304" pitchFamily="18" charset="0"/>
                    <a:ea typeface="Times New Roman" panose="02020603050405020304" pitchFamily="18" charset="0"/>
                  </a:rPr>
                  <a:t>-й алгоритм, выражается через производную:</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339344" y="2065368"/>
                <a:ext cx="11219688" cy="424732"/>
              </a:xfrm>
              <a:prstGeom prst="rect">
                <a:avLst/>
              </a:prstGeom>
              <a:blipFill>
                <a:blip r:embed="rId4"/>
                <a:stretch>
                  <a:fillRect t="-1449" b="-17391"/>
                </a:stretch>
              </a:blipFill>
            </p:spPr>
            <p:txBody>
              <a:bodyPr/>
              <a:lstStyle/>
              <a:p>
                <a:r>
                  <a:rPr lang="ru-RU">
                    <a:noFill/>
                  </a:rPr>
                  <a:t> </a:t>
                </a:r>
              </a:p>
            </p:txBody>
          </p:sp>
        </mc:Fallback>
      </mc:AlternateContent>
      <p:pic>
        <p:nvPicPr>
          <p:cNvPr id="6" name="Рисунок 5"/>
          <p:cNvPicPr>
            <a:picLocks noChangeAspect="1"/>
          </p:cNvPicPr>
          <p:nvPr/>
        </p:nvPicPr>
        <p:blipFill>
          <a:blip r:embed="rId5"/>
          <a:stretch>
            <a:fillRect/>
          </a:stretch>
        </p:blipFill>
        <p:spPr>
          <a:xfrm>
            <a:off x="3073906" y="2512335"/>
            <a:ext cx="4241440" cy="771171"/>
          </a:xfrm>
          <a:prstGeom prst="rect">
            <a:avLst/>
          </a:prstGeom>
        </p:spPr>
      </p:pic>
      <mc:AlternateContent xmlns:mc="http://schemas.openxmlformats.org/markup-compatibility/2006">
        <mc:Choice xmlns:a14="http://schemas.microsoft.com/office/drawing/2010/main" Requires="a14">
          <p:sp>
            <p:nvSpPr>
              <p:cNvPr id="7" name="Прямоугольник 6"/>
              <p:cNvSpPr/>
              <p:nvPr/>
            </p:nvSpPr>
            <p:spPr>
              <a:xfrm>
                <a:off x="339344" y="3305741"/>
                <a:ext cx="10543032" cy="2296334"/>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Таким образом, для каждого объекта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oMath>
                </a14:m>
                <a:r>
                  <a:rPr lang="ru-RU" dirty="0">
                    <a:solidFill>
                      <a:srgbClr val="000000"/>
                    </a:solidFill>
                    <a:effectLst/>
                    <a:latin typeface="Times New Roman" panose="02020603050405020304" pitchFamily="18" charset="0"/>
                    <a:ea typeface="Times New Roman" panose="02020603050405020304" pitchFamily="18" charset="0"/>
                  </a:rPr>
                  <a:t> очередной алгоритм в </a:t>
                </a:r>
                <a:r>
                  <a:rPr lang="ru-RU" dirty="0" err="1">
                    <a:solidFill>
                      <a:srgbClr val="000000"/>
                    </a:solidFill>
                    <a:effectLst/>
                    <a:latin typeface="Times New Roman" panose="02020603050405020304" pitchFamily="18" charset="0"/>
                    <a:ea typeface="Times New Roman" panose="02020603050405020304" pitchFamily="18" charset="0"/>
                  </a:rPr>
                  <a:t>бустинге</a:t>
                </a:r>
                <a:r>
                  <a:rPr lang="ru-RU" dirty="0">
                    <a:solidFill>
                      <a:srgbClr val="000000"/>
                    </a:solidFill>
                    <a:effectLst/>
                    <a:latin typeface="Times New Roman" panose="02020603050405020304" pitchFamily="18" charset="0"/>
                    <a:ea typeface="Times New Roman" panose="02020603050405020304" pitchFamily="18" charset="0"/>
                  </a:rPr>
                  <a:t> обучается предсказывать антиградиент функции потерь по предсказанию модели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m:t>
                    </m:r>
                    <m:f>
                      <m:fPr>
                        <m:ctrlPr>
                          <a:rPr lang="ru-RU" i="1">
                            <a:solidFill>
                              <a:srgbClr val="000000"/>
                            </a:solidFill>
                            <a:effectLst/>
                            <a:latin typeface="Cambria Math" panose="02040503050406030204" pitchFamily="18" charset="0"/>
                            <a:ea typeface="Times New Roman" panose="02020603050405020304" pitchFamily="18" charset="0"/>
                          </a:rPr>
                        </m:ctrlPr>
                      </m:fPr>
                      <m:num>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ℒ</m:t>
                        </m:r>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𝑧</m:t>
                        </m:r>
                        <m:r>
                          <a:rPr lang="ru-RU" i="1">
                            <a:solidFill>
                              <a:srgbClr val="000000"/>
                            </a:solidFill>
                            <a:effectLst/>
                            <a:latin typeface="Cambria Math" panose="02040503050406030204" pitchFamily="18" charset="0"/>
                            <a:ea typeface="Times New Roman" panose="02020603050405020304" pitchFamily="18" charset="0"/>
                          </a:rPr>
                          <m:t>)</m:t>
                        </m:r>
                      </m:num>
                      <m:den>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𝑧</m:t>
                        </m:r>
                      </m:den>
                    </m:f>
                  </m:oMath>
                </a14:m>
                <a:r>
                  <a:rPr lang="ru-RU" dirty="0">
                    <a:solidFill>
                      <a:srgbClr val="000000"/>
                    </a:solidFill>
                    <a:effectLst/>
                    <a:latin typeface="Times New Roman" panose="02020603050405020304" pitchFamily="18" charset="0"/>
                    <a:ea typeface="Times New Roman" panose="02020603050405020304" pitchFamily="18" charset="0"/>
                  </a:rPr>
                  <a:t> в точке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oMath>
                </a14:m>
                <a:r>
                  <a:rPr lang="ru-RU" dirty="0">
                    <a:solidFill>
                      <a:srgbClr val="000000"/>
                    </a:solidFill>
                    <a:effectLst/>
                    <a:latin typeface="Times New Roman" panose="02020603050405020304" pitchFamily="18" charset="0"/>
                    <a:ea typeface="Times New Roman" panose="02020603050405020304" pitchFamily="18" charset="0"/>
                  </a:rPr>
                  <a:t> предсказания текущей части композиции на объекте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𝑖</m:t>
                        </m:r>
                      </m:sub>
                    </m:sSub>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Это наблюдение позволяет обобщить подход построения </a:t>
                </a:r>
                <a:r>
                  <a:rPr lang="ru-RU" dirty="0" err="1">
                    <a:solidFill>
                      <a:srgbClr val="000000"/>
                    </a:solidFill>
                    <a:effectLst/>
                    <a:latin typeface="Times New Roman" panose="02020603050405020304" pitchFamily="18" charset="0"/>
                    <a:ea typeface="Times New Roman" panose="02020603050405020304" pitchFamily="18" charset="0"/>
                  </a:rPr>
                  <a:t>бустинга</a:t>
                </a:r>
                <a:r>
                  <a:rPr lang="ru-RU" dirty="0">
                    <a:solidFill>
                      <a:srgbClr val="000000"/>
                    </a:solidFill>
                    <a:effectLst/>
                    <a:latin typeface="Times New Roman" panose="02020603050405020304" pitchFamily="18" charset="0"/>
                    <a:ea typeface="Times New Roman" panose="02020603050405020304" pitchFamily="18" charset="0"/>
                  </a:rPr>
                  <a:t> на произвольную дифференцируемую функцию потерь. Для этого мы заменяем обучение на разность </a:t>
                </a:r>
                <a14:m>
                  <m:oMath xmlns:m="http://schemas.openxmlformats.org/officeDocument/2006/math">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en-US" i="1">
                            <a:solidFill>
                              <a:srgbClr val="000000"/>
                            </a:solidFill>
                            <a:effectLst/>
                            <a:latin typeface="Cambria Math" panose="02040503050406030204" pitchFamily="18" charset="0"/>
                            <a:ea typeface="Times New Roman" panose="02020603050405020304" pitchFamily="18" charset="0"/>
                          </a:rPr>
                          <m:t>𝑠</m:t>
                        </m:r>
                      </m:e>
                      <m:sub>
                        <m:r>
                          <a:rPr lang="en-US" i="1">
                            <a:solidFill>
                              <a:srgbClr val="000000"/>
                            </a:solidFill>
                            <a:effectLst/>
                            <a:latin typeface="Cambria Math" panose="02040503050406030204" pitchFamily="18" charset="0"/>
                            <a:ea typeface="Times New Roman" panose="02020603050405020304" pitchFamily="18" charset="0"/>
                          </a:rPr>
                          <m:t>𝑖</m:t>
                        </m:r>
                      </m:sub>
                      <m:sup>
                        <m:r>
                          <a:rPr lang="en-US" i="1">
                            <a:solidFill>
                              <a:srgbClr val="000000"/>
                            </a:solidFill>
                            <a:effectLst/>
                            <a:latin typeface="Cambria Math" panose="02040503050406030204" pitchFamily="18" charset="0"/>
                            <a:ea typeface="Times New Roman" panose="02020603050405020304" pitchFamily="18" charset="0"/>
                          </a:rPr>
                          <m:t>𝑘</m:t>
                        </m:r>
                      </m:sup>
                    </m:sSubSup>
                  </m:oMath>
                </a14:m>
                <a:r>
                  <a:rPr lang="ru-RU" dirty="0">
                    <a:solidFill>
                      <a:srgbClr val="000000"/>
                    </a:solidFill>
                    <a:effectLst/>
                    <a:latin typeface="Times New Roman" panose="02020603050405020304" pitchFamily="18" charset="0"/>
                    <a:ea typeface="Times New Roman" panose="02020603050405020304" pitchFamily="18" charset="0"/>
                  </a:rPr>
                  <a:t> обучением на антиградиент функции потерь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m:t>
                    </m:r>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𝑘</m:t>
                        </m:r>
                      </m:sup>
                    </m:sSubSup>
                    <m:r>
                      <a:rPr lang="ru-RU" i="1">
                        <a:solidFill>
                          <a:srgbClr val="000000"/>
                        </a:solidFill>
                        <a:effectLst/>
                        <a:latin typeface="Cambria Math" panose="02040503050406030204" pitchFamily="18" charset="0"/>
                        <a:ea typeface="Times New Roman" panose="02020603050405020304" pitchFamily="18" charset="0"/>
                      </a:rPr>
                      <m:t>)</m:t>
                    </m:r>
                  </m:oMath>
                </a14:m>
                <a:r>
                  <a:rPr lang="ru-RU" dirty="0">
                    <a:solidFill>
                      <a:srgbClr val="000000"/>
                    </a:solidFill>
                    <a:effectLst/>
                    <a:latin typeface="Times New Roman" panose="02020603050405020304" pitchFamily="18" charset="0"/>
                    <a:ea typeface="Times New Roman" panose="02020603050405020304" pitchFamily="18" charset="0"/>
                  </a:rPr>
                  <a:t>, где</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7" name="Прямоугольник 6"/>
              <p:cNvSpPr>
                <a:spLocks noRot="1" noChangeAspect="1" noMove="1" noResize="1" noEditPoints="1" noAdjustHandles="1" noChangeArrowheads="1" noChangeShapeType="1" noTextEdit="1"/>
              </p:cNvSpPr>
              <p:nvPr/>
            </p:nvSpPr>
            <p:spPr>
              <a:xfrm>
                <a:off x="339344" y="3305741"/>
                <a:ext cx="10543032" cy="2296334"/>
              </a:xfrm>
              <a:prstGeom prst="rect">
                <a:avLst/>
              </a:prstGeom>
              <a:blipFill>
                <a:blip r:embed="rId6"/>
                <a:stretch>
                  <a:fillRect l="-521" r="-463" b="-1592"/>
                </a:stretch>
              </a:blipFill>
            </p:spPr>
            <p:txBody>
              <a:bodyPr/>
              <a:lstStyle/>
              <a:p>
                <a:r>
                  <a:rPr lang="ru-RU">
                    <a:noFill/>
                  </a:rPr>
                  <a:t> </a:t>
                </a:r>
              </a:p>
            </p:txBody>
          </p:sp>
        </mc:Fallback>
      </mc:AlternateContent>
      <p:pic>
        <p:nvPicPr>
          <p:cNvPr id="8" name="Рисунок 7"/>
          <p:cNvPicPr>
            <a:picLocks noChangeAspect="1"/>
          </p:cNvPicPr>
          <p:nvPr/>
        </p:nvPicPr>
        <p:blipFill>
          <a:blip r:embed="rId7"/>
          <a:stretch>
            <a:fillRect/>
          </a:stretch>
        </p:blipFill>
        <p:spPr>
          <a:xfrm>
            <a:off x="4078139" y="5624310"/>
            <a:ext cx="2564546" cy="793406"/>
          </a:xfrm>
          <a:prstGeom prst="rect">
            <a:avLst/>
          </a:prstGeom>
        </p:spPr>
      </p:pic>
    </p:spTree>
    <p:extLst>
      <p:ext uri="{BB962C8B-B14F-4D97-AF65-F5344CB8AC3E}">
        <p14:creationId xmlns:p14="http://schemas.microsoft.com/office/powerpoint/2010/main" val="157627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192024" y="340775"/>
                <a:ext cx="11466576" cy="1421928"/>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Обучение композиции можно представить (</a:t>
                </a:r>
                <a:r>
                  <a:rPr lang="ru-RU" dirty="0" smtClean="0">
                    <a:solidFill>
                      <a:srgbClr val="000000"/>
                    </a:solidFill>
                    <a:latin typeface="Times New Roman" panose="02020603050405020304" pitchFamily="18" charset="0"/>
                    <a:ea typeface="Times New Roman" panose="02020603050405020304" pitchFamily="18" charset="0"/>
                  </a:rPr>
                  <a:t>аналогия </a:t>
                </a:r>
                <a:r>
                  <a:rPr lang="ru-RU" dirty="0">
                    <a:solidFill>
                      <a:srgbClr val="000000"/>
                    </a:solidFill>
                    <a:latin typeface="Times New Roman" panose="02020603050405020304" pitchFamily="18" charset="0"/>
                    <a:ea typeface="Times New Roman" panose="02020603050405020304" pitchFamily="18" charset="0"/>
                  </a:rPr>
                  <a:t>с гольфистом) как перемещение предсказания из точки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1</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2</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3</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𝑁</m:t>
                                </m:r>
                              </m:sub>
                            </m:sSub>
                          </m:e>
                        </m:d>
                        <m:r>
                          <a:rPr lang="ru-RU" i="1">
                            <a:solidFill>
                              <a:srgbClr val="000000"/>
                            </a:solidFill>
                            <a:effectLst/>
                            <a:latin typeface="Cambria Math" panose="02040503050406030204" pitchFamily="18" charset="0"/>
                            <a:ea typeface="Times New Roman" panose="02020603050405020304" pitchFamily="18" charset="0"/>
                          </a:rPr>
                          <m:t> </m:t>
                        </m:r>
                      </m:e>
                    </m:d>
                  </m:oMath>
                </a14:m>
                <a:r>
                  <a:rPr lang="ru-RU" dirty="0">
                    <a:solidFill>
                      <a:srgbClr val="000000"/>
                    </a:solidFill>
                    <a:effectLst/>
                    <a:latin typeface="Times New Roman" panose="02020603050405020304" pitchFamily="18" charset="0"/>
                    <a:ea typeface="Times New Roman" panose="02020603050405020304" pitchFamily="18" charset="0"/>
                  </a:rPr>
                  <a:t>  в точку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1</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2</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3</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𝑁</m:t>
                                </m:r>
                              </m:sub>
                            </m:sSub>
                          </m:e>
                        </m:d>
                        <m:r>
                          <a:rPr lang="ru-RU" i="1">
                            <a:solidFill>
                              <a:srgbClr val="000000"/>
                            </a:solidFill>
                            <a:effectLst/>
                            <a:latin typeface="Cambria Math" panose="02040503050406030204" pitchFamily="18" charset="0"/>
                            <a:ea typeface="Times New Roman" panose="02020603050405020304" pitchFamily="18" charset="0"/>
                          </a:rPr>
                          <m:t> </m:t>
                        </m:r>
                      </m:e>
                    </m:d>
                  </m:oMath>
                </a14:m>
                <a:r>
                  <a:rPr lang="ru-RU" dirty="0">
                    <a:solidFill>
                      <a:srgbClr val="000000"/>
                    </a:solidFill>
                    <a:effectLst/>
                    <a:latin typeface="Times New Roman" panose="02020603050405020304" pitchFamily="18" charset="0"/>
                    <a:ea typeface="Times New Roman" panose="02020603050405020304" pitchFamily="18" charset="0"/>
                  </a:rPr>
                  <a:t>. В конечном итоге мы ожидаем, что точка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𝐾</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1</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𝐾</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2</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𝐾</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3</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𝐾</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𝑁</m:t>
                                </m:r>
                              </m:sub>
                            </m:sSub>
                          </m:e>
                        </m:d>
                        <m:r>
                          <a:rPr lang="ru-RU" i="1">
                            <a:solidFill>
                              <a:srgbClr val="000000"/>
                            </a:solidFill>
                            <a:effectLst/>
                            <a:latin typeface="Cambria Math" panose="02040503050406030204" pitchFamily="18" charset="0"/>
                            <a:ea typeface="Times New Roman" panose="02020603050405020304" pitchFamily="18" charset="0"/>
                          </a:rPr>
                          <m:t> </m:t>
                        </m:r>
                      </m:e>
                    </m:d>
                  </m:oMath>
                </a14:m>
                <a:r>
                  <a:rPr lang="ru-RU" dirty="0">
                    <a:solidFill>
                      <a:srgbClr val="000000"/>
                    </a:solidFill>
                    <a:effectLst/>
                    <a:latin typeface="Times New Roman" panose="02020603050405020304" pitchFamily="18" charset="0"/>
                    <a:ea typeface="Times New Roman" panose="02020603050405020304" pitchFamily="18" charset="0"/>
                  </a:rPr>
                  <a:t> будет располагаться как можно ближе к точке с истинными значениями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1</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2</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𝑦</m:t>
                            </m:r>
                          </m:e>
                          <m:sub>
                            <m:r>
                              <a:rPr lang="ru-RU" i="1">
                                <a:solidFill>
                                  <a:srgbClr val="000000"/>
                                </a:solidFill>
                                <a:effectLst/>
                                <a:latin typeface="Cambria Math" panose="02040503050406030204" pitchFamily="18" charset="0"/>
                                <a:ea typeface="Times New Roman" panose="02020603050405020304" pitchFamily="18" charset="0"/>
                              </a:rPr>
                              <m:t>𝐾</m:t>
                            </m:r>
                          </m:sub>
                        </m:sSub>
                      </m:e>
                    </m:d>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192024" y="340775"/>
                <a:ext cx="11466576" cy="1421928"/>
              </a:xfrm>
              <a:prstGeom prst="rect">
                <a:avLst/>
              </a:prstGeom>
              <a:blipFill>
                <a:blip r:embed="rId2"/>
                <a:stretch>
                  <a:fillRect l="-478" t="-429" r="-425" b="-4292"/>
                </a:stretch>
              </a:blipFill>
            </p:spPr>
            <p:txBody>
              <a:bodyPr/>
              <a:lstStyle/>
              <a:p>
                <a:r>
                  <a:rPr lang="ru-RU">
                    <a:noFill/>
                  </a:rPr>
                  <a:t> </a:t>
                </a:r>
              </a:p>
            </p:txBody>
          </p:sp>
        </mc:Fallback>
      </mc:AlternateContent>
      <p:pic>
        <p:nvPicPr>
          <p:cNvPr id="3" name="Рисунок 2"/>
          <p:cNvPicPr/>
          <p:nvPr/>
        </p:nvPicPr>
        <p:blipFill rotWithShape="1">
          <a:blip r:embed="rId3"/>
          <a:srcRect l="62747" t="44522" r="20673" b="22815"/>
          <a:stretch/>
        </p:blipFill>
        <p:spPr bwMode="auto">
          <a:xfrm>
            <a:off x="2715768" y="2107564"/>
            <a:ext cx="6931152" cy="39823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01209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76032" y="263480"/>
                <a:ext cx="1810176" cy="387222"/>
              </a:xfrm>
              <a:prstGeom prst="rect">
                <a:avLst/>
              </a:prstGeom>
            </p:spPr>
            <p:txBody>
              <a:bodyPr wrap="none">
                <a:spAutoFit/>
              </a:bodyPr>
              <a:lstStyle/>
              <a:p>
                <a:pPr indent="457200" algn="just">
                  <a:lnSpc>
                    <a:spcPct val="120000"/>
                  </a:lnSpc>
                  <a:spcAft>
                    <a:spcPts val="0"/>
                  </a:spcAft>
                </a:pPr>
                <a14:m>
                  <m:oMath xmlns:m="http://schemas.openxmlformats.org/officeDocument/2006/math">
                    <m:r>
                      <a:rPr lang="ru-RU" i="1">
                        <a:solidFill>
                          <a:srgbClr val="000000"/>
                        </a:solidFill>
                        <a:latin typeface="Cambria Math" panose="02040503050406030204" pitchFamily="18" charset="0"/>
                        <a:ea typeface="Times New Roman" panose="02020603050405020304" pitchFamily="18" charset="0"/>
                      </a:rPr>
                      <m:t>ℒ</m:t>
                    </m:r>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𝑦</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𝑦</m:t>
                        </m:r>
                      </m:e>
                    </m:d>
                    <m:r>
                      <a:rPr lang="ru-RU" i="1">
                        <a:solidFill>
                          <a:srgbClr val="000000"/>
                        </a:solidFill>
                        <a:effectLst/>
                        <a:latin typeface="Cambria Math" panose="02040503050406030204" pitchFamily="18" charset="0"/>
                        <a:ea typeface="Times New Roman" panose="02020603050405020304" pitchFamily="18" charset="0"/>
                      </a:rPr>
                      <m:t>=0</m:t>
                    </m:r>
                  </m:oMath>
                </a14:m>
                <a:r>
                  <a:rPr lang="ru-RU" sz="1400" dirty="0">
                    <a:solidFill>
                      <a:srgbClr val="000000"/>
                    </a:solidFill>
                    <a:effectLst/>
                    <a:latin typeface="Times New Roman" panose="02020603050405020304" pitchFamily="18" charset="0"/>
                    <a:ea typeface="Times New Roman" panose="02020603050405020304" pitchFamily="18" charset="0"/>
                  </a:rPr>
                  <a:t>.</a:t>
                </a:r>
                <a:endParaRPr lang="ru-RU" sz="1400"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76032" y="263480"/>
                <a:ext cx="1810176" cy="387222"/>
              </a:xfrm>
              <a:prstGeom prst="rect">
                <a:avLst/>
              </a:prstGeom>
              <a:blipFill>
                <a:blip r:embed="rId2"/>
                <a:stretch>
                  <a:fillRect r="-338" b="-14063"/>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3" name="Прямоугольник 2"/>
              <p:cNvSpPr/>
              <p:nvPr/>
            </p:nvSpPr>
            <p:spPr>
              <a:xfrm>
                <a:off x="165429" y="650702"/>
                <a:ext cx="1711302" cy="40498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ru-RU">
                              <a:latin typeface="Cambria Math" panose="02040503050406030204" pitchFamily="18" charset="0"/>
                            </a:rPr>
                          </m:ctrlPr>
                        </m:dPr>
                        <m:e>
                          <m:r>
                            <a:rPr lang="ru-RU">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𝑔</m:t>
                              </m:r>
                            </m:e>
                            <m:sub>
                              <m:r>
                                <a:rPr lang="ru-RU" i="0">
                                  <a:latin typeface="Cambria Math" panose="02040503050406030204" pitchFamily="18" charset="0"/>
                                </a:rPr>
                                <m:t>1</m:t>
                              </m:r>
                            </m:sub>
                            <m:sup>
                              <m:r>
                                <a:rPr lang="ru-RU" i="1">
                                  <a:latin typeface="Cambria Math" panose="02040503050406030204" pitchFamily="18" charset="0"/>
                                </a:rPr>
                                <m:t>𝑘</m:t>
                              </m:r>
                            </m:sup>
                          </m:sSubSup>
                          <m:r>
                            <a:rPr lang="ru-RU" i="0">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𝑔</m:t>
                              </m:r>
                            </m:e>
                            <m:sub>
                              <m:r>
                                <a:rPr lang="ru-RU" i="1">
                                  <a:latin typeface="Cambria Math" panose="02040503050406030204" pitchFamily="18" charset="0"/>
                                </a:rPr>
                                <m:t>𝑁</m:t>
                              </m:r>
                            </m:sub>
                            <m:sup>
                              <m:r>
                                <a:rPr lang="ru-RU" i="1">
                                  <a:latin typeface="Cambria Math" panose="02040503050406030204" pitchFamily="18" charset="0"/>
                                </a:rPr>
                                <m:t>𝑘</m:t>
                              </m:r>
                            </m:sup>
                          </m:sSubSup>
                        </m:e>
                      </m:d>
                    </m:oMath>
                  </m:oMathPara>
                </a14:m>
                <a:endParaRPr lang="ru-RU" dirty="0"/>
              </a:p>
            </p:txBody>
          </p:sp>
        </mc:Choice>
        <mc:Fallback>
          <p:sp>
            <p:nvSpPr>
              <p:cNvPr id="3" name="Прямоугольник 2"/>
              <p:cNvSpPr>
                <a:spLocks noRot="1" noChangeAspect="1" noMove="1" noResize="1" noEditPoints="1" noAdjustHandles="1" noChangeArrowheads="1" noChangeShapeType="1" noTextEdit="1"/>
              </p:cNvSpPr>
              <p:nvPr/>
            </p:nvSpPr>
            <p:spPr>
              <a:xfrm>
                <a:off x="165429" y="650702"/>
                <a:ext cx="1711302" cy="404983"/>
              </a:xfrm>
              <a:prstGeom prst="rect">
                <a:avLst/>
              </a:prstGeom>
              <a:blipFill>
                <a:blip r:embed="rId3"/>
                <a:stretch>
                  <a:fillRect b="-3030"/>
                </a:stretch>
              </a:blipFill>
            </p:spPr>
            <p:txBody>
              <a:bodyPr/>
              <a:lstStyle/>
              <a:p>
                <a:r>
                  <a:rPr lang="ru-RU">
                    <a:noFill/>
                  </a:rPr>
                  <a:t> </a:t>
                </a:r>
              </a:p>
            </p:txBody>
          </p:sp>
        </mc:Fallback>
      </mc:AlternateContent>
      <p:pic>
        <p:nvPicPr>
          <p:cNvPr id="4" name="Рисунок 3"/>
          <p:cNvPicPr>
            <a:picLocks noChangeAspect="1"/>
          </p:cNvPicPr>
          <p:nvPr/>
        </p:nvPicPr>
        <p:blipFill>
          <a:blip r:embed="rId4"/>
          <a:stretch>
            <a:fillRect/>
          </a:stretch>
        </p:blipFill>
        <p:spPr>
          <a:xfrm>
            <a:off x="165429" y="1185482"/>
            <a:ext cx="6399187" cy="5032438"/>
          </a:xfrm>
          <a:prstGeom prst="rect">
            <a:avLst/>
          </a:prstGeom>
        </p:spPr>
      </p:pic>
      <mc:AlternateContent xmlns:mc="http://schemas.openxmlformats.org/markup-compatibility/2006">
        <mc:Choice xmlns:a14="http://schemas.microsoft.com/office/drawing/2010/main" Requires="a14">
          <p:sp>
            <p:nvSpPr>
              <p:cNvPr id="5" name="Прямоугольник 4"/>
              <p:cNvSpPr/>
              <p:nvPr/>
            </p:nvSpPr>
            <p:spPr>
              <a:xfrm>
                <a:off x="6228527" y="242613"/>
                <a:ext cx="5513832" cy="3459088"/>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В изображённом примере рассматриваются два объекта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1</m:t>
                        </m:r>
                      </m:sub>
                    </m:sSub>
                  </m:oMath>
                </a14:m>
                <a:r>
                  <a:rPr lang="ru-RU" dirty="0">
                    <a:solidFill>
                      <a:srgbClr val="000000"/>
                    </a:solidFill>
                    <a:effectLst/>
                    <a:latin typeface="Times New Roman" panose="02020603050405020304" pitchFamily="18" charset="0"/>
                    <a:ea typeface="Times New Roman" panose="02020603050405020304" pitchFamily="18" charset="0"/>
                  </a:rPr>
                  <a:t> и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2</m:t>
                        </m:r>
                      </m:sub>
                    </m:sSub>
                  </m:oMath>
                </a14:m>
                <a:r>
                  <a:rPr lang="ru-RU" dirty="0">
                    <a:solidFill>
                      <a:srgbClr val="000000"/>
                    </a:solidFill>
                    <a:effectLst/>
                    <a:latin typeface="Times New Roman" panose="02020603050405020304" pitchFamily="18" charset="0"/>
                    <a:ea typeface="Times New Roman" panose="02020603050405020304" pitchFamily="18" charset="0"/>
                  </a:rPr>
                  <a:t>. Текущее предсказание для них –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1</m:t>
                                </m:r>
                              </m:sub>
                            </m:sSub>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ru-RU" i="1">
                                    <a:solidFill>
                                      <a:srgbClr val="000000"/>
                                    </a:solidFill>
                                    <a:effectLst/>
                                    <a:latin typeface="Cambria Math" panose="02040503050406030204" pitchFamily="18" charset="0"/>
                                    <a:ea typeface="Times New Roman" panose="02020603050405020304" pitchFamily="18" charset="0"/>
                                  </a:rPr>
                                  <m:t>2</m:t>
                                </m:r>
                              </m:sub>
                            </m:sSub>
                          </m:e>
                        </m:d>
                        <m:r>
                          <a:rPr lang="ru-RU" i="1">
                            <a:solidFill>
                              <a:srgbClr val="000000"/>
                            </a:solidFill>
                            <a:effectLst/>
                            <a:latin typeface="Cambria Math" panose="02040503050406030204" pitchFamily="18" charset="0"/>
                            <a:ea typeface="Times New Roman" panose="02020603050405020304" pitchFamily="18" charset="0"/>
                          </a:rPr>
                          <m:t> </m:t>
                        </m:r>
                      </m:e>
                    </m:d>
                  </m:oMath>
                </a14:m>
                <a:r>
                  <a:rPr lang="ru-RU" dirty="0">
                    <a:solidFill>
                      <a:srgbClr val="000000"/>
                    </a:solidFill>
                    <a:effectLst/>
                    <a:latin typeface="Times New Roman" panose="02020603050405020304" pitchFamily="18" charset="0"/>
                    <a:ea typeface="Times New Roman" panose="02020603050405020304" pitchFamily="18" charset="0"/>
                  </a:rPr>
                  <a:t>, а окружность определяет варианты следующего шага: первый вариант – пойти в направлении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𝑘</m:t>
                            </m:r>
                          </m:sup>
                        </m:sSubSup>
                        <m:r>
                          <a:rPr lang="ru-RU" i="1">
                            <a:solidFill>
                              <a:srgbClr val="000000"/>
                            </a:solidFill>
                            <a:effectLst/>
                            <a:latin typeface="Cambria Math" panose="02040503050406030204" pitchFamily="18" charset="0"/>
                            <a:ea typeface="Times New Roman" panose="02020603050405020304" pitchFamily="18" charset="0"/>
                          </a:rPr>
                          <m:t>,</m:t>
                        </m:r>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𝑠</m:t>
                            </m:r>
                          </m:e>
                          <m:sub>
                            <m:r>
                              <a:rPr lang="ru-RU" i="1">
                                <a:solidFill>
                                  <a:srgbClr val="000000"/>
                                </a:solidFill>
                                <a:effectLst/>
                                <a:latin typeface="Cambria Math" panose="02040503050406030204" pitchFamily="18" charset="0"/>
                                <a:ea typeface="Times New Roman" panose="02020603050405020304" pitchFamily="18" charset="0"/>
                              </a:rPr>
                              <m:t>2</m:t>
                            </m:r>
                          </m:sub>
                          <m:sup>
                            <m:r>
                              <a:rPr lang="ru-RU" i="1">
                                <a:solidFill>
                                  <a:srgbClr val="000000"/>
                                </a:solidFill>
                                <a:effectLst/>
                                <a:latin typeface="Cambria Math" panose="02040503050406030204" pitchFamily="18" charset="0"/>
                                <a:ea typeface="Times New Roman" panose="02020603050405020304" pitchFamily="18" charset="0"/>
                              </a:rPr>
                              <m:t>𝑘</m:t>
                            </m:r>
                          </m:sup>
                        </m:sSubSup>
                      </m:e>
                    </m:d>
                  </m:oMath>
                </a14:m>
                <a:r>
                  <a:rPr lang="ru-RU" dirty="0">
                    <a:solidFill>
                      <a:srgbClr val="000000"/>
                    </a:solidFill>
                    <a:effectLst/>
                    <a:latin typeface="Times New Roman" panose="02020603050405020304" pitchFamily="18" charset="0"/>
                    <a:ea typeface="Times New Roman" panose="02020603050405020304" pitchFamily="18" charset="0"/>
                  </a:rPr>
                  <a:t>, как делалось ранее; второй – пойти в направлении антиградиента. Также показаны линии уровня значений функции потерь. Функция потерь в этом примере устроена таким образом, что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𝐿</m:t>
                        </m:r>
                      </m:e>
                      <m:sub>
                        <m:r>
                          <a:rPr lang="ru-RU" i="1">
                            <a:solidFill>
                              <a:srgbClr val="000000"/>
                            </a:solidFill>
                            <a:effectLst/>
                            <a:latin typeface="Cambria Math" panose="02040503050406030204" pitchFamily="18" charset="0"/>
                            <a:ea typeface="Times New Roman" panose="02020603050405020304" pitchFamily="18" charset="0"/>
                          </a:rPr>
                          <m:t>2</m:t>
                        </m:r>
                      </m:sub>
                    </m:sSub>
                    <m:r>
                      <a:rPr lang="ru-RU" i="1">
                        <a:solidFill>
                          <a:srgbClr val="000000"/>
                        </a:solidFill>
                        <a:effectLst/>
                        <a:latin typeface="Cambria Math" panose="02040503050406030204" pitchFamily="18" charset="0"/>
                        <a:ea typeface="Times New Roman" panose="02020603050405020304" pitchFamily="18" charset="0"/>
                      </a:rPr>
                      <m:t>&lt;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𝐿</m:t>
                        </m:r>
                      </m:e>
                      <m:sub>
                        <m:r>
                          <a:rPr lang="ru-RU" i="1">
                            <a:solidFill>
                              <a:srgbClr val="000000"/>
                            </a:solidFill>
                            <a:effectLst/>
                            <a:latin typeface="Cambria Math" panose="02040503050406030204" pitchFamily="18" charset="0"/>
                            <a:ea typeface="Times New Roman" panose="02020603050405020304" pitchFamily="18" charset="0"/>
                          </a:rPr>
                          <m:t>1</m:t>
                        </m:r>
                      </m:sub>
                    </m:sSub>
                  </m:oMath>
                </a14:m>
                <a:r>
                  <a:rPr lang="ru-RU" dirty="0">
                    <a:solidFill>
                      <a:srgbClr val="000000"/>
                    </a:solidFill>
                    <a:effectLst/>
                    <a:latin typeface="Times New Roman" panose="02020603050405020304" pitchFamily="18" charset="0"/>
                    <a:ea typeface="Times New Roman" panose="02020603050405020304" pitchFamily="18" charset="0"/>
                  </a:rPr>
                  <a:t>, из-за чего шаг по антиградиенту оказывается более выгодным.</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6228527" y="242613"/>
                <a:ext cx="5513832" cy="3459088"/>
              </a:xfrm>
              <a:prstGeom prst="rect">
                <a:avLst/>
              </a:prstGeom>
              <a:blipFill>
                <a:blip r:embed="rId5"/>
                <a:stretch>
                  <a:fillRect l="-996" t="-176" r="-885" b="-105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6" name="Прямоугольник 5"/>
              <p:cNvSpPr/>
              <p:nvPr/>
            </p:nvSpPr>
            <p:spPr>
              <a:xfrm>
                <a:off x="6627892" y="3855469"/>
                <a:ext cx="5051191" cy="11043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ru-RU" i="1">
                          <a:solidFill>
                            <a:prstClr val="black"/>
                          </a:solidFill>
                          <a:latin typeface="Cambria Math" panose="02040503050406030204" pitchFamily="18" charset="0"/>
                        </a:rPr>
                        <m:t>𝑃𝑎𝑖𝑟𝐿𝑜𝑔𝑖𝑡</m:t>
                      </m:r>
                      <m:r>
                        <a:rPr lang="ru-RU">
                          <a:solidFill>
                            <a:prstClr val="black"/>
                          </a:solidFill>
                          <a:latin typeface="Cambria Math" panose="02040503050406030204" pitchFamily="18" charset="0"/>
                        </a:rPr>
                        <m:t>=</m:t>
                      </m:r>
                      <m:f>
                        <m:fPr>
                          <m:ctrlPr>
                            <a:rPr lang="ru-RU" i="1">
                              <a:solidFill>
                                <a:prstClr val="black"/>
                              </a:solidFill>
                              <a:latin typeface="Cambria Math" panose="02040503050406030204" pitchFamily="18" charset="0"/>
                            </a:rPr>
                          </m:ctrlPr>
                        </m:fPr>
                        <m:num>
                          <m:r>
                            <a:rPr lang="ru-RU">
                              <a:solidFill>
                                <a:prstClr val="black"/>
                              </a:solidFill>
                              <a:latin typeface="Cambria Math" panose="02040503050406030204" pitchFamily="18" charset="0"/>
                            </a:rPr>
                            <m:t>−</m:t>
                          </m:r>
                          <m:nary>
                            <m:naryPr>
                              <m:chr m:val="∑"/>
                              <m:limLoc m:val="undOvr"/>
                              <m:supHide m:val="on"/>
                              <m:ctrlPr>
                                <a:rPr lang="ru-RU" i="1">
                                  <a:solidFill>
                                    <a:prstClr val="black"/>
                                  </a:solidFill>
                                  <a:latin typeface="Cambria Math" panose="02040503050406030204" pitchFamily="18" charset="0"/>
                                </a:rPr>
                              </m:ctrlPr>
                            </m:naryPr>
                            <m:sub>
                              <m:r>
                                <a:rPr lang="ru-RU" i="1">
                                  <a:solidFill>
                                    <a:prstClr val="black"/>
                                  </a:solidFill>
                                  <a:latin typeface="Cambria Math" panose="02040503050406030204" pitchFamily="18" charset="0"/>
                                </a:rPr>
                                <m:t>𝑝</m:t>
                              </m:r>
                              <m:r>
                                <a:rPr lang="ru-RU">
                                  <a:solidFill>
                                    <a:prstClr val="black"/>
                                  </a:solidFill>
                                  <a:latin typeface="Cambria Math" panose="02040503050406030204" pitchFamily="18" charset="0"/>
                                </a:rPr>
                                <m:t>,</m:t>
                              </m:r>
                              <m:r>
                                <a:rPr lang="ru-RU" i="1">
                                  <a:solidFill>
                                    <a:prstClr val="black"/>
                                  </a:solidFill>
                                  <a:latin typeface="Cambria Math" panose="02040503050406030204" pitchFamily="18" charset="0"/>
                                </a:rPr>
                                <m:t>𝑛</m:t>
                              </m:r>
                              <m:r>
                                <a:rPr lang="ru-RU">
                                  <a:solidFill>
                                    <a:prstClr val="black"/>
                                  </a:solidFill>
                                  <a:latin typeface="Cambria Math" panose="02040503050406030204" pitchFamily="18" charset="0"/>
                                </a:rPr>
                                <m:t>∈</m:t>
                              </m:r>
                              <m:r>
                                <a:rPr lang="ru-RU" i="1">
                                  <a:solidFill>
                                    <a:prstClr val="black"/>
                                  </a:solidFill>
                                  <a:latin typeface="Cambria Math" panose="02040503050406030204" pitchFamily="18" charset="0"/>
                                </a:rPr>
                                <m:t>𝑃𝑎𝑖𝑟𝑠</m:t>
                              </m:r>
                            </m:sub>
                            <m:sup/>
                            <m:e>
                              <m:d>
                                <m:dPr>
                                  <m:ctrlPr>
                                    <a:rPr lang="ru-RU" i="1">
                                      <a:solidFill>
                                        <a:prstClr val="black"/>
                                      </a:solidFill>
                                      <a:latin typeface="Cambria Math" panose="02040503050406030204" pitchFamily="18" charset="0"/>
                                    </a:rPr>
                                  </m:ctrlPr>
                                </m:dPr>
                                <m:e>
                                  <m:r>
                                    <a:rPr lang="ru-RU" i="1">
                                      <a:solidFill>
                                        <a:prstClr val="black"/>
                                      </a:solidFill>
                                      <a:latin typeface="Cambria Math" panose="02040503050406030204" pitchFamily="18" charset="0"/>
                                    </a:rPr>
                                    <m:t>𝑙𝑜𝑔</m:t>
                                  </m:r>
                                  <m:d>
                                    <m:dPr>
                                      <m:ctrlPr>
                                        <a:rPr lang="ru-RU" i="1">
                                          <a:solidFill>
                                            <a:prstClr val="black"/>
                                          </a:solidFill>
                                          <a:latin typeface="Cambria Math" panose="02040503050406030204" pitchFamily="18" charset="0"/>
                                        </a:rPr>
                                      </m:ctrlPr>
                                    </m:dPr>
                                    <m:e>
                                      <m:f>
                                        <m:fPr>
                                          <m:ctrlPr>
                                            <a:rPr lang="ru-RU" i="1">
                                              <a:solidFill>
                                                <a:prstClr val="black"/>
                                              </a:solidFill>
                                              <a:latin typeface="Cambria Math" panose="02040503050406030204" pitchFamily="18" charset="0"/>
                                            </a:rPr>
                                          </m:ctrlPr>
                                        </m:fPr>
                                        <m:num>
                                          <m:r>
                                            <a:rPr lang="ru-RU">
                                              <a:solidFill>
                                                <a:prstClr val="black"/>
                                              </a:solidFill>
                                              <a:latin typeface="Cambria Math" panose="02040503050406030204" pitchFamily="18" charset="0"/>
                                            </a:rPr>
                                            <m:t>1</m:t>
                                          </m:r>
                                        </m:num>
                                        <m:den>
                                          <m:r>
                                            <a:rPr lang="ru-RU">
                                              <a:solidFill>
                                                <a:prstClr val="black"/>
                                              </a:solidFill>
                                              <a:latin typeface="Cambria Math" panose="02040503050406030204" pitchFamily="18" charset="0"/>
                                            </a:rPr>
                                            <m:t>1+</m:t>
                                          </m:r>
                                          <m:sSup>
                                            <m:sSupPr>
                                              <m:ctrlPr>
                                                <a:rPr lang="ru-RU" i="1">
                                                  <a:solidFill>
                                                    <a:prstClr val="black"/>
                                                  </a:solidFill>
                                                  <a:latin typeface="Cambria Math" panose="02040503050406030204" pitchFamily="18" charset="0"/>
                                                </a:rPr>
                                              </m:ctrlPr>
                                            </m:sSupPr>
                                            <m:e>
                                              <m:r>
                                                <a:rPr lang="ru-RU" i="1">
                                                  <a:solidFill>
                                                    <a:prstClr val="black"/>
                                                  </a:solidFill>
                                                  <a:latin typeface="Cambria Math" panose="02040503050406030204" pitchFamily="18" charset="0"/>
                                                </a:rPr>
                                                <m:t>𝑒</m:t>
                                              </m:r>
                                            </m:e>
                                            <m:sup>
                                              <m:r>
                                                <a:rPr lang="ru-RU">
                                                  <a:solidFill>
                                                    <a:prstClr val="black"/>
                                                  </a:solidFill>
                                                  <a:latin typeface="Cambria Math" panose="02040503050406030204" pitchFamily="18" charset="0"/>
                                                </a:rPr>
                                                <m:t>−</m:t>
                                              </m:r>
                                              <m:d>
                                                <m:dPr>
                                                  <m:ctrlPr>
                                                    <a:rPr lang="ru-RU" i="1">
                                                      <a:solidFill>
                                                        <a:prstClr val="black"/>
                                                      </a:solidFill>
                                                      <a:latin typeface="Cambria Math" panose="02040503050406030204" pitchFamily="18" charset="0"/>
                                                    </a:rPr>
                                                  </m:ctrlPr>
                                                </m:dPr>
                                                <m:e>
                                                  <m:sSub>
                                                    <m:sSubPr>
                                                      <m:ctrlPr>
                                                        <a:rPr lang="ru-RU" i="1">
                                                          <a:solidFill>
                                                            <a:prstClr val="black"/>
                                                          </a:solidFill>
                                                          <a:latin typeface="Cambria Math" panose="02040503050406030204" pitchFamily="18" charset="0"/>
                                                        </a:rPr>
                                                      </m:ctrlPr>
                                                    </m:sSubPr>
                                                    <m:e>
                                                      <m:r>
                                                        <a:rPr lang="ru-RU" i="1">
                                                          <a:solidFill>
                                                            <a:prstClr val="black"/>
                                                          </a:solidFill>
                                                          <a:latin typeface="Cambria Math" panose="02040503050406030204" pitchFamily="18" charset="0"/>
                                                        </a:rPr>
                                                        <m:t>𝑎</m:t>
                                                      </m:r>
                                                    </m:e>
                                                    <m:sub>
                                                      <m:r>
                                                        <a:rPr lang="ru-RU" i="1">
                                                          <a:solidFill>
                                                            <a:prstClr val="black"/>
                                                          </a:solidFill>
                                                          <a:latin typeface="Cambria Math" panose="02040503050406030204" pitchFamily="18" charset="0"/>
                                                        </a:rPr>
                                                        <m:t>𝑝</m:t>
                                                      </m:r>
                                                    </m:sub>
                                                  </m:sSub>
                                                  <m:r>
                                                    <a:rPr lang="ru-RU">
                                                      <a:solidFill>
                                                        <a:prstClr val="black"/>
                                                      </a:solidFill>
                                                      <a:latin typeface="Cambria Math" panose="02040503050406030204" pitchFamily="18" charset="0"/>
                                                    </a:rPr>
                                                    <m:t>−</m:t>
                                                  </m:r>
                                                  <m:sSub>
                                                    <m:sSubPr>
                                                      <m:ctrlPr>
                                                        <a:rPr lang="ru-RU" i="1">
                                                          <a:solidFill>
                                                            <a:prstClr val="black"/>
                                                          </a:solidFill>
                                                          <a:latin typeface="Cambria Math" panose="02040503050406030204" pitchFamily="18" charset="0"/>
                                                        </a:rPr>
                                                      </m:ctrlPr>
                                                    </m:sSubPr>
                                                    <m:e>
                                                      <m:r>
                                                        <a:rPr lang="ru-RU" i="1">
                                                          <a:solidFill>
                                                            <a:prstClr val="black"/>
                                                          </a:solidFill>
                                                          <a:latin typeface="Cambria Math" panose="02040503050406030204" pitchFamily="18" charset="0"/>
                                                        </a:rPr>
                                                        <m:t>𝑎</m:t>
                                                      </m:r>
                                                    </m:e>
                                                    <m:sub>
                                                      <m:r>
                                                        <a:rPr lang="ru-RU" i="1">
                                                          <a:solidFill>
                                                            <a:prstClr val="black"/>
                                                          </a:solidFill>
                                                          <a:latin typeface="Cambria Math" panose="02040503050406030204" pitchFamily="18" charset="0"/>
                                                        </a:rPr>
                                                        <m:t>𝑛</m:t>
                                                      </m:r>
                                                    </m:sub>
                                                  </m:sSub>
                                                </m:e>
                                              </m:d>
                                            </m:sup>
                                          </m:sSup>
                                        </m:den>
                                      </m:f>
                                    </m:e>
                                  </m:d>
                                </m:e>
                              </m:d>
                            </m:e>
                          </m:nary>
                        </m:num>
                        <m:den>
                          <m:d>
                            <m:dPr>
                              <m:begChr m:val="|"/>
                              <m:endChr m:val="|"/>
                              <m:ctrlPr>
                                <a:rPr lang="ru-RU" i="1">
                                  <a:solidFill>
                                    <a:prstClr val="black"/>
                                  </a:solidFill>
                                  <a:latin typeface="Cambria Math" panose="02040503050406030204" pitchFamily="18" charset="0"/>
                                </a:rPr>
                              </m:ctrlPr>
                            </m:dPr>
                            <m:e>
                              <m:r>
                                <a:rPr lang="ru-RU" i="1">
                                  <a:solidFill>
                                    <a:prstClr val="black"/>
                                  </a:solidFill>
                                  <a:latin typeface="Cambria Math" panose="02040503050406030204" pitchFamily="18" charset="0"/>
                                </a:rPr>
                                <m:t>𝑃𝑎𝑖𝑟𝑠</m:t>
                              </m:r>
                            </m:e>
                          </m:d>
                        </m:den>
                      </m:f>
                    </m:oMath>
                  </m:oMathPara>
                </a14:m>
                <a:endParaRPr lang="ru-RU" dirty="0"/>
              </a:p>
            </p:txBody>
          </p:sp>
        </mc:Choice>
        <mc:Fallback>
          <p:sp>
            <p:nvSpPr>
              <p:cNvPr id="6" name="Прямоугольник 5"/>
              <p:cNvSpPr>
                <a:spLocks noRot="1" noChangeAspect="1" noMove="1" noResize="1" noEditPoints="1" noAdjustHandles="1" noChangeArrowheads="1" noChangeShapeType="1" noTextEdit="1"/>
              </p:cNvSpPr>
              <p:nvPr/>
            </p:nvSpPr>
            <p:spPr>
              <a:xfrm>
                <a:off x="6627892" y="3855469"/>
                <a:ext cx="5051191" cy="1104341"/>
              </a:xfrm>
              <a:prstGeom prst="rect">
                <a:avLst/>
              </a:prstGeom>
              <a:blipFill>
                <a:blip r:embed="rId6"/>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961922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89744"/>
            <a:ext cx="3791807" cy="424732"/>
          </a:xfrm>
          <a:prstGeom prst="rect">
            <a:avLst/>
          </a:prstGeom>
        </p:spPr>
        <p:txBody>
          <a:bodyPr wrap="none">
            <a:spAutoFit/>
          </a:bodyPr>
          <a:lstStyle/>
          <a:p>
            <a:pPr indent="457200" algn="just">
              <a:lnSpc>
                <a:spcPct val="120000"/>
              </a:lnSpc>
              <a:spcAft>
                <a:spcPts val="0"/>
              </a:spcAft>
            </a:pPr>
            <a:r>
              <a:rPr lang="ru-RU" b="1" i="1" dirty="0">
                <a:solidFill>
                  <a:srgbClr val="000000"/>
                </a:solidFill>
                <a:latin typeface="Times New Roman" panose="02020603050405020304" pitchFamily="18" charset="0"/>
                <a:ea typeface="Times New Roman" panose="02020603050405020304" pitchFamily="18" charset="0"/>
              </a:rPr>
              <a:t>Математическое обоснование</a:t>
            </a:r>
            <a:endParaRPr lang="ru-RU" dirty="0">
              <a:solidFill>
                <a:srgbClr val="000000"/>
              </a:solidFill>
              <a:effectLst/>
              <a:latin typeface="Times New Roman" panose="02020603050405020304" pitchFamily="18" charset="0"/>
              <a:ea typeface="Calibri" panose="020F0502020204030204" pitchFamily="34" charset="0"/>
            </a:endParaRPr>
          </a:p>
        </p:txBody>
      </p:sp>
      <mc:AlternateContent xmlns:mc="http://schemas.openxmlformats.org/markup-compatibility/2006">
        <mc:Choice xmlns:a14="http://schemas.microsoft.com/office/drawing/2010/main" Requires="a14">
          <p:sp>
            <p:nvSpPr>
              <p:cNvPr id="4" name="Прямоугольник 3"/>
              <p:cNvSpPr/>
              <p:nvPr/>
            </p:nvSpPr>
            <p:spPr>
              <a:xfrm>
                <a:off x="429768" y="471278"/>
                <a:ext cx="10725912" cy="4621009"/>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Попробуем записать наши интуитивные соображения более формально. Пусть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ℒ</m:t>
                    </m:r>
                  </m:oMath>
                </a14:m>
                <a:r>
                  <a:rPr lang="ru-RU" dirty="0">
                    <a:solidFill>
                      <a:srgbClr val="000000"/>
                    </a:solidFill>
                    <a:effectLst/>
                    <a:latin typeface="Times New Roman" panose="02020603050405020304" pitchFamily="18" charset="0"/>
                    <a:ea typeface="Times New Roman" panose="02020603050405020304" pitchFamily="18" charset="0"/>
                  </a:rPr>
                  <a:t> – дифференцируемая функция потерь, а наш алгоритм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𝑎</m:t>
                    </m:r>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𝑥</m:t>
                    </m:r>
                    <m:r>
                      <a:rPr lang="ru-RU" i="1">
                        <a:solidFill>
                          <a:srgbClr val="000000"/>
                        </a:solidFill>
                        <a:effectLst/>
                        <a:latin typeface="Cambria Math" panose="02040503050406030204" pitchFamily="18" charset="0"/>
                        <a:ea typeface="Times New Roman" panose="02020603050405020304" pitchFamily="18" charset="0"/>
                      </a:rPr>
                      <m:t>)</m:t>
                    </m:r>
                  </m:oMath>
                </a14:m>
                <a:r>
                  <a:rPr lang="ru-RU" dirty="0">
                    <a:solidFill>
                      <a:srgbClr val="000000"/>
                    </a:solidFill>
                    <a:effectLst/>
                    <a:latin typeface="Times New Roman" panose="02020603050405020304" pitchFamily="18" charset="0"/>
                    <a:ea typeface="Times New Roman" panose="02020603050405020304" pitchFamily="18" charset="0"/>
                  </a:rPr>
                  <a:t> представляет собой композицию базовых алгоритмов:</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𝑎</m:t>
                      </m:r>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Построим композицию «жадного алгоритма»:</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oMath>
                  </m:oMathPara>
                </a14:m>
                <a:endParaRPr lang="ru-RU" dirty="0">
                  <a:solidFill>
                    <a:srgbClr val="000000"/>
                  </a:solidFill>
                  <a:effectLst/>
                  <a:latin typeface="Times New Roman" panose="02020603050405020304" pitchFamily="18" charset="0"/>
                  <a:ea typeface="Calibri" panose="020F0502020204030204" pitchFamily="34" charset="0"/>
                </a:endParaRPr>
              </a:p>
              <a:p>
                <a:pPr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где вновь добавляемый базовый алгоритм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oMath>
                </a14:m>
                <a:r>
                  <a:rPr lang="en-US" dirty="0">
                    <a:solidFill>
                      <a:srgbClr val="000000"/>
                    </a:solidFill>
                    <a:effectLst/>
                    <a:latin typeface="Times New Roman" panose="02020603050405020304" pitchFamily="18" charset="0"/>
                    <a:ea typeface="Times New Roman" panose="02020603050405020304" pitchFamily="18" charset="0"/>
                  </a:rPr>
                  <a:t> </a:t>
                </a:r>
                <a:r>
                  <a:rPr lang="ru-RU" dirty="0">
                    <a:solidFill>
                      <a:srgbClr val="000000"/>
                    </a:solidFill>
                    <a:effectLst/>
                    <a:latin typeface="Times New Roman" panose="02020603050405020304" pitchFamily="18" charset="0"/>
                    <a:ea typeface="Times New Roman" panose="02020603050405020304" pitchFamily="18" charset="0"/>
                  </a:rPr>
                  <a:t>обучается так, чтобы улучшить предсказания текущей композиции:</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r>
                        <a:rPr lang="en-US"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𝑎𝑟𝑔</m:t>
                      </m:r>
                      <m:func>
                        <m:funcPr>
                          <m:ctrlPr>
                            <a:rPr lang="ru-RU" i="1">
                              <a:solidFill>
                                <a:srgbClr val="000000"/>
                              </a:solidFill>
                              <a:effectLst/>
                              <a:latin typeface="Cambria Math" panose="02040503050406030204" pitchFamily="18" charset="0"/>
                              <a:ea typeface="Times New Roman" panose="02020603050405020304" pitchFamily="18" charset="0"/>
                            </a:rPr>
                          </m:ctrlPr>
                        </m:funcPr>
                        <m:fName>
                          <m:limLow>
                            <m:limLowPr>
                              <m:ctrlPr>
                                <a:rPr lang="ru-RU" i="1">
                                  <a:solidFill>
                                    <a:srgbClr val="000000"/>
                                  </a:solidFill>
                                  <a:effectLst/>
                                  <a:latin typeface="Cambria Math" panose="02040503050406030204" pitchFamily="18" charset="0"/>
                                  <a:ea typeface="Times New Roman" panose="02020603050405020304" pitchFamily="18" charset="0"/>
                                </a:rPr>
                              </m:ctrlPr>
                            </m:limLowPr>
                            <m:e>
                              <m:r>
                                <m:rPr>
                                  <m:sty m:val="p"/>
                                </m:rPr>
                                <a:rPr lang="en-US">
                                  <a:solidFill>
                                    <a:srgbClr val="000000"/>
                                  </a:solidFill>
                                  <a:effectLst/>
                                  <a:latin typeface="Cambria Math" panose="02040503050406030204" pitchFamily="18" charset="0"/>
                                  <a:ea typeface="Times New Roman" panose="02020603050405020304" pitchFamily="18" charset="0"/>
                                </a:rPr>
                                <m:t>min</m:t>
                              </m:r>
                            </m:e>
                            <m:lim>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lim>
                          </m:limLow>
                        </m:fName>
                        <m:e>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en-US" i="1">
                                  <a:solidFill>
                                    <a:srgbClr val="000000"/>
                                  </a:solidFill>
                                  <a:effectLst/>
                                  <a:latin typeface="Cambria Math" panose="02040503050406030204" pitchFamily="18" charset="0"/>
                                  <a:ea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rPr>
                                <m:t>=1</m:t>
                              </m:r>
                            </m:sub>
                            <m:sup>
                              <m:r>
                                <a:rPr lang="en-US" i="1">
                                  <a:solidFill>
                                    <a:srgbClr val="000000"/>
                                  </a:solidFill>
                                  <a:effectLst/>
                                  <a:latin typeface="Cambria Math" panose="02040503050406030204" pitchFamily="18" charset="0"/>
                                  <a:ea typeface="Times New Roman" panose="02020603050405020304" pitchFamily="18" charset="0"/>
                                </a:rPr>
                                <m:t>𝑁</m:t>
                              </m:r>
                            </m:sup>
                            <m:e>
                              <m:r>
                                <a:rPr lang="en-US" i="1">
                                  <a:solidFill>
                                    <a:srgbClr val="000000"/>
                                  </a:solidFill>
                                  <a:effectLst/>
                                  <a:latin typeface="Cambria Math" panose="02040503050406030204" pitchFamily="18" charset="0"/>
                                  <a:ea typeface="Times New Roman" panose="02020603050405020304" pitchFamily="18" charset="0"/>
                                </a:rPr>
                                <m:t>ℒ</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𝑦</m:t>
                                      </m:r>
                                    </m:e>
                                    <m:sub>
                                      <m:r>
                                        <a:rPr lang="en-US" i="1">
                                          <a:solidFill>
                                            <a:srgbClr val="000000"/>
                                          </a:solidFill>
                                          <a:effectLst/>
                                          <a:latin typeface="Cambria Math" panose="02040503050406030204" pitchFamily="18" charset="0"/>
                                          <a:ea typeface="Times New Roman" panose="02020603050405020304" pitchFamily="18" charset="0"/>
                                        </a:rPr>
                                        <m:t>𝑖</m:t>
                                      </m:r>
                                    </m:sub>
                                  </m:sSub>
                                  <m:r>
                                    <a:rPr lang="en-US"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e>
                                  </m:d>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𝑏</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e>
                                  </m:d>
                                </m:e>
                              </m:d>
                            </m:e>
                          </m:nary>
                        </m:e>
                      </m:func>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Модель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0</m:t>
                        </m:r>
                      </m:sub>
                    </m:sSub>
                  </m:oMath>
                </a14:m>
                <a:r>
                  <a:rPr lang="ru-RU" dirty="0">
                    <a:solidFill>
                      <a:srgbClr val="000000"/>
                    </a:solidFill>
                    <a:effectLst/>
                    <a:latin typeface="Times New Roman" panose="02020603050405020304" pitchFamily="18" charset="0"/>
                    <a:ea typeface="Times New Roman" panose="02020603050405020304" pitchFamily="18" charset="0"/>
                  </a:rPr>
                  <a:t> выбирается так, чтобы минимизировать потери на обучающей выборке:</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0</m:t>
                          </m:r>
                        </m:sub>
                      </m:sSub>
                      <m:r>
                        <a:rPr lang="en-US"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𝑎𝑟𝑔</m:t>
                      </m:r>
                      <m:func>
                        <m:funcPr>
                          <m:ctrlPr>
                            <a:rPr lang="ru-RU" i="1">
                              <a:solidFill>
                                <a:srgbClr val="000000"/>
                              </a:solidFill>
                              <a:effectLst/>
                              <a:latin typeface="Cambria Math" panose="02040503050406030204" pitchFamily="18" charset="0"/>
                              <a:ea typeface="Times New Roman" panose="02020603050405020304" pitchFamily="18" charset="0"/>
                            </a:rPr>
                          </m:ctrlPr>
                        </m:funcPr>
                        <m:fName>
                          <m:limLow>
                            <m:limLowPr>
                              <m:ctrlPr>
                                <a:rPr lang="ru-RU" i="1">
                                  <a:solidFill>
                                    <a:srgbClr val="000000"/>
                                  </a:solidFill>
                                  <a:effectLst/>
                                  <a:latin typeface="Cambria Math" panose="02040503050406030204" pitchFamily="18" charset="0"/>
                                  <a:ea typeface="Times New Roman" panose="02020603050405020304" pitchFamily="18" charset="0"/>
                                </a:rPr>
                              </m:ctrlPr>
                            </m:limLowPr>
                            <m:e>
                              <m:r>
                                <m:rPr>
                                  <m:sty m:val="p"/>
                                </m:rPr>
                                <a:rPr lang="en-US">
                                  <a:solidFill>
                                    <a:srgbClr val="000000"/>
                                  </a:solidFill>
                                  <a:effectLst/>
                                  <a:latin typeface="Cambria Math" panose="02040503050406030204" pitchFamily="18" charset="0"/>
                                  <a:ea typeface="Times New Roman" panose="02020603050405020304" pitchFamily="18" charset="0"/>
                                </a:rPr>
                                <m:t>min</m:t>
                              </m:r>
                            </m:e>
                            <m:lim>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lim>
                          </m:limLow>
                        </m:fName>
                        <m:e>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en-US" i="1">
                                  <a:solidFill>
                                    <a:srgbClr val="000000"/>
                                  </a:solidFill>
                                  <a:effectLst/>
                                  <a:latin typeface="Cambria Math" panose="02040503050406030204" pitchFamily="18" charset="0"/>
                                  <a:ea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rPr>
                                <m:t>=1</m:t>
                              </m:r>
                            </m:sub>
                            <m:sup>
                              <m:r>
                                <a:rPr lang="en-US" i="1">
                                  <a:solidFill>
                                    <a:srgbClr val="000000"/>
                                  </a:solidFill>
                                  <a:effectLst/>
                                  <a:latin typeface="Cambria Math" panose="02040503050406030204" pitchFamily="18" charset="0"/>
                                  <a:ea typeface="Times New Roman" panose="02020603050405020304" pitchFamily="18" charset="0"/>
                                </a:rPr>
                                <m:t>𝑁</m:t>
                              </m:r>
                            </m:sup>
                            <m:e>
                              <m:r>
                                <a:rPr lang="en-US" i="1">
                                  <a:solidFill>
                                    <a:srgbClr val="000000"/>
                                  </a:solidFill>
                                  <a:effectLst/>
                                  <a:latin typeface="Cambria Math" panose="02040503050406030204" pitchFamily="18" charset="0"/>
                                  <a:ea typeface="Times New Roman" panose="02020603050405020304" pitchFamily="18" charset="0"/>
                                </a:rPr>
                                <m:t>ℒ</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𝑦</m:t>
                                      </m:r>
                                    </m:e>
                                    <m:sub>
                                      <m:r>
                                        <a:rPr lang="en-US" i="1">
                                          <a:solidFill>
                                            <a:srgbClr val="000000"/>
                                          </a:solidFill>
                                          <a:effectLst/>
                                          <a:latin typeface="Cambria Math" panose="02040503050406030204" pitchFamily="18" charset="0"/>
                                          <a:ea typeface="Times New Roman" panose="02020603050405020304" pitchFamily="18" charset="0"/>
                                        </a:rPr>
                                        <m:t>𝑖</m:t>
                                      </m:r>
                                    </m:sub>
                                  </m:sSub>
                                  <m:r>
                                    <a:rPr lang="en-US"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𝑏</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e>
                                  </m:d>
                                </m:e>
                              </m:d>
                            </m:e>
                          </m:nary>
                        </m:e>
                      </m:func>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4" name="Прямоугольник 3"/>
              <p:cNvSpPr>
                <a:spLocks noRot="1" noChangeAspect="1" noMove="1" noResize="1" noEditPoints="1" noAdjustHandles="1" noChangeArrowheads="1" noChangeShapeType="1" noTextEdit="1"/>
              </p:cNvSpPr>
              <p:nvPr/>
            </p:nvSpPr>
            <p:spPr>
              <a:xfrm>
                <a:off x="429768" y="471278"/>
                <a:ext cx="10725912" cy="4621009"/>
              </a:xfrm>
              <a:prstGeom prst="rect">
                <a:avLst/>
              </a:prstGeom>
              <a:blipFill>
                <a:blip r:embed="rId2"/>
                <a:stretch>
                  <a:fillRect l="-512" r="-455"/>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Прямоугольник 4"/>
              <p:cNvSpPr/>
              <p:nvPr/>
            </p:nvSpPr>
            <p:spPr>
              <a:xfrm>
                <a:off x="329184" y="5092287"/>
                <a:ext cx="10927080" cy="922176"/>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Для построения базовых алгоритмов на следующих шагах рассмотрим разложение Тейлора функции потерь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ℒ</m:t>
                    </m:r>
                  </m:oMath>
                </a14:m>
                <a:r>
                  <a:rPr lang="ru-RU" dirty="0">
                    <a:solidFill>
                      <a:srgbClr val="000000"/>
                    </a:solidFill>
                    <a:effectLst/>
                    <a:latin typeface="Times New Roman" panose="02020603050405020304" pitchFamily="18" charset="0"/>
                    <a:ea typeface="Times New Roman" panose="02020603050405020304" pitchFamily="18" charset="0"/>
                  </a:rPr>
                  <a:t> до первого члена в окрестности точки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𝑦</m:t>
                                </m:r>
                              </m:e>
                              <m:sub>
                                <m:r>
                                  <a:rPr lang="en-US"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e>
                            </m:d>
                          </m:e>
                        </m:d>
                      </m:e>
                    </m:d>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329184" y="5092287"/>
                <a:ext cx="10927080" cy="922176"/>
              </a:xfrm>
              <a:prstGeom prst="rect">
                <a:avLst/>
              </a:prstGeom>
              <a:blipFill>
                <a:blip r:embed="rId3"/>
                <a:stretch>
                  <a:fillRect l="-446" r="-446" b="-1974"/>
                </a:stretch>
              </a:blipFill>
            </p:spPr>
            <p:txBody>
              <a:bodyPr/>
              <a:lstStyle/>
              <a:p>
                <a:r>
                  <a:rPr lang="ru-RU">
                    <a:noFill/>
                  </a:rPr>
                  <a:t> </a:t>
                </a:r>
              </a:p>
            </p:txBody>
          </p:sp>
        </mc:Fallback>
      </mc:AlternateContent>
      <p:pic>
        <p:nvPicPr>
          <p:cNvPr id="6" name="Рисунок 5"/>
          <p:cNvPicPr>
            <a:picLocks noChangeAspect="1"/>
          </p:cNvPicPr>
          <p:nvPr/>
        </p:nvPicPr>
        <p:blipFill>
          <a:blip r:embed="rId4"/>
          <a:stretch>
            <a:fillRect/>
          </a:stretch>
        </p:blipFill>
        <p:spPr>
          <a:xfrm>
            <a:off x="520963" y="6014463"/>
            <a:ext cx="6940086" cy="682017"/>
          </a:xfrm>
          <a:prstGeom prst="rect">
            <a:avLst/>
          </a:prstGeom>
        </p:spPr>
      </p:pic>
      <p:pic>
        <p:nvPicPr>
          <p:cNvPr id="7" name="Рисунок 6"/>
          <p:cNvPicPr>
            <a:picLocks noChangeAspect="1"/>
          </p:cNvPicPr>
          <p:nvPr/>
        </p:nvPicPr>
        <p:blipFill>
          <a:blip r:embed="rId5"/>
          <a:stretch>
            <a:fillRect/>
          </a:stretch>
        </p:blipFill>
        <p:spPr>
          <a:xfrm>
            <a:off x="7254126" y="6088946"/>
            <a:ext cx="3612891" cy="533049"/>
          </a:xfrm>
          <a:prstGeom prst="rect">
            <a:avLst/>
          </a:prstGeom>
        </p:spPr>
      </p:pic>
    </p:spTree>
    <p:extLst>
      <p:ext uri="{BB962C8B-B14F-4D97-AF65-F5344CB8AC3E}">
        <p14:creationId xmlns:p14="http://schemas.microsoft.com/office/powerpoint/2010/main" val="2441178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82296" y="530355"/>
                <a:ext cx="11137392" cy="2354362"/>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Избавившись от постоянных членов, мы получим следующую оптимизационную задачу:</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r>
                        <a:rPr lang="en-US"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𝑎𝑟𝑔</m:t>
                      </m:r>
                      <m:func>
                        <m:funcPr>
                          <m:ctrlPr>
                            <a:rPr lang="ru-RU" i="1">
                              <a:solidFill>
                                <a:srgbClr val="000000"/>
                              </a:solidFill>
                              <a:effectLst/>
                              <a:latin typeface="Cambria Math" panose="02040503050406030204" pitchFamily="18" charset="0"/>
                              <a:ea typeface="Times New Roman" panose="02020603050405020304" pitchFamily="18" charset="0"/>
                            </a:rPr>
                          </m:ctrlPr>
                        </m:funcPr>
                        <m:fName>
                          <m:limLow>
                            <m:limLowPr>
                              <m:ctrlPr>
                                <a:rPr lang="ru-RU" i="1">
                                  <a:solidFill>
                                    <a:srgbClr val="000000"/>
                                  </a:solidFill>
                                  <a:effectLst/>
                                  <a:latin typeface="Cambria Math" panose="02040503050406030204" pitchFamily="18" charset="0"/>
                                  <a:ea typeface="Times New Roman" panose="02020603050405020304" pitchFamily="18" charset="0"/>
                                </a:rPr>
                              </m:ctrlPr>
                            </m:limLowPr>
                            <m:e>
                              <m:r>
                                <m:rPr>
                                  <m:sty m:val="p"/>
                                </m:rPr>
                                <a:rPr lang="en-US">
                                  <a:solidFill>
                                    <a:srgbClr val="000000"/>
                                  </a:solidFill>
                                  <a:effectLst/>
                                  <a:latin typeface="Cambria Math" panose="02040503050406030204" pitchFamily="18" charset="0"/>
                                  <a:ea typeface="Times New Roman" panose="02020603050405020304" pitchFamily="18" charset="0"/>
                                </a:rPr>
                                <m:t>min</m:t>
                              </m:r>
                            </m:e>
                            <m:lim>
                              <m:r>
                                <a:rPr lang="ru-RU" i="1">
                                  <a:solidFill>
                                    <a:srgbClr val="000000"/>
                                  </a:solidFill>
                                  <a:effectLst/>
                                  <a:latin typeface="Cambria Math" panose="02040503050406030204" pitchFamily="18" charset="0"/>
                                  <a:ea typeface="Times New Roman" panose="02020603050405020304" pitchFamily="18" charset="0"/>
                                </a:rPr>
                                <m:t>𝑏</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ℬ</m:t>
                              </m:r>
                            </m:lim>
                          </m:limLow>
                        </m:fName>
                        <m:e>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en-US" i="1">
                                  <a:solidFill>
                                    <a:srgbClr val="000000"/>
                                  </a:solidFill>
                                  <a:effectLst/>
                                  <a:latin typeface="Cambria Math" panose="02040503050406030204" pitchFamily="18" charset="0"/>
                                  <a:ea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rPr>
                                <m:t>=1</m:t>
                              </m:r>
                            </m:sub>
                            <m:sup>
                              <m:r>
                                <a:rPr lang="en-US" i="1">
                                  <a:solidFill>
                                    <a:srgbClr val="000000"/>
                                  </a:solidFill>
                                  <a:effectLst/>
                                  <a:latin typeface="Cambria Math" panose="02040503050406030204" pitchFamily="18" charset="0"/>
                                  <a:ea typeface="Times New Roman" panose="02020603050405020304" pitchFamily="18" charset="0"/>
                                </a:rPr>
                                <m:t>𝑁</m:t>
                              </m:r>
                            </m:sup>
                            <m:e>
                              <m:r>
                                <a:rPr lang="ru-RU" i="1">
                                  <a:solidFill>
                                    <a:srgbClr val="000000"/>
                                  </a:solidFill>
                                  <a:effectLst/>
                                  <a:latin typeface="Cambria Math" panose="02040503050406030204" pitchFamily="18" charset="0"/>
                                  <a:ea typeface="Times New Roman" panose="02020603050405020304" pitchFamily="18" charset="0"/>
                                </a:rPr>
                                <m:t>𝑏</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e>
                              </m:d>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p>
                              </m:sSubSup>
                            </m:e>
                          </m:nary>
                        </m:e>
                      </m:func>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Поскольку суммируемое выражение – это скалярное произведение двух векторов, его значение минимизируют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𝑏</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e>
                    </m:d>
                  </m:oMath>
                </a14:m>
                <a:r>
                  <a:rPr lang="ru-RU" dirty="0">
                    <a:solidFill>
                      <a:srgbClr val="000000"/>
                    </a:solidFill>
                    <a:effectLst/>
                    <a:latin typeface="Times New Roman" panose="02020603050405020304" pitchFamily="18" charset="0"/>
                    <a:ea typeface="Times New Roman" panose="02020603050405020304" pitchFamily="18" charset="0"/>
                  </a:rPr>
                  <a:t>, пропорциональные значениям – </a:t>
                </a:r>
                <a14:m>
                  <m:oMath xmlns:m="http://schemas.openxmlformats.org/officeDocument/2006/math">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p>
                    </m:sSubSup>
                  </m:oMath>
                </a14:m>
                <a:r>
                  <a:rPr lang="ru-RU" dirty="0">
                    <a:solidFill>
                      <a:srgbClr val="000000"/>
                    </a:solidFill>
                    <a:effectLst/>
                    <a:latin typeface="Times New Roman" panose="02020603050405020304" pitchFamily="18" charset="0"/>
                    <a:ea typeface="Times New Roman" panose="02020603050405020304" pitchFamily="18" charset="0"/>
                  </a:rPr>
                  <a:t>. Поэтому на каждой итерации базовые алгоритмы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oMath>
                </a14:m>
                <a:r>
                  <a:rPr lang="ru-RU" dirty="0">
                    <a:solidFill>
                      <a:srgbClr val="000000"/>
                    </a:solidFill>
                    <a:effectLst/>
                    <a:latin typeface="Times New Roman" panose="02020603050405020304" pitchFamily="18" charset="0"/>
                    <a:ea typeface="Times New Roman" panose="02020603050405020304" pitchFamily="18" charset="0"/>
                  </a:rPr>
                  <a:t> обучаются предсказывать значения антиградиента функции потерь по текущим предсказаниям композиции.</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82296" y="530355"/>
                <a:ext cx="11137392" cy="2354362"/>
              </a:xfrm>
              <a:prstGeom prst="rect">
                <a:avLst/>
              </a:prstGeom>
              <a:blipFill>
                <a:blip r:embed="rId2"/>
                <a:stretch>
                  <a:fillRect l="-493" r="-438" b="-3368"/>
                </a:stretch>
              </a:blipFill>
            </p:spPr>
            <p:txBody>
              <a:bodyPr/>
              <a:lstStyle/>
              <a:p>
                <a:r>
                  <a:rPr lang="ru-RU">
                    <a:noFill/>
                  </a:rPr>
                  <a:t> </a:t>
                </a:r>
              </a:p>
            </p:txBody>
          </p:sp>
        </mc:Fallback>
      </mc:AlternateContent>
      <p:sp>
        <p:nvSpPr>
          <p:cNvPr id="3" name="Прямоугольник 2"/>
          <p:cNvSpPr/>
          <p:nvPr/>
        </p:nvSpPr>
        <p:spPr>
          <a:xfrm>
            <a:off x="475152" y="2602248"/>
            <a:ext cx="3707040" cy="424732"/>
          </a:xfrm>
          <a:prstGeom prst="rect">
            <a:avLst/>
          </a:prstGeom>
        </p:spPr>
        <p:txBody>
          <a:bodyPr wrap="none">
            <a:spAutoFit/>
          </a:bodyPr>
          <a:lstStyle/>
          <a:p>
            <a:pPr indent="457200" algn="just">
              <a:lnSpc>
                <a:spcPct val="120000"/>
              </a:lnSpc>
              <a:spcAft>
                <a:spcPts val="0"/>
              </a:spcAft>
            </a:pPr>
            <a:r>
              <a:rPr lang="ru-RU" b="1" i="1" dirty="0">
                <a:solidFill>
                  <a:srgbClr val="000000"/>
                </a:solidFill>
                <a:latin typeface="Times New Roman" panose="02020603050405020304" pitchFamily="18" charset="0"/>
                <a:ea typeface="Times New Roman" panose="02020603050405020304" pitchFamily="18" charset="0"/>
              </a:rPr>
              <a:t>Обучение базового алгоритма</a:t>
            </a:r>
            <a:endParaRPr lang="ru-RU" dirty="0">
              <a:solidFill>
                <a:srgbClr val="000000"/>
              </a:solidFill>
              <a:effectLst/>
              <a:latin typeface="Times New Roman" panose="02020603050405020304" pitchFamily="18" charset="0"/>
              <a:ea typeface="Calibri" panose="020F0502020204030204" pitchFamily="34" charset="0"/>
            </a:endParaRPr>
          </a:p>
        </p:txBody>
      </p:sp>
      <mc:AlternateContent xmlns:mc="http://schemas.openxmlformats.org/markup-compatibility/2006">
        <mc:Choice xmlns:a14="http://schemas.microsoft.com/office/drawing/2010/main" Requires="a14">
          <p:sp>
            <p:nvSpPr>
              <p:cNvPr id="4" name="Прямоугольник 3"/>
              <p:cNvSpPr/>
              <p:nvPr/>
            </p:nvSpPr>
            <p:spPr>
              <a:xfrm>
                <a:off x="475152" y="2995035"/>
                <a:ext cx="11064576" cy="757130"/>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При построении очередного базового алгоритма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r>
                          <a:rPr lang="ru-RU" i="1">
                            <a:solidFill>
                              <a:srgbClr val="000000"/>
                            </a:solidFill>
                            <a:effectLst/>
                            <a:latin typeface="Cambria Math" panose="02040503050406030204" pitchFamily="18" charset="0"/>
                            <a:ea typeface="Times New Roman" panose="02020603050405020304" pitchFamily="18" charset="0"/>
                          </a:rPr>
                          <m:t>+1</m:t>
                        </m:r>
                      </m:sub>
                    </m:sSub>
                  </m:oMath>
                </a14:m>
                <a:r>
                  <a:rPr lang="ru-RU" dirty="0">
                    <a:solidFill>
                      <a:srgbClr val="000000"/>
                    </a:solidFill>
                    <a:effectLst/>
                    <a:latin typeface="Times New Roman" panose="02020603050405020304" pitchFamily="18" charset="0"/>
                    <a:ea typeface="Times New Roman" panose="02020603050405020304" pitchFamily="18" charset="0"/>
                  </a:rPr>
                  <a:t> мы решаем задачу регрессии с </a:t>
                </a:r>
                <a:r>
                  <a:rPr lang="ru-RU" dirty="0" err="1">
                    <a:solidFill>
                      <a:srgbClr val="000000"/>
                    </a:solidFill>
                    <a:effectLst/>
                    <a:latin typeface="Times New Roman" panose="02020603050405020304" pitchFamily="18" charset="0"/>
                    <a:ea typeface="Times New Roman" panose="02020603050405020304" pitchFamily="18" charset="0"/>
                  </a:rPr>
                  <a:t>таргетом</a:t>
                </a:r>
                <a:r>
                  <a:rPr lang="ru-RU" dirty="0">
                    <a:solidFill>
                      <a:srgbClr val="000000"/>
                    </a:solidFill>
                    <a:effectLst/>
                    <a:latin typeface="Times New Roman" panose="02020603050405020304" pitchFamily="18" charset="0"/>
                    <a:ea typeface="Times New Roman" panose="02020603050405020304" pitchFamily="18" charset="0"/>
                  </a:rPr>
                  <a:t>, равным антиградиенту функции потерь исходной задачи на предсказании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ru-RU" i="1">
                            <a:solidFill>
                              <a:srgbClr val="000000"/>
                            </a:solidFill>
                            <a:effectLst/>
                            <a:latin typeface="Cambria Math" panose="02040503050406030204" pitchFamily="18" charset="0"/>
                            <a:ea typeface="Times New Roman" panose="02020603050405020304" pitchFamily="18" charset="0"/>
                          </a:rPr>
                          <m:t>1</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sub>
                    </m:sSub>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4" name="Прямоугольник 3"/>
              <p:cNvSpPr>
                <a:spLocks noRot="1" noChangeAspect="1" noMove="1" noResize="1" noEditPoints="1" noAdjustHandles="1" noChangeArrowheads="1" noChangeShapeType="1" noTextEdit="1"/>
              </p:cNvSpPr>
              <p:nvPr/>
            </p:nvSpPr>
            <p:spPr>
              <a:xfrm>
                <a:off x="475152" y="2995035"/>
                <a:ext cx="11064576" cy="757130"/>
              </a:xfrm>
              <a:prstGeom prst="rect">
                <a:avLst/>
              </a:prstGeom>
              <a:blipFill>
                <a:blip r:embed="rId3"/>
                <a:stretch>
                  <a:fillRect l="-496" r="-441" b="-8000"/>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Прямоугольник 4"/>
              <p:cNvSpPr/>
              <p:nvPr/>
            </p:nvSpPr>
            <p:spPr>
              <a:xfrm>
                <a:off x="603168" y="3862483"/>
                <a:ext cx="10808544" cy="2193806"/>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Теоретически можно воспользоваться любым методом построения регрессионного дерева. Важно выбрать оценочную функцию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𝑆</m:t>
                    </m:r>
                  </m:oMath>
                </a14:m>
                <a:r>
                  <a:rPr lang="ru-RU" dirty="0">
                    <a:solidFill>
                      <a:srgbClr val="000000"/>
                    </a:solidFill>
                    <a:effectLst/>
                    <a:latin typeface="Times New Roman" panose="02020603050405020304" pitchFamily="18" charset="0"/>
                    <a:ea typeface="Times New Roman" panose="02020603050405020304" pitchFamily="18" charset="0"/>
                  </a:rPr>
                  <a:t>, которая будет показывать, насколько текущая структура дерева хорошо приближает антиградиент. Её нужно будет использовать для построения критерия ветвления:</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𝑅</m:t>
                          </m:r>
                        </m:e>
                      </m:d>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𝑆</m:t>
                      </m:r>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𝑅</m:t>
                          </m:r>
                        </m:e>
                      </m:d>
                      <m:r>
                        <a:rPr lang="en-US" i="1">
                          <a:solidFill>
                            <a:srgbClr val="000000"/>
                          </a:solidFill>
                          <a:effectLst/>
                          <a:latin typeface="Cambria Math" panose="02040503050406030204" pitchFamily="18" charset="0"/>
                          <a:ea typeface="Times New Roman" panose="02020603050405020304" pitchFamily="18" charset="0"/>
                        </a:rPr>
                        <m:t>−</m:t>
                      </m:r>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𝑅</m:t>
                              </m:r>
                            </m:e>
                            <m:sub>
                              <m:r>
                                <a:rPr lang="ru-RU" i="1">
                                  <a:solidFill>
                                    <a:srgbClr val="000000"/>
                                  </a:solidFill>
                                  <a:effectLst/>
                                  <a:latin typeface="Cambria Math" panose="02040503050406030204" pitchFamily="18" charset="0"/>
                                  <a:ea typeface="Times New Roman" panose="02020603050405020304" pitchFamily="18" charset="0"/>
                                </a:rPr>
                                <m:t>прав</m:t>
                              </m:r>
                            </m:sub>
                          </m:sSub>
                        </m:e>
                      </m:d>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𝑆</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𝑅</m:t>
                              </m:r>
                            </m:e>
                            <m:sub>
                              <m:r>
                                <a:rPr lang="en-US" i="1">
                                  <a:solidFill>
                                    <a:srgbClr val="000000"/>
                                  </a:solidFill>
                                  <a:effectLst/>
                                  <a:latin typeface="Cambria Math" panose="02040503050406030204" pitchFamily="18" charset="0"/>
                                  <a:ea typeface="Times New Roman" panose="02020603050405020304" pitchFamily="18" charset="0"/>
                                </a:rPr>
                                <m:t>прав</m:t>
                              </m:r>
                            </m:sub>
                          </m:sSub>
                        </m:e>
                      </m:d>
                      <m:r>
                        <a:rPr lang="en-US" i="1">
                          <a:solidFill>
                            <a:srgbClr val="000000"/>
                          </a:solidFill>
                          <a:effectLst/>
                          <a:latin typeface="Cambria Math" panose="02040503050406030204" pitchFamily="18" charset="0"/>
                          <a:ea typeface="Times New Roman" panose="02020603050405020304" pitchFamily="18" charset="0"/>
                        </a:rPr>
                        <m:t>−</m:t>
                      </m:r>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𝑅</m:t>
                              </m:r>
                            </m:e>
                            <m:sub>
                              <m:r>
                                <a:rPr lang="ru-RU" i="1">
                                  <a:solidFill>
                                    <a:srgbClr val="000000"/>
                                  </a:solidFill>
                                  <a:effectLst/>
                                  <a:latin typeface="Cambria Math" panose="02040503050406030204" pitchFamily="18" charset="0"/>
                                  <a:ea typeface="Times New Roman" panose="02020603050405020304" pitchFamily="18" charset="0"/>
                                </a:rPr>
                                <m:t>лев</m:t>
                              </m:r>
                            </m:sub>
                          </m:sSub>
                        </m:e>
                      </m:d>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𝑆</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𝑅</m:t>
                              </m:r>
                            </m:e>
                            <m:sub>
                              <m:r>
                                <a:rPr lang="en-US" i="1">
                                  <a:solidFill>
                                    <a:srgbClr val="000000"/>
                                  </a:solidFill>
                                  <a:effectLst/>
                                  <a:latin typeface="Cambria Math" panose="02040503050406030204" pitchFamily="18" charset="0"/>
                                  <a:ea typeface="Times New Roman" panose="02020603050405020304" pitchFamily="18" charset="0"/>
                                </a:rPr>
                                <m:t>лев</m:t>
                              </m:r>
                            </m:sub>
                          </m:sSub>
                        </m:e>
                      </m:d>
                      <m:r>
                        <a:rPr lang="en-US"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𝑚𝑎𝑥</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где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𝑆</m:t>
                    </m:r>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𝑅</m:t>
                        </m:r>
                      </m:e>
                    </m:d>
                  </m:oMath>
                </a14:m>
                <a:r>
                  <a:rPr lang="ru-RU" dirty="0">
                    <a:solidFill>
                      <a:srgbClr val="000000"/>
                    </a:solidFill>
                    <a:effectLst/>
                    <a:latin typeface="Times New Roman" panose="02020603050405020304" pitchFamily="18" charset="0"/>
                    <a:ea typeface="Times New Roman" panose="02020603050405020304" pitchFamily="18" charset="0"/>
                  </a:rPr>
                  <a:t> – значение функции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𝑆</m:t>
                    </m:r>
                  </m:oMath>
                </a14:m>
                <a:r>
                  <a:rPr lang="ru-RU" dirty="0">
                    <a:solidFill>
                      <a:srgbClr val="000000"/>
                    </a:solidFill>
                    <a:effectLst/>
                    <a:latin typeface="Times New Roman" panose="02020603050405020304" pitchFamily="18" charset="0"/>
                    <a:ea typeface="Times New Roman" panose="02020603050405020304" pitchFamily="18" charset="0"/>
                  </a:rPr>
                  <a:t> в вершине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𝑅</m:t>
                    </m:r>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𝑆</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𝑅</m:t>
                            </m:r>
                          </m:e>
                          <m:sub>
                            <m:r>
                              <a:rPr lang="ru-RU" i="1">
                                <a:solidFill>
                                  <a:srgbClr val="000000"/>
                                </a:solidFill>
                                <a:effectLst/>
                                <a:latin typeface="Cambria Math" panose="02040503050406030204" pitchFamily="18" charset="0"/>
                                <a:ea typeface="Times New Roman" panose="02020603050405020304" pitchFamily="18" charset="0"/>
                              </a:rPr>
                              <m:t>прав</m:t>
                            </m:r>
                          </m:sub>
                        </m:sSub>
                      </m:e>
                    </m:d>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𝑆</m:t>
                    </m:r>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𝑅</m:t>
                            </m:r>
                          </m:e>
                          <m:sub>
                            <m:r>
                              <a:rPr lang="ru-RU" i="1">
                                <a:solidFill>
                                  <a:srgbClr val="000000"/>
                                </a:solidFill>
                                <a:effectLst/>
                                <a:latin typeface="Cambria Math" panose="02040503050406030204" pitchFamily="18" charset="0"/>
                                <a:ea typeface="Times New Roman" panose="02020603050405020304" pitchFamily="18" charset="0"/>
                              </a:rPr>
                              <m:t>лев</m:t>
                            </m:r>
                          </m:sub>
                        </m:sSub>
                      </m:e>
                    </m:d>
                  </m:oMath>
                </a14:m>
                <a:r>
                  <a:rPr lang="ru-RU" dirty="0">
                    <a:solidFill>
                      <a:srgbClr val="000000"/>
                    </a:solidFill>
                    <a:effectLst/>
                    <a:latin typeface="Times New Roman" panose="02020603050405020304" pitchFamily="18" charset="0"/>
                    <a:ea typeface="Times New Roman" panose="02020603050405020304" pitchFamily="18" charset="0"/>
                  </a:rPr>
                  <a:t> – значения в левом и правом сыновьях потомке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𝑅</m:t>
                    </m:r>
                  </m:oMath>
                </a14:m>
                <a:r>
                  <a:rPr lang="ru-RU" dirty="0">
                    <a:solidFill>
                      <a:srgbClr val="000000"/>
                    </a:solidFill>
                    <a:effectLst/>
                    <a:latin typeface="Times New Roman" panose="02020603050405020304" pitchFamily="18" charset="0"/>
                    <a:ea typeface="Times New Roman" panose="02020603050405020304" pitchFamily="18" charset="0"/>
                  </a:rPr>
                  <a:t> после добавления предиката, </a:t>
                </a:r>
                <a14:m>
                  <m:oMath xmlns:m="http://schemas.openxmlformats.org/officeDocument/2006/math">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   ,</m:t>
                        </m:r>
                      </m:e>
                    </m:d>
                  </m:oMath>
                </a14:m>
                <a:r>
                  <a:rPr lang="ru-RU" dirty="0">
                    <a:solidFill>
                      <a:srgbClr val="000000"/>
                    </a:solidFill>
                    <a:effectLst/>
                    <a:latin typeface="Times New Roman" panose="02020603050405020304" pitchFamily="18" charset="0"/>
                    <a:ea typeface="Times New Roman" panose="02020603050405020304" pitchFamily="18" charset="0"/>
                  </a:rPr>
                  <a:t> – количество элементов, пришедших в вершину.</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603168" y="3862483"/>
                <a:ext cx="10808544" cy="2193806"/>
              </a:xfrm>
              <a:prstGeom prst="rect">
                <a:avLst/>
              </a:prstGeom>
              <a:blipFill>
                <a:blip r:embed="rId4"/>
                <a:stretch>
                  <a:fillRect l="-508" t="-279" r="-451" b="-2507"/>
                </a:stretch>
              </a:blipFill>
            </p:spPr>
            <p:txBody>
              <a:bodyPr/>
              <a:lstStyle/>
              <a:p>
                <a:r>
                  <a:rPr lang="ru-RU">
                    <a:noFill/>
                  </a:rPr>
                  <a:t> </a:t>
                </a:r>
              </a:p>
            </p:txBody>
          </p:sp>
        </mc:Fallback>
      </mc:AlternateContent>
    </p:spTree>
    <p:extLst>
      <p:ext uri="{BB962C8B-B14F-4D97-AF65-F5344CB8AC3E}">
        <p14:creationId xmlns:p14="http://schemas.microsoft.com/office/powerpoint/2010/main" val="2000724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201168" y="224267"/>
                <a:ext cx="11292840" cy="2277290"/>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Например, можно использовать следующие оценочные функции:</a:t>
                </a:r>
                <a:endParaRPr lang="ru-RU" dirty="0">
                  <a:solidFill>
                    <a:srgbClr val="000000"/>
                  </a:solidFill>
                  <a:effectLst/>
                  <a:latin typeface="Times New Roman" panose="02020603050405020304" pitchFamily="18" charset="0"/>
                  <a:ea typeface="Calibri" panose="020F0502020204030204" pitchFamily="34" charset="0"/>
                </a:endParaRPr>
              </a:p>
              <a:p>
                <a:pPr indent="457200" algn="ctr">
                  <a:lnSpc>
                    <a:spcPct val="120000"/>
                  </a:lnSpc>
                  <a:spcAft>
                    <a:spcPts val="0"/>
                  </a:spcAft>
                </a:pP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𝐿</m:t>
                        </m:r>
                      </m:e>
                      <m:sub>
                        <m:r>
                          <a:rPr lang="ru-RU"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𝑔</m:t>
                        </m:r>
                        <m:r>
                          <a:rPr lang="ru-RU" i="1">
                            <a:solidFill>
                              <a:srgbClr val="000000"/>
                            </a:solidFill>
                            <a:effectLst/>
                            <a:latin typeface="Cambria Math" panose="02040503050406030204" pitchFamily="18" charset="0"/>
                            <a:ea typeface="Times New Roman" panose="02020603050405020304" pitchFamily="18" charset="0"/>
                          </a:rPr>
                          <m:t>,</m:t>
                        </m:r>
                        <m:r>
                          <a:rPr lang="ru-RU" i="1">
                            <a:solidFill>
                              <a:srgbClr val="000000"/>
                            </a:solidFill>
                            <a:effectLst/>
                            <a:latin typeface="Cambria Math" panose="02040503050406030204" pitchFamily="18" charset="0"/>
                            <a:ea typeface="Times New Roman" panose="02020603050405020304" pitchFamily="18" charset="0"/>
                          </a:rPr>
                          <m:t>𝑝</m:t>
                        </m:r>
                      </m:e>
                    </m:d>
                    <m:r>
                      <a:rPr lang="ru-RU" i="1">
                        <a:solidFill>
                          <a:srgbClr val="000000"/>
                        </a:solidFill>
                        <a:effectLst/>
                        <a:latin typeface="Cambria Math" panose="02040503050406030204" pitchFamily="18" charset="0"/>
                        <a:ea typeface="Times New Roman" panose="02020603050405020304" pitchFamily="18" charset="0"/>
                      </a:rPr>
                      <m:t>=</m:t>
                    </m:r>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𝑁</m:t>
                        </m:r>
                      </m:sup>
                      <m:e>
                        <m:sSup>
                          <m:sSupPr>
                            <m:ctrlPr>
                              <a:rPr lang="ru-RU" i="1">
                                <a:solidFill>
                                  <a:srgbClr val="000000"/>
                                </a:solidFill>
                                <a:effectLst/>
                                <a:latin typeface="Cambria Math" panose="02040503050406030204" pitchFamily="18" charset="0"/>
                                <a:ea typeface="Times New Roman" panose="02020603050405020304" pitchFamily="18" charset="0"/>
                              </a:rPr>
                            </m:ctrlPr>
                          </m:sSupPr>
                          <m:e>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𝑝</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Sub>
                              </m:e>
                            </m:d>
                          </m:e>
                          <m:sup>
                            <m:r>
                              <a:rPr lang="ru-RU" i="1">
                                <a:solidFill>
                                  <a:srgbClr val="000000"/>
                                </a:solidFill>
                                <a:effectLst/>
                                <a:latin typeface="Cambria Math" panose="02040503050406030204" pitchFamily="18" charset="0"/>
                                <a:ea typeface="Times New Roman" panose="02020603050405020304" pitchFamily="18" charset="0"/>
                              </a:rPr>
                              <m:t>2</m:t>
                            </m:r>
                          </m:sup>
                        </m:sSup>
                      </m:e>
                    </m:nary>
                  </m:oMath>
                </a14:m>
                <a:r>
                  <a:rPr lang="ru-RU"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𝐶𝑜𝑠</m:t>
                    </m:r>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𝑔</m:t>
                    </m:r>
                    <m:r>
                      <a:rPr lang="ru-RU" i="1">
                        <a:solidFill>
                          <a:srgbClr val="000000"/>
                        </a:solidFill>
                        <a:effectLst/>
                        <a:latin typeface="Cambria Math" panose="02040503050406030204" pitchFamily="18" charset="0"/>
                        <a:ea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rPr>
                      <m:t>𝑝</m:t>
                    </m:r>
                    <m:r>
                      <a:rPr lang="ru-RU" i="1">
                        <a:solidFill>
                          <a:srgbClr val="000000"/>
                        </a:solidFill>
                        <a:effectLst/>
                        <a:latin typeface="Cambria Math" panose="02040503050406030204" pitchFamily="18" charset="0"/>
                        <a:ea typeface="Times New Roman" panose="02020603050405020304" pitchFamily="18" charset="0"/>
                      </a:rPr>
                      <m:t>)=−</m:t>
                    </m:r>
                    <m:f>
                      <m:fPr>
                        <m:ctrlPr>
                          <a:rPr lang="ru-RU" i="1">
                            <a:solidFill>
                              <a:srgbClr val="000000"/>
                            </a:solidFill>
                            <a:effectLst/>
                            <a:latin typeface="Cambria Math" panose="02040503050406030204" pitchFamily="18" charset="0"/>
                            <a:ea typeface="Times New Roman" panose="02020603050405020304" pitchFamily="18" charset="0"/>
                          </a:rPr>
                        </m:ctrlPr>
                      </m:fPr>
                      <m:num>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𝑁</m:t>
                            </m:r>
                          </m:sup>
                          <m:e>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𝑝</m:t>
                                    </m:r>
                                  </m:e>
                                  <m:sub>
                                    <m:r>
                                      <a:rPr lang="ru-RU"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Sub>
                              </m:e>
                            </m:d>
                          </m:e>
                        </m:nary>
                      </m:num>
                      <m:den>
                        <m:rad>
                          <m:radPr>
                            <m:degHide m:val="on"/>
                            <m:ctrlPr>
                              <a:rPr lang="ru-RU" i="1">
                                <a:solidFill>
                                  <a:srgbClr val="000000"/>
                                </a:solidFill>
                                <a:effectLst/>
                                <a:latin typeface="Cambria Math" panose="02040503050406030204" pitchFamily="18" charset="0"/>
                                <a:ea typeface="Times New Roman" panose="02020603050405020304" pitchFamily="18" charset="0"/>
                              </a:rPr>
                            </m:ctrlPr>
                          </m:radPr>
                          <m:deg/>
                          <m:e>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𝑁</m:t>
                                </m:r>
                              </m:sup>
                              <m:e>
                                <m:d>
                                  <m:dPr>
                                    <m:ctrlPr>
                                      <a:rPr lang="ru-RU" i="1">
                                        <a:solidFill>
                                          <a:srgbClr val="000000"/>
                                        </a:solidFill>
                                        <a:effectLst/>
                                        <a:latin typeface="Cambria Math" panose="02040503050406030204" pitchFamily="18" charset="0"/>
                                        <a:ea typeface="Times New Roman" panose="02020603050405020304" pitchFamily="18" charset="0"/>
                                      </a:rPr>
                                    </m:ctrlPr>
                                  </m:dPr>
                                  <m:e>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𝑝</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2</m:t>
                                        </m:r>
                                      </m:sup>
                                    </m:sSubSup>
                                  </m:e>
                                </m:d>
                              </m:e>
                            </m:nary>
                          </m:e>
                        </m:rad>
                        <m:r>
                          <a:rPr lang="ru-RU" i="1">
                            <a:solidFill>
                              <a:srgbClr val="000000"/>
                            </a:solidFill>
                            <a:effectLst/>
                            <a:latin typeface="Cambria Math" panose="02040503050406030204" pitchFamily="18" charset="0"/>
                            <a:ea typeface="Times New Roman" panose="02020603050405020304" pitchFamily="18" charset="0"/>
                          </a:rPr>
                          <m:t>×</m:t>
                        </m:r>
                        <m:rad>
                          <m:radPr>
                            <m:degHide m:val="on"/>
                            <m:ctrlPr>
                              <a:rPr lang="ru-RU" i="1">
                                <a:solidFill>
                                  <a:srgbClr val="000000"/>
                                </a:solidFill>
                                <a:effectLst/>
                                <a:latin typeface="Cambria Math" panose="02040503050406030204" pitchFamily="18" charset="0"/>
                                <a:ea typeface="Times New Roman" panose="02020603050405020304" pitchFamily="18" charset="0"/>
                              </a:rPr>
                            </m:ctrlPr>
                          </m:radPr>
                          <m:deg/>
                          <m:e>
                            <m:nary>
                              <m:naryPr>
                                <m:chr m:val="∑"/>
                                <m:limLoc m:val="undOvr"/>
                                <m:ctrlPr>
                                  <a:rPr lang="ru-RU" i="1">
                                    <a:solidFill>
                                      <a:srgbClr val="000000"/>
                                    </a:solidFill>
                                    <a:effectLst/>
                                    <a:latin typeface="Cambria Math" panose="02040503050406030204" pitchFamily="18" charset="0"/>
                                    <a:ea typeface="Times New Roman" panose="02020603050405020304" pitchFamily="18" charset="0"/>
                                  </a:rPr>
                                </m:ctrlPr>
                              </m:naryPr>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𝑁</m:t>
                                </m:r>
                              </m:sup>
                              <m:e>
                                <m:d>
                                  <m:dPr>
                                    <m:ctrlPr>
                                      <a:rPr lang="ru-RU" i="1">
                                        <a:solidFill>
                                          <a:srgbClr val="000000"/>
                                        </a:solidFill>
                                        <a:effectLst/>
                                        <a:latin typeface="Cambria Math" panose="02040503050406030204" pitchFamily="18" charset="0"/>
                                        <a:ea typeface="Times New Roman" panose="02020603050405020304" pitchFamily="18" charset="0"/>
                                      </a:rPr>
                                    </m:ctrlPr>
                                  </m:dPr>
                                  <m:e>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up>
                                        <m:r>
                                          <a:rPr lang="ru-RU" i="1">
                                            <a:solidFill>
                                              <a:srgbClr val="000000"/>
                                            </a:solidFill>
                                            <a:effectLst/>
                                            <a:latin typeface="Cambria Math" panose="02040503050406030204" pitchFamily="18" charset="0"/>
                                            <a:ea typeface="Times New Roman" panose="02020603050405020304" pitchFamily="18" charset="0"/>
                                          </a:rPr>
                                          <m:t>2</m:t>
                                        </m:r>
                                      </m:sup>
                                    </m:sSubSup>
                                  </m:e>
                                </m:d>
                              </m:e>
                            </m:nary>
                          </m:e>
                        </m:rad>
                      </m:den>
                    </m:f>
                  </m:oMath>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где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𝑝</m:t>
                        </m:r>
                      </m:e>
                      <m:sub>
                        <m:r>
                          <a:rPr lang="ru-RU" i="1">
                            <a:solidFill>
                              <a:srgbClr val="000000"/>
                            </a:solidFill>
                            <a:effectLst/>
                            <a:latin typeface="Cambria Math" panose="02040503050406030204" pitchFamily="18" charset="0"/>
                            <a:ea typeface="Times New Roman" panose="02020603050405020304" pitchFamily="18" charset="0"/>
                          </a:rPr>
                          <m:t>𝑖</m:t>
                        </m:r>
                      </m:sub>
                    </m:sSub>
                  </m:oMath>
                </a14:m>
                <a:r>
                  <a:rPr lang="ru-RU" dirty="0">
                    <a:solidFill>
                      <a:srgbClr val="000000"/>
                    </a:solidFill>
                    <a:effectLst/>
                    <a:latin typeface="Times New Roman" panose="02020603050405020304" pitchFamily="18" charset="0"/>
                    <a:ea typeface="Times New Roman" panose="02020603050405020304" pitchFamily="18" charset="0"/>
                  </a:rPr>
                  <a:t> – предсказание дерева на объекте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oMath>
                </a14:m>
                <a:r>
                  <a:rPr lang="ru-RU"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Sub>
                  </m:oMath>
                </a14:m>
                <a:r>
                  <a:rPr lang="ru-RU" dirty="0">
                    <a:solidFill>
                      <a:srgbClr val="000000"/>
                    </a:solidFill>
                    <a:effectLst/>
                    <a:latin typeface="Times New Roman" panose="02020603050405020304" pitchFamily="18" charset="0"/>
                    <a:ea typeface="Times New Roman" panose="02020603050405020304" pitchFamily="18" charset="0"/>
                  </a:rPr>
                  <a:t> – антиградиент, на который учится дерево,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𝑝</m:t>
                    </m:r>
                    <m:r>
                      <a:rPr lang="ru-RU" i="1">
                        <a:solidFill>
                          <a:srgbClr val="000000"/>
                        </a:solidFill>
                        <a:effectLst/>
                        <a:latin typeface="Cambria Math" panose="02040503050406030204" pitchFamily="18" charset="0"/>
                        <a:ea typeface="Times New Roman" panose="02020603050405020304" pitchFamily="18" charset="0"/>
                      </a:rPr>
                      <m:t>=</m:t>
                    </m:r>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𝑝</m:t>
                                </m:r>
                              </m:e>
                              <m:sub>
                                <m:r>
                                  <a:rPr lang="ru-RU" i="1">
                                    <a:solidFill>
                                      <a:srgbClr val="000000"/>
                                    </a:solidFill>
                                    <a:effectLst/>
                                    <a:latin typeface="Cambria Math" panose="02040503050406030204" pitchFamily="18" charset="0"/>
                                    <a:ea typeface="Times New Roman" panose="02020603050405020304" pitchFamily="18" charset="0"/>
                                  </a:rPr>
                                  <m:t>𝑖</m:t>
                                </m:r>
                              </m:sub>
                            </m:sSub>
                          </m:e>
                        </m:d>
                      </m:e>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𝑁</m:t>
                        </m:r>
                      </m:sup>
                    </m:sSubSup>
                  </m:oMath>
                </a14:m>
                <a:r>
                  <a:rPr lang="ru-RU"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𝑔</m:t>
                    </m:r>
                    <m:r>
                      <a:rPr lang="ru-RU" i="1">
                        <a:solidFill>
                          <a:srgbClr val="000000"/>
                        </a:solidFill>
                        <a:effectLst/>
                        <a:latin typeface="Cambria Math" panose="02040503050406030204" pitchFamily="18" charset="0"/>
                        <a:ea typeface="Times New Roman" panose="02020603050405020304" pitchFamily="18" charset="0"/>
                      </a:rPr>
                      <m:t>=</m:t>
                    </m:r>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𝑔</m:t>
                                </m:r>
                              </m:e>
                              <m:sub>
                                <m:r>
                                  <a:rPr lang="ru-RU" i="1">
                                    <a:solidFill>
                                      <a:srgbClr val="000000"/>
                                    </a:solidFill>
                                    <a:effectLst/>
                                    <a:latin typeface="Cambria Math" panose="02040503050406030204" pitchFamily="18" charset="0"/>
                                    <a:ea typeface="Times New Roman" panose="02020603050405020304" pitchFamily="18" charset="0"/>
                                  </a:rPr>
                                  <m:t>𝑖</m:t>
                                </m:r>
                              </m:sub>
                            </m:sSub>
                          </m:e>
                        </m:d>
                      </m:e>
                      <m:sub>
                        <m:r>
                          <a:rPr lang="ru-RU" i="1">
                            <a:solidFill>
                              <a:srgbClr val="000000"/>
                            </a:solidFill>
                            <a:effectLst/>
                            <a:latin typeface="Cambria Math" panose="02040503050406030204" pitchFamily="18" charset="0"/>
                            <a:ea typeface="Times New Roman" panose="02020603050405020304" pitchFamily="18" charset="0"/>
                          </a:rPr>
                          <m:t>𝑖</m:t>
                        </m:r>
                        <m:r>
                          <a:rPr lang="ru-RU" i="1">
                            <a:solidFill>
                              <a:srgbClr val="000000"/>
                            </a:solidFill>
                            <a:effectLst/>
                            <a:latin typeface="Cambria Math" panose="02040503050406030204" pitchFamily="18" charset="0"/>
                            <a:ea typeface="Times New Roman" panose="02020603050405020304" pitchFamily="18" charset="0"/>
                          </a:rPr>
                          <m:t>=1</m:t>
                        </m:r>
                      </m:sub>
                      <m:sup>
                        <m:r>
                          <a:rPr lang="ru-RU" i="1">
                            <a:solidFill>
                              <a:srgbClr val="000000"/>
                            </a:solidFill>
                            <a:effectLst/>
                            <a:latin typeface="Cambria Math" panose="02040503050406030204" pitchFamily="18" charset="0"/>
                            <a:ea typeface="Times New Roman" panose="02020603050405020304" pitchFamily="18" charset="0"/>
                          </a:rPr>
                          <m:t>𝑁</m:t>
                        </m:r>
                      </m:sup>
                    </m:sSubSup>
                  </m:oMath>
                </a14:m>
                <a:r>
                  <a:rPr lang="ru-RU" dirty="0">
                    <a:solidFill>
                      <a:srgbClr val="000000"/>
                    </a:solidFill>
                    <a:effectLst/>
                    <a:latin typeface="Times New Roman" panose="02020603050405020304" pitchFamily="18" charset="0"/>
                    <a:ea typeface="Times New Roman" panose="02020603050405020304" pitchFamily="18" charset="0"/>
                  </a:rPr>
                  <a:t>. Функция </a:t>
                </a:r>
                <a14:m>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𝐿</m:t>
                        </m:r>
                      </m:e>
                      <m:sub>
                        <m:r>
                          <a:rPr lang="ru-RU" i="1">
                            <a:solidFill>
                              <a:srgbClr val="000000"/>
                            </a:solidFill>
                            <a:effectLst/>
                            <a:latin typeface="Cambria Math" panose="02040503050406030204" pitchFamily="18" charset="0"/>
                            <a:ea typeface="Times New Roman" panose="02020603050405020304" pitchFamily="18" charset="0"/>
                          </a:rPr>
                          <m:t>2</m:t>
                        </m:r>
                      </m:sub>
                    </m:sSub>
                  </m:oMath>
                </a14:m>
                <a:r>
                  <a:rPr lang="ru-RU" dirty="0">
                    <a:solidFill>
                      <a:srgbClr val="000000"/>
                    </a:solidFill>
                    <a:effectLst/>
                    <a:latin typeface="Times New Roman" panose="02020603050405020304" pitchFamily="18" charset="0"/>
                    <a:ea typeface="Times New Roman" panose="02020603050405020304" pitchFamily="18" charset="0"/>
                  </a:rPr>
                  <a:t> представляет собой среднеквадратичную ошибку, а функция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rPr>
                      <m:t>𝐶𝑜𝑠</m:t>
                    </m:r>
                  </m:oMath>
                </a14:m>
                <a:r>
                  <a:rPr lang="ru-RU" dirty="0">
                    <a:solidFill>
                      <a:srgbClr val="000000"/>
                    </a:solidFill>
                    <a:effectLst/>
                    <a:latin typeface="Times New Roman" panose="02020603050405020304" pitchFamily="18" charset="0"/>
                    <a:ea typeface="Times New Roman" panose="02020603050405020304" pitchFamily="18" charset="0"/>
                  </a:rPr>
                  <a:t> определяет близость через косинусное расстояние между векторами предсказаний и антиградиентов.</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201168" y="224267"/>
                <a:ext cx="11292840" cy="2277290"/>
              </a:xfrm>
              <a:prstGeom prst="rect">
                <a:avLst/>
              </a:prstGeom>
              <a:blipFill>
                <a:blip r:embed="rId2"/>
                <a:stretch>
                  <a:fillRect l="-432" t="-268" r="-378" b="-2145"/>
                </a:stretch>
              </a:blipFill>
            </p:spPr>
            <p:txBody>
              <a:bodyPr/>
              <a:lstStyle/>
              <a:p>
                <a:r>
                  <a:rPr lang="ru-RU">
                    <a:noFill/>
                  </a:rPr>
                  <a:t> </a:t>
                </a:r>
              </a:p>
            </p:txBody>
          </p:sp>
        </mc:Fallback>
      </mc:AlternateContent>
      <p:sp>
        <p:nvSpPr>
          <p:cNvPr id="3" name="Прямоугольник 2"/>
          <p:cNvSpPr/>
          <p:nvPr/>
        </p:nvSpPr>
        <p:spPr>
          <a:xfrm>
            <a:off x="329184" y="2638419"/>
            <a:ext cx="11420856" cy="757130"/>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В итоге обучение базового алгоритма проходит в два шага:</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lnSpc>
                <a:spcPct val="120000"/>
              </a:lnSpc>
              <a:spcAft>
                <a:spcPts val="0"/>
              </a:spcAft>
              <a:buFont typeface="Symbol" panose="05050102010706020507" pitchFamily="18" charset="2"/>
              <a:buChar char=""/>
            </a:pPr>
            <a:r>
              <a:rPr lang="ru-RU" dirty="0">
                <a:solidFill>
                  <a:srgbClr val="000000"/>
                </a:solidFill>
                <a:latin typeface="Times New Roman" panose="02020603050405020304" pitchFamily="18" charset="0"/>
                <a:ea typeface="Times New Roman" panose="02020603050405020304" pitchFamily="18" charset="0"/>
              </a:rPr>
              <a:t>по функции потерь вычисляется целевая переменная для обучения следующего базового алгоритма:</a:t>
            </a:r>
            <a:endParaRPr lang="ru-RU" dirty="0">
              <a:solidFill>
                <a:srgbClr val="000000"/>
              </a:solidFill>
              <a:effectLst/>
              <a:latin typeface="Times New Roman" panose="02020603050405020304" pitchFamily="18" charset="0"/>
              <a:ea typeface="Calibri" panose="020F0502020204030204" pitchFamily="34" charset="0"/>
            </a:endParaRPr>
          </a:p>
        </p:txBody>
      </p:sp>
      <p:pic>
        <p:nvPicPr>
          <p:cNvPr id="4" name="Рисунок 3"/>
          <p:cNvPicPr/>
          <p:nvPr/>
        </p:nvPicPr>
        <p:blipFill rotWithShape="1">
          <a:blip r:embed="rId3"/>
          <a:srcRect l="62622" t="52117" r="30467" b="40228"/>
          <a:stretch/>
        </p:blipFill>
        <p:spPr bwMode="auto">
          <a:xfrm>
            <a:off x="4203192" y="3395549"/>
            <a:ext cx="2407920" cy="82511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mc:Choice xmlns:a14="http://schemas.microsoft.com/office/drawing/2010/main" Requires="a14">
          <p:sp>
            <p:nvSpPr>
              <p:cNvPr id="5" name="Прямоугольник 4"/>
              <p:cNvSpPr/>
              <p:nvPr/>
            </p:nvSpPr>
            <p:spPr>
              <a:xfrm>
                <a:off x="443484" y="4387181"/>
                <a:ext cx="10808208" cy="801694"/>
              </a:xfrm>
              <a:prstGeom prst="rect">
                <a:avLst/>
              </a:prstGeom>
            </p:spPr>
            <p:txBody>
              <a:bodyPr wrap="square">
                <a:spAutoFit/>
              </a:bodyPr>
              <a:lstStyle/>
              <a:p>
                <a:pPr marL="342900" lvl="0" indent="-342900" algn="just">
                  <a:lnSpc>
                    <a:spcPct val="120000"/>
                  </a:lnSpc>
                  <a:spcAft>
                    <a:spcPts val="0"/>
                  </a:spcAft>
                  <a:buFont typeface="Symbol" panose="05050102010706020507" pitchFamily="18" charset="2"/>
                  <a:buChar char=""/>
                </a:pPr>
                <a:r>
                  <a:rPr lang="ru-RU" dirty="0">
                    <a:solidFill>
                      <a:srgbClr val="000000"/>
                    </a:solidFill>
                    <a:latin typeface="Times New Roman" panose="02020603050405020304" pitchFamily="18" charset="0"/>
                    <a:ea typeface="Times New Roman" panose="02020603050405020304" pitchFamily="18" charset="0"/>
                  </a:rPr>
                  <a:t>строится регрессионное дерево на обучающей выборке </a:t>
                </a:r>
                <a14:m>
                  <m:oMath xmlns:m="http://schemas.openxmlformats.org/officeDocument/2006/math">
                    <m:d>
                      <m:dPr>
                        <m:ctrlPr>
                          <a:rPr lang="ru-RU" i="1">
                            <a:solidFill>
                              <a:srgbClr val="000000"/>
                            </a:solidFill>
                            <a:effectLst/>
                            <a:latin typeface="Cambria Math" panose="02040503050406030204" pitchFamily="18" charset="0"/>
                            <a:ea typeface="Times New Roman" panose="02020603050405020304" pitchFamily="18" charset="0"/>
                          </a:rPr>
                        </m:ctrlPr>
                      </m:dPr>
                      <m:e>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𝑥</m:t>
                            </m:r>
                          </m:e>
                          <m:sub>
                            <m:r>
                              <a:rPr lang="en-US" i="1">
                                <a:solidFill>
                                  <a:srgbClr val="000000"/>
                                </a:solidFill>
                                <a:effectLst/>
                                <a:latin typeface="Cambria Math" panose="02040503050406030204" pitchFamily="18" charset="0"/>
                                <a:ea typeface="Times New Roman" panose="02020603050405020304" pitchFamily="18" charset="0"/>
                              </a:rPr>
                              <m:t>𝑖</m:t>
                            </m:r>
                          </m:sub>
                        </m:sSub>
                        <m:r>
                          <a:rPr lang="ru-RU" i="1">
                            <a:solidFill>
                              <a:srgbClr val="000000"/>
                            </a:solidFill>
                            <a:effectLst/>
                            <a:latin typeface="Cambria Math" panose="02040503050406030204" pitchFamily="18" charset="0"/>
                            <a:ea typeface="Times New Roman" panose="02020603050405020304" pitchFamily="18" charset="0"/>
                          </a:rPr>
                          <m:t>,−</m:t>
                        </m:r>
                        <m:sSubSup>
                          <m:sSubSupPr>
                            <m:ctrlPr>
                              <a:rPr lang="ru-RU" i="1">
                                <a:solidFill>
                                  <a:srgbClr val="000000"/>
                                </a:solidFill>
                                <a:effectLst/>
                                <a:latin typeface="Cambria Math" panose="02040503050406030204" pitchFamily="18" charset="0"/>
                                <a:ea typeface="Times New Roman" panose="02020603050405020304" pitchFamily="18" charset="0"/>
                              </a:rPr>
                            </m:ctrlPr>
                          </m:sSubSupPr>
                          <m:e>
                            <m:r>
                              <a:rPr lang="en-US" i="1">
                                <a:solidFill>
                                  <a:srgbClr val="000000"/>
                                </a:solidFill>
                                <a:effectLst/>
                                <a:latin typeface="Cambria Math" panose="02040503050406030204" pitchFamily="18" charset="0"/>
                                <a:ea typeface="Times New Roman" panose="02020603050405020304" pitchFamily="18" charset="0"/>
                              </a:rPr>
                              <m:t>𝑔</m:t>
                            </m:r>
                          </m:e>
                          <m:sub>
                            <m:r>
                              <a:rPr lang="en-US" i="1">
                                <a:solidFill>
                                  <a:srgbClr val="000000"/>
                                </a:solidFill>
                                <a:effectLst/>
                                <a:latin typeface="Cambria Math" panose="02040503050406030204" pitchFamily="18" charset="0"/>
                                <a:ea typeface="Times New Roman" panose="02020603050405020304" pitchFamily="18" charset="0"/>
                              </a:rPr>
                              <m:t>𝑖</m:t>
                            </m:r>
                          </m:sub>
                          <m:sup>
                            <m:r>
                              <a:rPr lang="en-US" i="1">
                                <a:solidFill>
                                  <a:srgbClr val="000000"/>
                                </a:solidFill>
                                <a:effectLst/>
                                <a:latin typeface="Cambria Math" panose="02040503050406030204" pitchFamily="18" charset="0"/>
                                <a:ea typeface="Times New Roman" panose="02020603050405020304" pitchFamily="18" charset="0"/>
                              </a:rPr>
                              <m:t>𝑘</m:t>
                            </m:r>
                          </m:sup>
                        </m:sSubSup>
                      </m:e>
                    </m:d>
                  </m:oMath>
                </a14:m>
                <a:r>
                  <a:rPr lang="ru-RU" dirty="0">
                    <a:solidFill>
                      <a:srgbClr val="000000"/>
                    </a:solidFill>
                    <a:effectLst/>
                    <a:latin typeface="Times New Roman" panose="02020603050405020304" pitchFamily="18" charset="0"/>
                    <a:ea typeface="Times New Roman" panose="02020603050405020304" pitchFamily="18" charset="0"/>
                  </a:rPr>
                  <a:t>, </a:t>
                </a:r>
                <a:r>
                  <a:rPr lang="ru-RU" dirty="0" err="1">
                    <a:solidFill>
                      <a:srgbClr val="000000"/>
                    </a:solidFill>
                    <a:effectLst/>
                    <a:latin typeface="Times New Roman" panose="02020603050405020304" pitchFamily="18" charset="0"/>
                    <a:ea typeface="Times New Roman" panose="02020603050405020304" pitchFamily="18" charset="0"/>
                  </a:rPr>
                  <a:t>минимизирующее</a:t>
                </a:r>
                <a:r>
                  <a:rPr lang="ru-RU" dirty="0">
                    <a:solidFill>
                      <a:srgbClr val="000000"/>
                    </a:solidFill>
                    <a:effectLst/>
                    <a:latin typeface="Times New Roman" panose="02020603050405020304" pitchFamily="18" charset="0"/>
                    <a:ea typeface="Times New Roman" panose="02020603050405020304" pitchFamily="18" charset="0"/>
                  </a:rPr>
                  <a:t> выбранную оценочную функцию.</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443484" y="4387181"/>
                <a:ext cx="10808208" cy="801694"/>
              </a:xfrm>
              <a:prstGeom prst="rect">
                <a:avLst/>
              </a:prstGeom>
              <a:blipFill>
                <a:blip r:embed="rId4"/>
                <a:stretch>
                  <a:fillRect l="-508" r="-451" b="-8397"/>
                </a:stretch>
              </a:blipFill>
            </p:spPr>
            <p:txBody>
              <a:bodyPr/>
              <a:lstStyle/>
              <a:p>
                <a:r>
                  <a:rPr lang="ru-RU">
                    <a:noFill/>
                  </a:rPr>
                  <a:t> </a:t>
                </a:r>
              </a:p>
            </p:txBody>
          </p:sp>
        </mc:Fallback>
      </mc:AlternateContent>
    </p:spTree>
    <p:extLst>
      <p:ext uri="{BB962C8B-B14F-4D97-AF65-F5344CB8AC3E}">
        <p14:creationId xmlns:p14="http://schemas.microsoft.com/office/powerpoint/2010/main" val="3726428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1582" y="153752"/>
            <a:ext cx="2150460" cy="424732"/>
          </a:xfrm>
          <a:prstGeom prst="rect">
            <a:avLst/>
          </a:prstGeom>
        </p:spPr>
        <p:txBody>
          <a:bodyPr wrap="none">
            <a:spAutoFit/>
          </a:bodyPr>
          <a:lstStyle/>
          <a:p>
            <a:pPr indent="457200" algn="just">
              <a:lnSpc>
                <a:spcPct val="120000"/>
              </a:lnSpc>
              <a:spcAft>
                <a:spcPts val="0"/>
              </a:spcAft>
            </a:pPr>
            <a:r>
              <a:rPr lang="ru-RU" b="1" i="1" dirty="0">
                <a:solidFill>
                  <a:srgbClr val="000000"/>
                </a:solidFill>
                <a:latin typeface="Times New Roman" panose="02020603050405020304" pitchFamily="18" charset="0"/>
                <a:ea typeface="Times New Roman" panose="02020603050405020304" pitchFamily="18" charset="0"/>
              </a:rPr>
              <a:t>Темп обучения</a:t>
            </a:r>
            <a:endParaRPr lang="ru-RU" dirty="0">
              <a:solidFill>
                <a:srgbClr val="000000"/>
              </a:solidFill>
              <a:effectLst/>
              <a:latin typeface="Times New Roman" panose="02020603050405020304" pitchFamily="18" charset="0"/>
              <a:ea typeface="Calibri" panose="020F0502020204030204" pitchFamily="34" charset="0"/>
            </a:endParaRPr>
          </a:p>
        </p:txBody>
      </p:sp>
      <mc:AlternateContent xmlns:mc="http://schemas.openxmlformats.org/markup-compatibility/2006">
        <mc:Choice xmlns:a14="http://schemas.microsoft.com/office/drawing/2010/main" Requires="a14">
          <p:sp>
            <p:nvSpPr>
              <p:cNvPr id="3" name="Прямоугольник 2"/>
              <p:cNvSpPr/>
              <p:nvPr/>
            </p:nvSpPr>
            <p:spPr>
              <a:xfrm>
                <a:off x="292608" y="655814"/>
                <a:ext cx="11237976" cy="2419124"/>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Существует два решения этой проблемы. Во-первых, необходимо упростить базовую модель, уменьшив глубину дерева (либо примерив какие-либо ещё техники регуляризации). Во-вторых, мы можем ввести параметр, называемый темпом обучения (</a:t>
                </a:r>
                <a:r>
                  <a:rPr lang="ru-RU" dirty="0" err="1">
                    <a:solidFill>
                      <a:srgbClr val="000000"/>
                    </a:solidFill>
                    <a:latin typeface="Times New Roman" panose="02020603050405020304" pitchFamily="18" charset="0"/>
                    <a:ea typeface="Times New Roman" panose="02020603050405020304" pitchFamily="18" charset="0"/>
                  </a:rPr>
                  <a:t>learning</a:t>
                </a:r>
                <a:r>
                  <a:rPr lang="ru-RU" dirty="0">
                    <a:solidFill>
                      <a:srgbClr val="000000"/>
                    </a:solidFill>
                    <a:latin typeface="Times New Roman" panose="02020603050405020304" pitchFamily="18" charset="0"/>
                    <a:ea typeface="Times New Roman" panose="02020603050405020304" pitchFamily="18" charset="0"/>
                  </a:rPr>
                  <a:t> </a:t>
                </a:r>
                <a:r>
                  <a:rPr lang="ru-RU" dirty="0" err="1">
                    <a:solidFill>
                      <a:srgbClr val="000000"/>
                    </a:solidFill>
                    <a:latin typeface="Times New Roman" panose="02020603050405020304" pitchFamily="18" charset="0"/>
                    <a:ea typeface="Times New Roman" panose="02020603050405020304" pitchFamily="18" charset="0"/>
                  </a:rPr>
                  <a:t>rate</a:t>
                </a:r>
                <a:r>
                  <a:rPr lang="ru-RU" dirty="0">
                    <a:solidFill>
                      <a:srgbClr val="000000"/>
                    </a:solidFill>
                    <a:latin typeface="Times New Roman" panose="02020603050405020304" pitchFamily="18" charset="0"/>
                    <a:ea typeface="Times New Roman" panose="02020603050405020304" pitchFamily="18" charset="0"/>
                  </a:rPr>
                  <a:t>) </a:t>
                </a:r>
                <a14:m>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𝜂</m:t>
                    </m:r>
                    <m:r>
                      <a:rPr lang="ru-RU" i="1">
                        <a:solidFill>
                          <a:srgbClr val="000000"/>
                        </a:solidFill>
                        <a:effectLst/>
                        <a:latin typeface="Cambria Math" panose="02040503050406030204" pitchFamily="18" charset="0"/>
                        <a:ea typeface="Times New Roman" panose="02020603050405020304" pitchFamily="18" charset="0"/>
                      </a:rPr>
                      <m:t>∈(</m:t>
                    </m:r>
                    <m:d>
                      <m:dPr>
                        <m:begChr m:val=""/>
                        <m:endChr m:val="]"/>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0,1</m:t>
                        </m:r>
                      </m:e>
                    </m:d>
                  </m:oMath>
                </a14:m>
                <a:r>
                  <a:rPr lang="ru-RU" dirty="0">
                    <a:solidFill>
                      <a:srgbClr val="000000"/>
                    </a:solidFill>
                    <a:effectLst/>
                    <a:latin typeface="Times New Roman" panose="02020603050405020304" pitchFamily="18" charset="0"/>
                    <a:ea typeface="Times New Roman" panose="02020603050405020304" pitchFamily="18" charset="0"/>
                  </a:rPr>
                  <a:t>:</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𝜂</m:t>
                          </m:r>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Присутствие этого параметра означает, что каждый базовый алгоритм вносит относительно небольшой вклад во всю композицию: если расписать сумму целиком, она будет иметь вид</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𝑎</m:t>
                          </m:r>
                        </m:e>
                        <m:sub>
                          <m:r>
                            <a:rPr lang="en-US" i="1">
                              <a:solidFill>
                                <a:srgbClr val="000000"/>
                              </a:solidFill>
                              <a:effectLst/>
                              <a:latin typeface="Cambria Math" panose="02040503050406030204" pitchFamily="18" charset="0"/>
                              <a:ea typeface="Times New Roman" panose="02020603050405020304" pitchFamily="18" charset="0"/>
                            </a:rPr>
                            <m:t>𝑘</m:t>
                          </m:r>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en-US"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𝜂</m:t>
                          </m:r>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2</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𝜂</m:t>
                          </m:r>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3</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r>
                        <a:rPr lang="ru-RU" i="1">
                          <a:solidFill>
                            <a:srgbClr val="000000"/>
                          </a:solidFill>
                          <a:effectLst/>
                          <a:latin typeface="Cambria Math" panose="02040503050406030204" pitchFamily="18" charset="0"/>
                          <a:ea typeface="Times New Roman" panose="02020603050405020304" pitchFamily="18" charset="0"/>
                        </a:rPr>
                        <m:t>+…+</m:t>
                      </m:r>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𝜂</m:t>
                          </m:r>
                          <m:r>
                            <a:rPr lang="en-US" i="1">
                              <a:solidFill>
                                <a:srgbClr val="000000"/>
                              </a:solidFill>
                              <a:effectLst/>
                              <a:latin typeface="Cambria Math" panose="02040503050406030204" pitchFamily="18" charset="0"/>
                              <a:ea typeface="Times New Roman" panose="02020603050405020304" pitchFamily="18" charset="0"/>
                            </a:rPr>
                            <m:t>𝑏</m:t>
                          </m:r>
                        </m:e>
                        <m:sub>
                          <m:r>
                            <a:rPr lang="en-US" i="1">
                              <a:solidFill>
                                <a:srgbClr val="000000"/>
                              </a:solidFill>
                              <a:effectLst/>
                              <a:latin typeface="Cambria Math" panose="02040503050406030204" pitchFamily="18" charset="0"/>
                              <a:ea typeface="Times New Roman" panose="02020603050405020304" pitchFamily="18" charset="0"/>
                            </a:rPr>
                            <m:t>𝑘</m:t>
                          </m:r>
                          <m:r>
                            <a:rPr lang="en-US" i="1">
                              <a:solidFill>
                                <a:srgbClr val="000000"/>
                              </a:solidFill>
                              <a:effectLst/>
                              <a:latin typeface="Cambria Math" panose="02040503050406030204" pitchFamily="18" charset="0"/>
                              <a:ea typeface="Times New Roman" panose="02020603050405020304" pitchFamily="18" charset="0"/>
                            </a:rPr>
                            <m:t>+1</m:t>
                          </m:r>
                        </m:sub>
                      </m:sSub>
                      <m:d>
                        <m:dPr>
                          <m:ctrlPr>
                            <a:rPr lang="ru-RU"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rPr>
                            <m:t>𝑥</m:t>
                          </m:r>
                        </m:e>
                      </m:d>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3" name="Прямоугольник 2"/>
              <p:cNvSpPr>
                <a:spLocks noRot="1" noChangeAspect="1" noMove="1" noResize="1" noEditPoints="1" noAdjustHandles="1" noChangeArrowheads="1" noChangeShapeType="1" noTextEdit="1"/>
              </p:cNvSpPr>
              <p:nvPr/>
            </p:nvSpPr>
            <p:spPr>
              <a:xfrm>
                <a:off x="292608" y="655814"/>
                <a:ext cx="11237976" cy="2419124"/>
              </a:xfrm>
              <a:prstGeom prst="rect">
                <a:avLst/>
              </a:prstGeom>
              <a:blipFill>
                <a:blip r:embed="rId2"/>
                <a:stretch>
                  <a:fillRect l="-434" t="-253" r="-380"/>
                </a:stretch>
              </a:blipFill>
            </p:spPr>
            <p:txBody>
              <a:bodyPr/>
              <a:lstStyle/>
              <a:p>
                <a:r>
                  <a:rPr lang="ru-RU">
                    <a:noFill/>
                  </a:rPr>
                  <a:t> </a:t>
                </a:r>
              </a:p>
            </p:txBody>
          </p:sp>
        </mc:Fallback>
      </mc:AlternateContent>
      <p:sp>
        <p:nvSpPr>
          <p:cNvPr id="4" name="Прямоугольник 3"/>
          <p:cNvSpPr/>
          <p:nvPr/>
        </p:nvSpPr>
        <p:spPr>
          <a:xfrm>
            <a:off x="100167" y="3074938"/>
            <a:ext cx="3927870" cy="395749"/>
          </a:xfrm>
          <a:prstGeom prst="rect">
            <a:avLst/>
          </a:prstGeom>
        </p:spPr>
        <p:txBody>
          <a:bodyPr wrap="none">
            <a:spAutoFit/>
          </a:bodyPr>
          <a:lstStyle/>
          <a:p>
            <a:pPr indent="457200" algn="just">
              <a:lnSpc>
                <a:spcPct val="120000"/>
              </a:lnSpc>
              <a:spcAft>
                <a:spcPts val="0"/>
              </a:spcAft>
            </a:pPr>
            <a:r>
              <a:rPr lang="ru-RU" b="1" i="1" dirty="0">
                <a:solidFill>
                  <a:srgbClr val="000000"/>
                </a:solidFill>
                <a:latin typeface="Times New Roman" panose="02020603050405020304" pitchFamily="18" charset="0"/>
                <a:ea typeface="Times New Roman" panose="02020603050405020304" pitchFamily="18" charset="0"/>
              </a:rPr>
              <a:t>Пример</a:t>
            </a:r>
            <a:r>
              <a:rPr lang="ru-RU" b="1" i="1" dirty="0">
                <a:solidFill>
                  <a:srgbClr val="000000"/>
                </a:solidFill>
                <a:latin typeface="Times New Roman" panose="02020603050405020304" pitchFamily="18" charset="0"/>
                <a:ea typeface="Calibri" panose="020F0502020204030204" pitchFamily="34" charset="0"/>
              </a:rPr>
              <a:t> </a:t>
            </a:r>
            <a:r>
              <a:rPr lang="ru-RU" b="1" i="1" dirty="0">
                <a:solidFill>
                  <a:srgbClr val="000000"/>
                </a:solidFill>
                <a:latin typeface="Times New Roman" panose="02020603050405020304" pitchFamily="18" charset="0"/>
                <a:ea typeface="Times New Roman" panose="02020603050405020304" pitchFamily="18" charset="0"/>
              </a:rPr>
              <a:t>градиентного </a:t>
            </a:r>
            <a:r>
              <a:rPr lang="ru-RU" b="1" i="1" dirty="0" err="1">
                <a:solidFill>
                  <a:srgbClr val="000000"/>
                </a:solidFill>
                <a:latin typeface="Times New Roman" panose="02020603050405020304" pitchFamily="18" charset="0"/>
                <a:ea typeface="Times New Roman" panose="02020603050405020304" pitchFamily="18" charset="0"/>
              </a:rPr>
              <a:t>бустинга</a:t>
            </a:r>
            <a:endParaRPr lang="ru-RU" dirty="0">
              <a:solidFill>
                <a:srgbClr val="000000"/>
              </a:solidFill>
              <a:effectLst/>
              <a:latin typeface="Times New Roman" panose="02020603050405020304" pitchFamily="18" charset="0"/>
              <a:ea typeface="Calibri" panose="020F0502020204030204" pitchFamily="34" charset="0"/>
            </a:endParaRPr>
          </a:p>
        </p:txBody>
      </p:sp>
      <p:graphicFrame>
        <p:nvGraphicFramePr>
          <p:cNvPr id="5" name="Таблица 4"/>
          <p:cNvGraphicFramePr>
            <a:graphicFrameLocks noGrp="1"/>
          </p:cNvGraphicFramePr>
          <p:nvPr>
            <p:extLst>
              <p:ext uri="{D42A27DB-BD31-4B8C-83A1-F6EECF244321}">
                <p14:modId xmlns:p14="http://schemas.microsoft.com/office/powerpoint/2010/main" val="2715290423"/>
              </p:ext>
            </p:extLst>
          </p:nvPr>
        </p:nvGraphicFramePr>
        <p:xfrm>
          <a:off x="3673982" y="3955574"/>
          <a:ext cx="4820793" cy="2103374"/>
        </p:xfrm>
        <a:graphic>
          <a:graphicData uri="http://schemas.openxmlformats.org/drawingml/2006/table">
            <a:tbl>
              <a:tblPr firstRow="1" firstCol="1" bandRow="1"/>
              <a:tblGrid>
                <a:gridCol w="943753">
                  <a:extLst>
                    <a:ext uri="{9D8B030D-6E8A-4147-A177-3AD203B41FA5}">
                      <a16:colId xmlns:a16="http://schemas.microsoft.com/office/drawing/2014/main" val="551800334"/>
                    </a:ext>
                  </a:extLst>
                </a:gridCol>
                <a:gridCol w="1067886">
                  <a:extLst>
                    <a:ext uri="{9D8B030D-6E8A-4147-A177-3AD203B41FA5}">
                      <a16:colId xmlns:a16="http://schemas.microsoft.com/office/drawing/2014/main" val="2536616258"/>
                    </a:ext>
                  </a:extLst>
                </a:gridCol>
                <a:gridCol w="1629037">
                  <a:extLst>
                    <a:ext uri="{9D8B030D-6E8A-4147-A177-3AD203B41FA5}">
                      <a16:colId xmlns:a16="http://schemas.microsoft.com/office/drawing/2014/main" val="3965329336"/>
                    </a:ext>
                  </a:extLst>
                </a:gridCol>
                <a:gridCol w="1180117">
                  <a:extLst>
                    <a:ext uri="{9D8B030D-6E8A-4147-A177-3AD203B41FA5}">
                      <a16:colId xmlns:a16="http://schemas.microsoft.com/office/drawing/2014/main" val="1190444760"/>
                    </a:ext>
                  </a:extLst>
                </a:gridCol>
              </a:tblGrid>
              <a:tr h="0">
                <a:tc>
                  <a:txBody>
                    <a:bodyPr/>
                    <a:lstStyle/>
                    <a:p>
                      <a:pPr algn="just">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возраст</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площадь</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расположение</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5080546"/>
                  </a:ext>
                </a:extLst>
              </a:tr>
              <a:tr h="0">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5</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1500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480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1541538"/>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2030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12</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1090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91537"/>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1442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350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9987327"/>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2501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4</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113897"/>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9</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400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6907909"/>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1789</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500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1847543"/>
                  </a:ext>
                </a:extLst>
              </a:tr>
            </a:tbl>
          </a:graphicData>
        </a:graphic>
      </p:graphicFrame>
    </p:spTree>
    <p:extLst>
      <p:ext uri="{BB962C8B-B14F-4D97-AF65-F5344CB8AC3E}">
        <p14:creationId xmlns:p14="http://schemas.microsoft.com/office/powerpoint/2010/main" val="2127013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131064" y="648964"/>
                <a:ext cx="11664696" cy="1055930"/>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1: Рассчитать среднее/среднее значение целевой переменной.</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Средняя цена=</m:t>
                      </m:r>
                      <m:f>
                        <m:fPr>
                          <m:ctrlPr>
                            <a:rPr lang="ru-RU" i="1">
                              <a:solidFill>
                                <a:srgbClr val="000000"/>
                              </a:solidFill>
                              <a:effectLst/>
                              <a:latin typeface="Cambria Math" panose="02040503050406030204" pitchFamily="18" charset="0"/>
                              <a:ea typeface="Times New Roman" panose="02020603050405020304" pitchFamily="18" charset="0"/>
                            </a:rPr>
                          </m:ctrlPr>
                        </m:fPr>
                        <m:num>
                          <m:r>
                            <a:rPr lang="ru-RU">
                              <a:solidFill>
                                <a:srgbClr val="000000"/>
                              </a:solidFill>
                              <a:effectLst/>
                              <a:latin typeface="Cambria Math" panose="02040503050406030204" pitchFamily="18" charset="0"/>
                              <a:ea typeface="Times New Roman" panose="02020603050405020304" pitchFamily="18" charset="0"/>
                            </a:rPr>
                            <m:t>480+1090+350+1310+400+500</m:t>
                          </m:r>
                        </m:num>
                        <m:den>
                          <m:r>
                            <a:rPr lang="ru-RU" i="1">
                              <a:solidFill>
                                <a:srgbClr val="000000"/>
                              </a:solidFill>
                              <a:effectLst/>
                              <a:latin typeface="Cambria Math" panose="02040503050406030204" pitchFamily="18" charset="0"/>
                              <a:ea typeface="Times New Roman" panose="02020603050405020304" pitchFamily="18" charset="0"/>
                            </a:rPr>
                            <m:t>6</m:t>
                          </m:r>
                        </m:den>
                      </m:f>
                      <m:r>
                        <a:rPr lang="ru-RU" i="1">
                          <a:solidFill>
                            <a:srgbClr val="000000"/>
                          </a:solidFill>
                          <a:effectLst/>
                          <a:latin typeface="Cambria Math" panose="02040503050406030204" pitchFamily="18" charset="0"/>
                          <a:ea typeface="Times New Roman" panose="02020603050405020304" pitchFamily="18" charset="0"/>
                        </a:rPr>
                        <m:t>=</m:t>
                      </m:r>
                      <m:r>
                        <a:rPr lang="ru-RU">
                          <a:solidFill>
                            <a:srgbClr val="000000"/>
                          </a:solidFill>
                          <a:effectLst/>
                          <a:latin typeface="Cambria Math" panose="02040503050406030204" pitchFamily="18" charset="0"/>
                          <a:ea typeface="Times New Roman" panose="02020603050405020304" pitchFamily="18" charset="0"/>
                        </a:rPr>
                        <m:t>688</m:t>
                      </m:r>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131064" y="648964"/>
                <a:ext cx="11664696" cy="1055930"/>
              </a:xfrm>
              <a:prstGeom prst="rect">
                <a:avLst/>
              </a:prstGeom>
              <a:blipFill>
                <a:blip r:embed="rId2"/>
                <a:stretch>
                  <a:fillRect/>
                </a:stretch>
              </a:blipFill>
            </p:spPr>
            <p:txBody>
              <a:bodyPr/>
              <a:lstStyle/>
              <a:p>
                <a:r>
                  <a:rPr lang="ru-RU">
                    <a:noFill/>
                  </a:rPr>
                  <a:t> </a:t>
                </a:r>
              </a:p>
            </p:txBody>
          </p:sp>
        </mc:Fallback>
      </mc:AlternateContent>
      <p:graphicFrame>
        <p:nvGraphicFramePr>
          <p:cNvPr id="3" name="Таблица 2"/>
          <p:cNvGraphicFramePr>
            <a:graphicFrameLocks noGrp="1"/>
          </p:cNvGraphicFramePr>
          <p:nvPr>
            <p:extLst>
              <p:ext uri="{D42A27DB-BD31-4B8C-83A1-F6EECF244321}">
                <p14:modId xmlns:p14="http://schemas.microsoft.com/office/powerpoint/2010/main" val="3339456586"/>
              </p:ext>
            </p:extLst>
          </p:nvPr>
        </p:nvGraphicFramePr>
        <p:xfrm>
          <a:off x="2715769" y="1898174"/>
          <a:ext cx="5676010" cy="2633472"/>
        </p:xfrm>
        <a:graphic>
          <a:graphicData uri="http://schemas.openxmlformats.org/drawingml/2006/table">
            <a:tbl>
              <a:tblPr firstRow="1" firstCol="1" bandRow="1"/>
              <a:tblGrid>
                <a:gridCol w="892657">
                  <a:extLst>
                    <a:ext uri="{9D8B030D-6E8A-4147-A177-3AD203B41FA5}">
                      <a16:colId xmlns:a16="http://schemas.microsoft.com/office/drawing/2014/main" val="238452689"/>
                    </a:ext>
                  </a:extLst>
                </a:gridCol>
                <a:gridCol w="1010069">
                  <a:extLst>
                    <a:ext uri="{9D8B030D-6E8A-4147-A177-3AD203B41FA5}">
                      <a16:colId xmlns:a16="http://schemas.microsoft.com/office/drawing/2014/main" val="3054353813"/>
                    </a:ext>
                  </a:extLst>
                </a:gridCol>
                <a:gridCol w="1540838">
                  <a:extLst>
                    <a:ext uri="{9D8B030D-6E8A-4147-A177-3AD203B41FA5}">
                      <a16:colId xmlns:a16="http://schemas.microsoft.com/office/drawing/2014/main" val="3008686357"/>
                    </a:ext>
                  </a:extLst>
                </a:gridCol>
                <a:gridCol w="1116223">
                  <a:extLst>
                    <a:ext uri="{9D8B030D-6E8A-4147-A177-3AD203B41FA5}">
                      <a16:colId xmlns:a16="http://schemas.microsoft.com/office/drawing/2014/main" val="2438033405"/>
                    </a:ext>
                  </a:extLst>
                </a:gridCol>
                <a:gridCol w="1116223">
                  <a:extLst>
                    <a:ext uri="{9D8B030D-6E8A-4147-A177-3AD203B41FA5}">
                      <a16:colId xmlns:a16="http://schemas.microsoft.com/office/drawing/2014/main" val="3091972072"/>
                    </a:ext>
                  </a:extLst>
                </a:gridCol>
              </a:tblGrid>
              <a:tr h="0">
                <a:tc>
                  <a:txBody>
                    <a:bodyPr/>
                    <a:lstStyle/>
                    <a:p>
                      <a:pPr algn="just">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возраст</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площадь</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расположение</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средняя 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6198937"/>
                  </a:ext>
                </a:extLst>
              </a:tr>
              <a:tr h="0">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5</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1500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480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1545976"/>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2030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1090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986008"/>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1442</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350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350857"/>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2501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4</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5350097"/>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9</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400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6525883"/>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1789</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500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6930291"/>
                  </a:ext>
                </a:extLst>
              </a:tr>
            </a:tbl>
          </a:graphicData>
        </a:graphic>
      </p:graphicFrame>
      <mc:AlternateContent xmlns:mc="http://schemas.openxmlformats.org/markup-compatibility/2006">
        <mc:Choice xmlns:a14="http://schemas.microsoft.com/office/drawing/2010/main" Requires="a14">
          <p:sp>
            <p:nvSpPr>
              <p:cNvPr id="4" name="Прямоугольник 3"/>
              <p:cNvSpPr/>
              <p:nvPr/>
            </p:nvSpPr>
            <p:spPr>
              <a:xfrm>
                <a:off x="-115824" y="5072398"/>
                <a:ext cx="11911584" cy="757130"/>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2: Рассчитайте остатки для каждого образца.</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Остаток= Реальная стоимость−</m:t>
                      </m:r>
                      <m:r>
                        <a:rPr lang="ru-RU" i="1">
                          <a:solidFill>
                            <a:srgbClr val="000000"/>
                          </a:solidFill>
                          <a:effectLst/>
                          <a:latin typeface="Cambria Math" panose="02040503050406030204" pitchFamily="18" charset="0"/>
                          <a:ea typeface="Calibri" panose="020F0502020204030204" pitchFamily="34" charset="0"/>
                        </a:rPr>
                        <m:t> </m:t>
                      </m:r>
                      <m:r>
                        <a:rPr lang="ru-RU" i="1">
                          <a:solidFill>
                            <a:srgbClr val="000000"/>
                          </a:solidFill>
                          <a:effectLst/>
                          <a:latin typeface="Cambria Math" panose="02040503050406030204" pitchFamily="18" charset="0"/>
                          <a:ea typeface="Times New Roman" panose="02020603050405020304" pitchFamily="18" charset="0"/>
                        </a:rPr>
                        <m:t>Прогнозируемое значение</m:t>
                      </m:r>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4" name="Прямоугольник 3"/>
              <p:cNvSpPr>
                <a:spLocks noRot="1" noChangeAspect="1" noMove="1" noResize="1" noEditPoints="1" noAdjustHandles="1" noChangeArrowheads="1" noChangeShapeType="1" noTextEdit="1"/>
              </p:cNvSpPr>
              <p:nvPr/>
            </p:nvSpPr>
            <p:spPr>
              <a:xfrm>
                <a:off x="-115824" y="5072398"/>
                <a:ext cx="11911584" cy="757130"/>
              </a:xfrm>
              <a:prstGeom prst="rect">
                <a:avLst/>
              </a:prstGeom>
              <a:blipFill>
                <a:blip r:embed="rId3"/>
                <a:stretch>
                  <a:fillRect b="-3226"/>
                </a:stretch>
              </a:blipFill>
            </p:spPr>
            <p:txBody>
              <a:bodyPr/>
              <a:lstStyle/>
              <a:p>
                <a:r>
                  <a:rPr lang="ru-RU">
                    <a:noFill/>
                  </a:rPr>
                  <a:t> </a:t>
                </a:r>
              </a:p>
            </p:txBody>
          </p:sp>
        </mc:Fallback>
      </mc:AlternateContent>
    </p:spTree>
    <p:extLst>
      <p:ext uri="{BB962C8B-B14F-4D97-AF65-F5344CB8AC3E}">
        <p14:creationId xmlns:p14="http://schemas.microsoft.com/office/powerpoint/2010/main" val="146951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1003728491"/>
              </p:ext>
            </p:extLst>
          </p:nvPr>
        </p:nvGraphicFramePr>
        <p:xfrm>
          <a:off x="2450592" y="480854"/>
          <a:ext cx="6683629" cy="2633472"/>
        </p:xfrm>
        <a:graphic>
          <a:graphicData uri="http://schemas.openxmlformats.org/drawingml/2006/table">
            <a:tbl>
              <a:tblPr firstRow="1" firstCol="1" bandRow="1"/>
              <a:tblGrid>
                <a:gridCol w="878384">
                  <a:extLst>
                    <a:ext uri="{9D8B030D-6E8A-4147-A177-3AD203B41FA5}">
                      <a16:colId xmlns:a16="http://schemas.microsoft.com/office/drawing/2014/main" val="494204080"/>
                    </a:ext>
                  </a:extLst>
                </a:gridCol>
                <a:gridCol w="993919">
                  <a:extLst>
                    <a:ext uri="{9D8B030D-6E8A-4147-A177-3AD203B41FA5}">
                      <a16:colId xmlns:a16="http://schemas.microsoft.com/office/drawing/2014/main" val="706043662"/>
                    </a:ext>
                  </a:extLst>
                </a:gridCol>
                <a:gridCol w="1516201">
                  <a:extLst>
                    <a:ext uri="{9D8B030D-6E8A-4147-A177-3AD203B41FA5}">
                      <a16:colId xmlns:a16="http://schemas.microsoft.com/office/drawing/2014/main" val="3896167254"/>
                    </a:ext>
                  </a:extLst>
                </a:gridCol>
                <a:gridCol w="1098375">
                  <a:extLst>
                    <a:ext uri="{9D8B030D-6E8A-4147-A177-3AD203B41FA5}">
                      <a16:colId xmlns:a16="http://schemas.microsoft.com/office/drawing/2014/main" val="2778603499"/>
                    </a:ext>
                  </a:extLst>
                </a:gridCol>
                <a:gridCol w="1098375">
                  <a:extLst>
                    <a:ext uri="{9D8B030D-6E8A-4147-A177-3AD203B41FA5}">
                      <a16:colId xmlns:a16="http://schemas.microsoft.com/office/drawing/2014/main" val="779069807"/>
                    </a:ext>
                  </a:extLst>
                </a:gridCol>
                <a:gridCol w="1098375">
                  <a:extLst>
                    <a:ext uri="{9D8B030D-6E8A-4147-A177-3AD203B41FA5}">
                      <a16:colId xmlns:a16="http://schemas.microsoft.com/office/drawing/2014/main" val="3018140853"/>
                    </a:ext>
                  </a:extLst>
                </a:gridCol>
              </a:tblGrid>
              <a:tr h="0">
                <a:tc>
                  <a:txBody>
                    <a:bodyPr/>
                    <a:lstStyle/>
                    <a:p>
                      <a:pPr algn="just">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возраст</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площадь</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расположение</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средняя 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остаток</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3286203"/>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1500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5</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480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-208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2188081"/>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2030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12</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1090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402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9498380"/>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1442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350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-338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4546061"/>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2501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622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2845953"/>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9</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-288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8524601"/>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1789</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5971122"/>
                  </a:ext>
                </a:extLst>
              </a:tr>
            </a:tbl>
          </a:graphicData>
        </a:graphic>
      </p:graphicFrame>
      <p:sp>
        <p:nvSpPr>
          <p:cNvPr id="3" name="Прямоугольник 2"/>
          <p:cNvSpPr/>
          <p:nvPr/>
        </p:nvSpPr>
        <p:spPr>
          <a:xfrm>
            <a:off x="210312" y="3124301"/>
            <a:ext cx="11576304" cy="424732"/>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3: Построить дерево решений. Строим дерево с целью предсказания остатков.</a:t>
            </a:r>
            <a:endParaRPr lang="ru-RU" dirty="0">
              <a:solidFill>
                <a:srgbClr val="000000"/>
              </a:solidFill>
              <a:effectLst/>
              <a:latin typeface="Times New Roman" panose="02020603050405020304" pitchFamily="18" charset="0"/>
              <a:ea typeface="Calibri" panose="020F0502020204030204" pitchFamily="34" charset="0"/>
            </a:endParaRPr>
          </a:p>
        </p:txBody>
      </p:sp>
      <p:pic>
        <p:nvPicPr>
          <p:cNvPr id="4" name="Рисунок 3"/>
          <p:cNvPicPr>
            <a:picLocks noChangeAspect="1"/>
          </p:cNvPicPr>
          <p:nvPr/>
        </p:nvPicPr>
        <p:blipFill>
          <a:blip r:embed="rId2"/>
          <a:stretch>
            <a:fillRect/>
          </a:stretch>
        </p:blipFill>
        <p:spPr>
          <a:xfrm>
            <a:off x="630798" y="3785563"/>
            <a:ext cx="4288674" cy="1654556"/>
          </a:xfrm>
          <a:prstGeom prst="rect">
            <a:avLst/>
          </a:prstGeom>
        </p:spPr>
      </p:pic>
      <mc:AlternateContent xmlns:mc="http://schemas.openxmlformats.org/markup-compatibility/2006">
        <mc:Choice xmlns:a14="http://schemas.microsoft.com/office/drawing/2010/main" Requires="a14">
          <p:sp>
            <p:nvSpPr>
              <p:cNvPr id="5" name="Прямоугольник 4"/>
              <p:cNvSpPr/>
              <p:nvPr/>
            </p:nvSpPr>
            <p:spPr>
              <a:xfrm>
                <a:off x="3358896" y="3900195"/>
                <a:ext cx="6096000" cy="1357551"/>
              </a:xfrm>
              <a:prstGeom prst="rect">
                <a:avLst/>
              </a:prstGeom>
            </p:spPr>
            <p:txBody>
              <a:bodyPr>
                <a:spAutoFit/>
              </a:bodyPr>
              <a:lstStyle/>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f>
                        <m:fPr>
                          <m:ctrlPr>
                            <a:rPr lang="ru-RU" i="1">
                              <a:solidFill>
                                <a:srgbClr val="000000"/>
                              </a:solidFill>
                              <a:latin typeface="Cambria Math" panose="02040503050406030204" pitchFamily="18" charset="0"/>
                              <a:ea typeface="Times New Roman" panose="02020603050405020304" pitchFamily="18" charset="0"/>
                            </a:rPr>
                          </m:ctrlPr>
                        </m:fPr>
                        <m:num>
                          <m:d>
                            <m:dPr>
                              <m:ctrlPr>
                                <a:rPr lang="ru-RU" i="1">
                                  <a:solidFill>
                                    <a:srgbClr val="000000"/>
                                  </a:solidFill>
                                  <a:effectLst/>
                                  <a:latin typeface="Cambria Math" panose="02040503050406030204" pitchFamily="18" charset="0"/>
                                  <a:ea typeface="Times New Roman" panose="02020603050405020304" pitchFamily="18" charset="0"/>
                                </a:rPr>
                              </m:ctrlPr>
                            </m:dPr>
                            <m:e>
                              <m:r>
                                <a:rPr lang="ru-RU" i="1">
                                  <a:solidFill>
                                    <a:srgbClr val="000000"/>
                                  </a:solidFill>
                                  <a:effectLst/>
                                  <a:latin typeface="Cambria Math" panose="02040503050406030204" pitchFamily="18" charset="0"/>
                                  <a:ea typeface="Times New Roman" panose="02020603050405020304" pitchFamily="18" charset="0"/>
                                </a:rPr>
                                <m:t>−388</m:t>
                              </m:r>
                            </m:e>
                          </m:d>
                          <m:r>
                            <a:rPr lang="ru-RU" i="1">
                              <a:solidFill>
                                <a:srgbClr val="000000"/>
                              </a:solidFill>
                              <a:effectLst/>
                              <a:latin typeface="Cambria Math" panose="02040503050406030204" pitchFamily="18" charset="0"/>
                              <a:ea typeface="Times New Roman" panose="02020603050405020304" pitchFamily="18" charset="0"/>
                            </a:rPr>
                            <m:t>+(−288)</m:t>
                          </m:r>
                        </m:num>
                        <m:den>
                          <m:r>
                            <a:rPr lang="ru-RU" i="1">
                              <a:solidFill>
                                <a:srgbClr val="000000"/>
                              </a:solidFill>
                              <a:effectLst/>
                              <a:latin typeface="Cambria Math" panose="02040503050406030204" pitchFamily="18" charset="0"/>
                              <a:ea typeface="Times New Roman" panose="02020603050405020304" pitchFamily="18" charset="0"/>
                            </a:rPr>
                            <m:t>2</m:t>
                          </m:r>
                        </m:den>
                      </m:f>
                      <m:r>
                        <a:rPr lang="ru-RU" i="1">
                          <a:solidFill>
                            <a:srgbClr val="000000"/>
                          </a:solidFill>
                          <a:effectLst/>
                          <a:latin typeface="Cambria Math" panose="02040503050406030204" pitchFamily="18" charset="0"/>
                          <a:ea typeface="Times New Roman" panose="02020603050405020304" pitchFamily="18" charset="0"/>
                        </a:rPr>
                        <m:t>=−338</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f>
                        <m:fPr>
                          <m:ctrlPr>
                            <a:rPr lang="ru-RU" i="1">
                              <a:solidFill>
                                <a:srgbClr val="000000"/>
                              </a:solidFill>
                              <a:effectLst/>
                              <a:latin typeface="Cambria Math" panose="02040503050406030204" pitchFamily="18" charset="0"/>
                              <a:ea typeface="Times New Roman" panose="02020603050405020304" pitchFamily="18" charset="0"/>
                            </a:rPr>
                          </m:ctrlPr>
                        </m:fPr>
                        <m:num>
                          <m:r>
                            <a:rPr lang="ru-RU" i="1">
                              <a:solidFill>
                                <a:srgbClr val="000000"/>
                              </a:solidFill>
                              <a:effectLst/>
                              <a:latin typeface="Cambria Math" panose="02040503050406030204" pitchFamily="18" charset="0"/>
                              <a:ea typeface="Times New Roman" panose="02020603050405020304" pitchFamily="18" charset="0"/>
                            </a:rPr>
                            <m:t>402+622</m:t>
                          </m:r>
                        </m:num>
                        <m:den>
                          <m:r>
                            <a:rPr lang="ru-RU" i="1">
                              <a:solidFill>
                                <a:srgbClr val="000000"/>
                              </a:solidFill>
                              <a:effectLst/>
                              <a:latin typeface="Cambria Math" panose="02040503050406030204" pitchFamily="18" charset="0"/>
                              <a:ea typeface="Times New Roman" panose="02020603050405020304" pitchFamily="18" charset="0"/>
                            </a:rPr>
                            <m:t>2</m:t>
                          </m:r>
                        </m:den>
                      </m:f>
                      <m:r>
                        <a:rPr lang="ru-RU" i="1">
                          <a:solidFill>
                            <a:srgbClr val="000000"/>
                          </a:solidFill>
                          <a:effectLst/>
                          <a:latin typeface="Cambria Math" panose="02040503050406030204" pitchFamily="18" charset="0"/>
                          <a:ea typeface="Times New Roman" panose="02020603050405020304" pitchFamily="18" charset="0"/>
                        </a:rPr>
                        <m:t>=512</m:t>
                      </m:r>
                    </m:oMath>
                  </m:oMathPara>
                </a14:m>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5" name="Прямоугольник 4"/>
              <p:cNvSpPr>
                <a:spLocks noRot="1" noChangeAspect="1" noMove="1" noResize="1" noEditPoints="1" noAdjustHandles="1" noChangeArrowheads="1" noChangeShapeType="1" noTextEdit="1"/>
              </p:cNvSpPr>
              <p:nvPr/>
            </p:nvSpPr>
            <p:spPr>
              <a:xfrm>
                <a:off x="3358896" y="3900195"/>
                <a:ext cx="6096000" cy="1357551"/>
              </a:xfrm>
              <a:prstGeom prst="rect">
                <a:avLst/>
              </a:prstGeom>
              <a:blipFill>
                <a:blip r:embed="rId3"/>
                <a:stretch>
                  <a:fillRect/>
                </a:stretch>
              </a:blipFill>
            </p:spPr>
            <p:txBody>
              <a:bodyPr/>
              <a:lstStyle/>
              <a:p>
                <a:r>
                  <a:rPr lang="ru-RU">
                    <a:noFill/>
                  </a:rPr>
                  <a:t> </a:t>
                </a:r>
              </a:p>
            </p:txBody>
          </p:sp>
        </mc:Fallback>
      </mc:AlternateContent>
      <p:pic>
        <p:nvPicPr>
          <p:cNvPr id="6" name="Рисунок 5"/>
          <p:cNvPicPr>
            <a:picLocks noChangeAspect="1"/>
          </p:cNvPicPr>
          <p:nvPr/>
        </p:nvPicPr>
        <p:blipFill>
          <a:blip r:embed="rId4"/>
          <a:stretch>
            <a:fillRect/>
          </a:stretch>
        </p:blipFill>
        <p:spPr>
          <a:xfrm>
            <a:off x="7701799" y="3684977"/>
            <a:ext cx="4007009" cy="1654557"/>
          </a:xfrm>
          <a:prstGeom prst="rect">
            <a:avLst/>
          </a:prstGeom>
        </p:spPr>
      </p:pic>
    </p:spTree>
    <p:extLst>
      <p:ext uri="{BB962C8B-B14F-4D97-AF65-F5344CB8AC3E}">
        <p14:creationId xmlns:p14="http://schemas.microsoft.com/office/powerpoint/2010/main" val="117228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Прямоугольник 1"/>
              <p:cNvSpPr/>
              <p:nvPr/>
            </p:nvSpPr>
            <p:spPr>
              <a:xfrm>
                <a:off x="0" y="305842"/>
                <a:ext cx="11658600" cy="3083921"/>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4: Предсказать целевую метку, используя все деревья в ансамбле.</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Каждая выборка проходит через решающие узлы вновь сформированного дерева, пока не достигнет заданного опережения. Остаток в указанном листе используется для прогнозирования цены дома.</a:t>
                </a:r>
                <a:endParaRPr lang="ru-RU" dirty="0">
                  <a:solidFill>
                    <a:srgbClr val="000000"/>
                  </a:solidFill>
                  <a:effectLst/>
                  <a:latin typeface="Times New Roman" panose="02020603050405020304" pitchFamily="18" charset="0"/>
                  <a:ea typeface="Calibri" panose="020F0502020204030204" pitchFamily="34" charset="0"/>
                </a:endParaRPr>
              </a:p>
              <a:p>
                <a:pPr algn="ctr">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Прогнозируемая цена = Средняя цена + Скорость обучения * Остаток предсказанный деревом решений</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Тогда</a:t>
                </a:r>
                <a:r>
                  <a:rPr lang="ru-RU" dirty="0">
                    <a:solidFill>
                      <a:srgbClr val="000000"/>
                    </a:solidFill>
                    <a:effectLst/>
                    <a:latin typeface="Times New Roman" panose="02020603050405020304" pitchFamily="18" charset="0"/>
                    <a:ea typeface="Calibri" panose="020F0502020204030204" pitchFamily="34" charset="0"/>
                  </a:rPr>
                  <a:t> </a:t>
                </a:r>
                <a:r>
                  <a:rPr lang="ru-RU" dirty="0">
                    <a:solidFill>
                      <a:srgbClr val="000000"/>
                    </a:solidFill>
                    <a:effectLst/>
                    <a:latin typeface="Times New Roman" panose="02020603050405020304" pitchFamily="18" charset="0"/>
                    <a:ea typeface="Times New Roman" panose="02020603050405020304" pitchFamily="18" charset="0"/>
                  </a:rPr>
                  <a:t>расчет для остаточного значения (-338) и (-208) на шаге 2</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Прогнозируемая цена</m:t>
                          </m:r>
                        </m:e>
                        <m:sub>
                          <m:r>
                            <a:rPr lang="ru-RU" i="1">
                              <a:solidFill>
                                <a:srgbClr val="000000"/>
                              </a:solidFill>
                              <a:effectLst/>
                              <a:latin typeface="Cambria Math" panose="02040503050406030204" pitchFamily="18" charset="0"/>
                              <a:ea typeface="Times New Roman" panose="02020603050405020304" pitchFamily="18" charset="0"/>
                            </a:rPr>
                            <m:t>−338</m:t>
                          </m:r>
                        </m:sub>
                      </m:sSub>
                      <m:r>
                        <a:rPr lang="ru-RU" i="1">
                          <a:solidFill>
                            <a:srgbClr val="000000"/>
                          </a:solidFill>
                          <a:effectLst/>
                          <a:latin typeface="Cambria Math" panose="02040503050406030204" pitchFamily="18" charset="0"/>
                          <a:ea typeface="Times New Roman" panose="02020603050405020304" pitchFamily="18" charset="0"/>
                        </a:rPr>
                        <m:t> = 688 + 0,1∗(−338) =654,2</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Прогнозируемая цена</m:t>
                          </m:r>
                        </m:e>
                        <m:sub>
                          <m:r>
                            <a:rPr lang="ru-RU" i="1">
                              <a:solidFill>
                                <a:srgbClr val="000000"/>
                              </a:solidFill>
                              <a:effectLst/>
                              <a:latin typeface="Cambria Math" panose="02040503050406030204" pitchFamily="18" charset="0"/>
                              <a:ea typeface="Times New Roman" panose="02020603050405020304" pitchFamily="18" charset="0"/>
                            </a:rPr>
                            <m:t>−208</m:t>
                          </m:r>
                        </m:sub>
                      </m:sSub>
                      <m:r>
                        <a:rPr lang="ru-RU" i="1">
                          <a:solidFill>
                            <a:srgbClr val="000000"/>
                          </a:solidFill>
                          <a:effectLst/>
                          <a:latin typeface="Cambria Math" panose="02040503050406030204" pitchFamily="18" charset="0"/>
                          <a:ea typeface="Times New Roman" panose="02020603050405020304" pitchFamily="18" charset="0"/>
                        </a:rPr>
                        <m:t> = 688 + 0,1∗(−208) =667,2</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Изначально была взята 0,1 в качестве скорости обучения.</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Точно так же рассчитается прогнозируемую цена для других значений.</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2" name="Прямоугольник 1"/>
              <p:cNvSpPr>
                <a:spLocks noRot="1" noChangeAspect="1" noMove="1" noResize="1" noEditPoints="1" noAdjustHandles="1" noChangeArrowheads="1" noChangeShapeType="1" noTextEdit="1"/>
              </p:cNvSpPr>
              <p:nvPr/>
            </p:nvSpPr>
            <p:spPr>
              <a:xfrm>
                <a:off x="0" y="305842"/>
                <a:ext cx="11658600" cy="3083921"/>
              </a:xfrm>
              <a:prstGeom prst="rect">
                <a:avLst/>
              </a:prstGeom>
              <a:blipFill>
                <a:blip r:embed="rId2"/>
                <a:stretch>
                  <a:fillRect l="-418" r="-366" b="-1383"/>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3" name="Прямоугольник 2"/>
              <p:cNvSpPr/>
              <p:nvPr/>
            </p:nvSpPr>
            <p:spPr>
              <a:xfrm>
                <a:off x="484632" y="3722805"/>
                <a:ext cx="11603736" cy="2086725"/>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5: Вычислите новые остатки</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r>
                        <a:rPr lang="ru-RU" i="1">
                          <a:solidFill>
                            <a:srgbClr val="000000"/>
                          </a:solidFill>
                          <a:effectLst/>
                          <a:latin typeface="Cambria Math" panose="02040503050406030204" pitchFamily="18" charset="0"/>
                          <a:ea typeface="Times New Roman" panose="02020603050405020304" pitchFamily="18" charset="0"/>
                        </a:rPr>
                        <m:t>Остаток= Реальная стоимость−</m:t>
                      </m:r>
                      <m:r>
                        <a:rPr lang="ru-RU" i="1">
                          <a:solidFill>
                            <a:srgbClr val="000000"/>
                          </a:solidFill>
                          <a:effectLst/>
                          <a:latin typeface="Cambria Math" panose="02040503050406030204" pitchFamily="18" charset="0"/>
                          <a:ea typeface="Calibri" panose="020F0502020204030204" pitchFamily="34" charset="0"/>
                        </a:rPr>
                        <m:t> </m:t>
                      </m:r>
                      <m:r>
                        <a:rPr lang="ru-RU" i="1">
                          <a:solidFill>
                            <a:srgbClr val="000000"/>
                          </a:solidFill>
                          <a:effectLst/>
                          <a:latin typeface="Cambria Math" panose="02040503050406030204" pitchFamily="18" charset="0"/>
                          <a:ea typeface="Times New Roman" panose="02020603050405020304" pitchFamily="18" charset="0"/>
                        </a:rPr>
                        <m:t>Прогнозируемое значение</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При цене 350 и 480 соответственно.</a:t>
                </a:r>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Остаток</m:t>
                          </m:r>
                        </m:e>
                        <m:sub>
                          <m:r>
                            <a:rPr lang="ru-RU" i="1">
                              <a:solidFill>
                                <a:srgbClr val="000000"/>
                              </a:solidFill>
                              <a:effectLst/>
                              <a:latin typeface="Cambria Math" panose="02040503050406030204" pitchFamily="18" charset="0"/>
                              <a:ea typeface="Times New Roman" panose="02020603050405020304" pitchFamily="18" charset="0"/>
                            </a:rPr>
                            <m:t>350</m:t>
                          </m:r>
                        </m:sub>
                      </m:sSub>
                      <m:r>
                        <a:rPr lang="ru-RU" i="1">
                          <a:solidFill>
                            <a:srgbClr val="000000"/>
                          </a:solidFill>
                          <a:effectLst/>
                          <a:latin typeface="Cambria Math" panose="02040503050406030204" pitchFamily="18" charset="0"/>
                          <a:ea typeface="Times New Roman" panose="02020603050405020304" pitchFamily="18" charset="0"/>
                        </a:rPr>
                        <m:t>=350−654,2=−304,2</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14:m>
                  <m:oMathPara xmlns:m="http://schemas.openxmlformats.org/officeDocument/2006/math">
                    <m:oMathParaPr>
                      <m:jc m:val="centerGroup"/>
                    </m:oMathParaPr>
                    <m:oMath xmlns:m="http://schemas.openxmlformats.org/officeDocument/2006/math">
                      <m:sSub>
                        <m:sSubPr>
                          <m:ctrlPr>
                            <a:rPr lang="ru-RU" i="1">
                              <a:solidFill>
                                <a:srgbClr val="000000"/>
                              </a:solidFill>
                              <a:effectLst/>
                              <a:latin typeface="Cambria Math" panose="02040503050406030204" pitchFamily="18" charset="0"/>
                              <a:ea typeface="Times New Roman" panose="02020603050405020304" pitchFamily="18" charset="0"/>
                            </a:rPr>
                          </m:ctrlPr>
                        </m:sSubPr>
                        <m:e>
                          <m:r>
                            <a:rPr lang="ru-RU" i="1">
                              <a:solidFill>
                                <a:srgbClr val="000000"/>
                              </a:solidFill>
                              <a:effectLst/>
                              <a:latin typeface="Cambria Math" panose="02040503050406030204" pitchFamily="18" charset="0"/>
                              <a:ea typeface="Times New Roman" panose="02020603050405020304" pitchFamily="18" charset="0"/>
                            </a:rPr>
                            <m:t>Остаток</m:t>
                          </m:r>
                        </m:e>
                        <m:sub>
                          <m:r>
                            <a:rPr lang="ru-RU" i="1">
                              <a:solidFill>
                                <a:srgbClr val="000000"/>
                              </a:solidFill>
                              <a:effectLst/>
                              <a:latin typeface="Cambria Math" panose="02040503050406030204" pitchFamily="18" charset="0"/>
                              <a:ea typeface="Times New Roman" panose="02020603050405020304" pitchFamily="18" charset="0"/>
                            </a:rPr>
                            <m:t>480</m:t>
                          </m:r>
                        </m:sub>
                      </m:sSub>
                      <m:r>
                        <a:rPr lang="ru-RU" i="1">
                          <a:solidFill>
                            <a:srgbClr val="000000"/>
                          </a:solidFill>
                          <a:effectLst/>
                          <a:latin typeface="Cambria Math" panose="02040503050406030204" pitchFamily="18" charset="0"/>
                          <a:ea typeface="Times New Roman" panose="02020603050405020304" pitchFamily="18" charset="0"/>
                        </a:rPr>
                        <m:t>=480−667,2=−187,2</m:t>
                      </m:r>
                    </m:oMath>
                  </m:oMathPara>
                </a14:m>
                <a:endParaRPr lang="ru-RU" dirty="0">
                  <a:solidFill>
                    <a:srgbClr val="000000"/>
                  </a:solidFill>
                  <a:effectLst/>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effectLst/>
                    <a:latin typeface="Times New Roman" panose="02020603050405020304" pitchFamily="18" charset="0"/>
                    <a:ea typeface="Times New Roman" panose="02020603050405020304" pitchFamily="18" charset="0"/>
                  </a:rPr>
                  <a:t>С нашим деревом решений получили следующие новые остатки.</a:t>
                </a:r>
                <a:endParaRPr lang="ru-RU" dirty="0">
                  <a:solidFill>
                    <a:srgbClr val="000000"/>
                  </a:solidFill>
                  <a:effectLst/>
                  <a:latin typeface="Times New Roman" panose="02020603050405020304" pitchFamily="18" charset="0"/>
                  <a:ea typeface="Calibri" panose="020F0502020204030204" pitchFamily="34" charset="0"/>
                </a:endParaRPr>
              </a:p>
            </p:txBody>
          </p:sp>
        </mc:Choice>
        <mc:Fallback>
          <p:sp>
            <p:nvSpPr>
              <p:cNvPr id="3" name="Прямоугольник 2"/>
              <p:cNvSpPr>
                <a:spLocks noRot="1" noChangeAspect="1" noMove="1" noResize="1" noEditPoints="1" noAdjustHandles="1" noChangeArrowheads="1" noChangeShapeType="1" noTextEdit="1"/>
              </p:cNvSpPr>
              <p:nvPr/>
            </p:nvSpPr>
            <p:spPr>
              <a:xfrm>
                <a:off x="484632" y="3722805"/>
                <a:ext cx="11603736" cy="2086725"/>
              </a:xfrm>
              <a:prstGeom prst="rect">
                <a:avLst/>
              </a:prstGeom>
              <a:blipFill>
                <a:blip r:embed="rId3"/>
                <a:stretch>
                  <a:fillRect t="-292" b="-2632"/>
                </a:stretch>
              </a:blipFill>
            </p:spPr>
            <p:txBody>
              <a:bodyPr/>
              <a:lstStyle/>
              <a:p>
                <a:r>
                  <a:rPr lang="ru-RU">
                    <a:noFill/>
                  </a:rPr>
                  <a:t> </a:t>
                </a:r>
              </a:p>
            </p:txBody>
          </p:sp>
        </mc:Fallback>
      </mc:AlternateContent>
    </p:spTree>
    <p:extLst>
      <p:ext uri="{BB962C8B-B14F-4D97-AF65-F5344CB8AC3E}">
        <p14:creationId xmlns:p14="http://schemas.microsoft.com/office/powerpoint/2010/main" val="11028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3877176842"/>
              </p:ext>
            </p:extLst>
          </p:nvPr>
        </p:nvGraphicFramePr>
        <p:xfrm>
          <a:off x="2202307" y="188246"/>
          <a:ext cx="7792084" cy="2633472"/>
        </p:xfrm>
        <a:graphic>
          <a:graphicData uri="http://schemas.openxmlformats.org/drawingml/2006/table">
            <a:tbl>
              <a:tblPr firstRow="1" firstCol="1" bandRow="1"/>
              <a:tblGrid>
                <a:gridCol w="927430">
                  <a:extLst>
                    <a:ext uri="{9D8B030D-6E8A-4147-A177-3AD203B41FA5}">
                      <a16:colId xmlns:a16="http://schemas.microsoft.com/office/drawing/2014/main" val="2523818963"/>
                    </a:ext>
                  </a:extLst>
                </a:gridCol>
                <a:gridCol w="1049416">
                  <a:extLst>
                    <a:ext uri="{9D8B030D-6E8A-4147-A177-3AD203B41FA5}">
                      <a16:colId xmlns:a16="http://schemas.microsoft.com/office/drawing/2014/main" val="3576073747"/>
                    </a:ext>
                  </a:extLst>
                </a:gridCol>
                <a:gridCol w="1600861">
                  <a:extLst>
                    <a:ext uri="{9D8B030D-6E8A-4147-A177-3AD203B41FA5}">
                      <a16:colId xmlns:a16="http://schemas.microsoft.com/office/drawing/2014/main" val="1020601744"/>
                    </a:ext>
                  </a:extLst>
                </a:gridCol>
                <a:gridCol w="899858">
                  <a:extLst>
                    <a:ext uri="{9D8B030D-6E8A-4147-A177-3AD203B41FA5}">
                      <a16:colId xmlns:a16="http://schemas.microsoft.com/office/drawing/2014/main" val="3100306725"/>
                    </a:ext>
                  </a:extLst>
                </a:gridCol>
                <a:gridCol w="965029">
                  <a:extLst>
                    <a:ext uri="{9D8B030D-6E8A-4147-A177-3AD203B41FA5}">
                      <a16:colId xmlns:a16="http://schemas.microsoft.com/office/drawing/2014/main" val="687155097"/>
                    </a:ext>
                  </a:extLst>
                </a:gridCol>
                <a:gridCol w="1174745">
                  <a:extLst>
                    <a:ext uri="{9D8B030D-6E8A-4147-A177-3AD203B41FA5}">
                      <a16:colId xmlns:a16="http://schemas.microsoft.com/office/drawing/2014/main" val="4067558964"/>
                    </a:ext>
                  </a:extLst>
                </a:gridCol>
                <a:gridCol w="1174745">
                  <a:extLst>
                    <a:ext uri="{9D8B030D-6E8A-4147-A177-3AD203B41FA5}">
                      <a16:colId xmlns:a16="http://schemas.microsoft.com/office/drawing/2014/main" val="1471105679"/>
                    </a:ext>
                  </a:extLst>
                </a:gridCol>
              </a:tblGrid>
              <a:tr h="0">
                <a:tc>
                  <a:txBody>
                    <a:bodyPr/>
                    <a:lstStyle/>
                    <a:p>
                      <a:pPr algn="just">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возраст</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площадь</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расположение</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средняя цена</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остаток</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Новый остаток</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628208"/>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1500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5</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480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-208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-187,2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1133897"/>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2030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12</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1090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402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350,8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7933173"/>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1442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350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-338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-304,2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7397030"/>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2501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1310</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688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622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570,8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5973344"/>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12</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1300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9</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400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-288</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-254,1</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1955776"/>
                  </a:ext>
                </a:extLst>
              </a:tr>
              <a:tr h="0">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1789</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11</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500</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688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a:solidFill>
                            <a:srgbClr val="000000"/>
                          </a:solidFill>
                          <a:effectLst/>
                          <a:latin typeface="Times New Roman" panose="02020603050405020304" pitchFamily="18" charset="0"/>
                          <a:ea typeface="Times New Roman" panose="02020603050405020304" pitchFamily="18" charset="0"/>
                        </a:rPr>
                        <a:t>-188</a:t>
                      </a:r>
                      <a:endParaRPr lang="ru-RU" sz="180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ru-RU" sz="1800" dirty="0">
                          <a:solidFill>
                            <a:srgbClr val="000000"/>
                          </a:solidFill>
                          <a:effectLst/>
                          <a:latin typeface="Times New Roman" panose="02020603050405020304" pitchFamily="18" charset="0"/>
                          <a:ea typeface="Times New Roman" panose="02020603050405020304" pitchFamily="18" charset="0"/>
                        </a:rPr>
                        <a:t>-169,2</a:t>
                      </a:r>
                      <a:endParaRPr lang="ru-RU" sz="18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3454512"/>
                  </a:ext>
                </a:extLst>
              </a:tr>
            </a:tbl>
          </a:graphicData>
        </a:graphic>
      </p:graphicFrame>
      <p:sp>
        <p:nvSpPr>
          <p:cNvPr id="3" name="Прямоугольник 2"/>
          <p:cNvSpPr/>
          <p:nvPr/>
        </p:nvSpPr>
        <p:spPr>
          <a:xfrm>
            <a:off x="402336" y="3131338"/>
            <a:ext cx="11411712" cy="3083921"/>
          </a:xfrm>
          <a:prstGeom prst="rect">
            <a:avLst/>
          </a:prstGeom>
        </p:spPr>
        <p:txBody>
          <a:bodyPr wrap="square">
            <a:spAutoFit/>
          </a:bodyPr>
          <a:lstStyle/>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6: Повторяем шаги с 3 по 5, пока количество итераций не совпадет с числом, указанным в </a:t>
            </a:r>
            <a:r>
              <a:rPr lang="ru-RU" dirty="0" err="1">
                <a:solidFill>
                  <a:srgbClr val="000000"/>
                </a:solidFill>
                <a:latin typeface="Times New Roman" panose="02020603050405020304" pitchFamily="18" charset="0"/>
                <a:ea typeface="Times New Roman" panose="02020603050405020304" pitchFamily="18" charset="0"/>
              </a:rPr>
              <a:t>гиперпараметре</a:t>
            </a:r>
            <a:r>
              <a:rPr lang="ru-RU" dirty="0">
                <a:solidFill>
                  <a:srgbClr val="000000"/>
                </a:solidFill>
                <a:latin typeface="Times New Roman" panose="02020603050405020304" pitchFamily="18" charset="0"/>
                <a:ea typeface="Times New Roman" panose="02020603050405020304" pitchFamily="18" charset="0"/>
              </a:rPr>
              <a:t> (количество оценок).</a:t>
            </a:r>
            <a:endParaRPr lang="ru-RU" dirty="0">
              <a:solidFill>
                <a:srgbClr val="000000"/>
              </a:solidFill>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Шаг 7: После обучения используйте все деревья в ансамбле, чтобы сделать окончательный прогноз относительно значения целевой переменной. Окончательный прогноз будет равен среднему значению, которое вычисляется на шаге 1, плюс все остатки, предсказанные деревьями, составляющими лес, умноженные на скорость обучения.</a:t>
            </a:r>
            <a:endParaRPr lang="ru-RU" dirty="0">
              <a:solidFill>
                <a:srgbClr val="000000"/>
              </a:solidFill>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Тогда ДР – дерево решений</a:t>
            </a:r>
            <a:endParaRPr lang="ru-RU" dirty="0">
              <a:solidFill>
                <a:srgbClr val="000000"/>
              </a:solidFill>
              <a:latin typeface="Times New Roman" panose="02020603050405020304" pitchFamily="18" charset="0"/>
              <a:ea typeface="Calibri" panose="020F0502020204030204" pitchFamily="34" charset="0"/>
            </a:endParaRPr>
          </a:p>
          <a:p>
            <a:pPr indent="457200" algn="just">
              <a:lnSpc>
                <a:spcPct val="120000"/>
              </a:lnSpc>
              <a:spcAft>
                <a:spcPts val="0"/>
              </a:spcAft>
            </a:pPr>
            <a:r>
              <a:rPr lang="ru-RU" dirty="0">
                <a:solidFill>
                  <a:srgbClr val="000000"/>
                </a:solidFill>
                <a:latin typeface="Times New Roman" panose="02020603050405020304" pitchFamily="18" charset="0"/>
                <a:ea typeface="Times New Roman" panose="02020603050405020304" pitchFamily="18" charset="0"/>
              </a:rPr>
              <a:t>Прогнозируемая цена = Средняя цена + Скорость обучения * Остаток предсказанный ДР_1 + Скорость обучения * Остаток предсказанный ДР_2 + … + Скорость обучения * Остаток предсказанный ДР_</a:t>
            </a:r>
            <a:r>
              <a:rPr lang="en-US" dirty="0">
                <a:solidFill>
                  <a:srgbClr val="000000"/>
                </a:solidFill>
                <a:latin typeface="Times New Roman" panose="02020603050405020304" pitchFamily="18" charset="0"/>
                <a:ea typeface="Times New Roman" panose="02020603050405020304" pitchFamily="18" charset="0"/>
              </a:rPr>
              <a:t>N</a:t>
            </a:r>
            <a:endParaRPr lang="ru-RU" dirty="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222035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6355" y="162896"/>
            <a:ext cx="1830822" cy="395749"/>
          </a:xfrm>
          <a:prstGeom prst="rect">
            <a:avLst/>
          </a:prstGeom>
        </p:spPr>
        <p:txBody>
          <a:bodyPr wrap="none">
            <a:spAutoFit/>
          </a:bodyPr>
          <a:lstStyle/>
          <a:p>
            <a:pPr indent="457200" algn="just">
              <a:lnSpc>
                <a:spcPct val="120000"/>
              </a:lnSpc>
              <a:spcAft>
                <a:spcPts val="0"/>
              </a:spcAft>
            </a:pPr>
            <a:r>
              <a:rPr lang="ru-RU" b="1" i="1" dirty="0">
                <a:solidFill>
                  <a:srgbClr val="000000"/>
                </a:solidFill>
                <a:latin typeface="Times New Roman" panose="02020603050405020304" pitchFamily="18" charset="0"/>
                <a:ea typeface="Times New Roman" panose="02020603050405020304" pitchFamily="18" charset="0"/>
              </a:rPr>
              <a:t>Реализации</a:t>
            </a:r>
            <a:endParaRPr lang="ru-RU" dirty="0">
              <a:solidFill>
                <a:srgbClr val="000000"/>
              </a:solidFill>
              <a:effectLst/>
              <a:latin typeface="Times New Roman" panose="02020603050405020304" pitchFamily="18" charset="0"/>
              <a:ea typeface="Calibri" panose="020F0502020204030204" pitchFamily="34" charset="0"/>
            </a:endParaRPr>
          </a:p>
        </p:txBody>
      </p:sp>
      <p:sp>
        <p:nvSpPr>
          <p:cNvPr id="3" name="Прямоугольник 2"/>
          <p:cNvSpPr/>
          <p:nvPr/>
        </p:nvSpPr>
        <p:spPr>
          <a:xfrm>
            <a:off x="219456" y="558645"/>
            <a:ext cx="11375136" cy="369332"/>
          </a:xfrm>
          <a:prstGeom prst="rect">
            <a:avLst/>
          </a:prstGeom>
        </p:spPr>
        <p:txBody>
          <a:bodyPr wrap="square">
            <a:spAutoFit/>
          </a:bodyPr>
          <a:lstStyle/>
          <a:p>
            <a:r>
              <a:rPr lang="ru-RU" dirty="0">
                <a:latin typeface="Times New Roman" panose="02020603050405020304" pitchFamily="18" charset="0"/>
                <a:ea typeface="Times New Roman" panose="02020603050405020304" pitchFamily="18" charset="0"/>
              </a:rPr>
              <a:t>Хороших реализаций градиентного </a:t>
            </a:r>
            <a:r>
              <a:rPr lang="ru-RU" dirty="0" err="1">
                <a:latin typeface="Times New Roman" panose="02020603050405020304" pitchFamily="18" charset="0"/>
                <a:ea typeface="Times New Roman" panose="02020603050405020304" pitchFamily="18" charset="0"/>
              </a:rPr>
              <a:t>бустинга</a:t>
            </a:r>
            <a:r>
              <a:rPr lang="ru-RU" dirty="0">
                <a:latin typeface="Times New Roman" panose="02020603050405020304" pitchFamily="18" charset="0"/>
                <a:ea typeface="Times New Roman" panose="02020603050405020304" pitchFamily="18" charset="0"/>
              </a:rPr>
              <a:t> есть, как минимум, три: </a:t>
            </a:r>
            <a:r>
              <a:rPr lang="ru-RU" dirty="0" err="1">
                <a:latin typeface="Times New Roman" panose="02020603050405020304" pitchFamily="18" charset="0"/>
                <a:ea typeface="Times New Roman" panose="02020603050405020304" pitchFamily="18" charset="0"/>
              </a:rPr>
              <a:t>LightGBM</a:t>
            </a:r>
            <a:r>
              <a:rPr lang="ru-RU" dirty="0">
                <a:latin typeface="Times New Roman" panose="02020603050405020304" pitchFamily="18" charset="0"/>
                <a:ea typeface="Times New Roman" panose="02020603050405020304" pitchFamily="18" charset="0"/>
              </a:rPr>
              <a:t>, </a:t>
            </a:r>
            <a:r>
              <a:rPr lang="ru-RU" dirty="0" err="1">
                <a:latin typeface="Times New Roman" panose="02020603050405020304" pitchFamily="18" charset="0"/>
                <a:ea typeface="Times New Roman" panose="02020603050405020304" pitchFamily="18" charset="0"/>
              </a:rPr>
              <a:t>XGBoost</a:t>
            </a:r>
            <a:r>
              <a:rPr lang="ru-RU" dirty="0">
                <a:latin typeface="Times New Roman" panose="02020603050405020304" pitchFamily="18" charset="0"/>
                <a:ea typeface="Times New Roman" panose="02020603050405020304" pitchFamily="18" charset="0"/>
              </a:rPr>
              <a:t> и </a:t>
            </a:r>
            <a:r>
              <a:rPr lang="ru-RU" dirty="0" err="1">
                <a:latin typeface="Times New Roman" panose="02020603050405020304" pitchFamily="18" charset="0"/>
                <a:ea typeface="Times New Roman" panose="02020603050405020304" pitchFamily="18" charset="0"/>
              </a:rPr>
              <a:t>CatBoost</a:t>
            </a:r>
            <a:endParaRPr lang="ru-RU" dirty="0"/>
          </a:p>
        </p:txBody>
      </p:sp>
      <p:pic>
        <p:nvPicPr>
          <p:cNvPr id="4" name="Рисунок 3"/>
          <p:cNvPicPr>
            <a:picLocks noChangeAspect="1"/>
          </p:cNvPicPr>
          <p:nvPr/>
        </p:nvPicPr>
        <p:blipFill>
          <a:blip r:embed="rId2"/>
          <a:stretch>
            <a:fillRect/>
          </a:stretch>
        </p:blipFill>
        <p:spPr>
          <a:xfrm>
            <a:off x="219456" y="954394"/>
            <a:ext cx="4714602" cy="2773771"/>
          </a:xfrm>
          <a:prstGeom prst="rect">
            <a:avLst/>
          </a:prstGeom>
        </p:spPr>
      </p:pic>
      <p:pic>
        <p:nvPicPr>
          <p:cNvPr id="5" name="Рисунок 4"/>
          <p:cNvPicPr>
            <a:picLocks noChangeAspect="1"/>
          </p:cNvPicPr>
          <p:nvPr/>
        </p:nvPicPr>
        <p:blipFill>
          <a:blip r:embed="rId3"/>
          <a:stretch>
            <a:fillRect/>
          </a:stretch>
        </p:blipFill>
        <p:spPr>
          <a:xfrm>
            <a:off x="5940387" y="1083395"/>
            <a:ext cx="5272642" cy="2644770"/>
          </a:xfrm>
          <a:prstGeom prst="rect">
            <a:avLst/>
          </a:prstGeom>
        </p:spPr>
      </p:pic>
      <p:pic>
        <p:nvPicPr>
          <p:cNvPr id="6" name="Рисунок 5"/>
          <p:cNvPicPr>
            <a:picLocks noChangeAspect="1"/>
          </p:cNvPicPr>
          <p:nvPr/>
        </p:nvPicPr>
        <p:blipFill>
          <a:blip r:embed="rId4"/>
          <a:stretch>
            <a:fillRect/>
          </a:stretch>
        </p:blipFill>
        <p:spPr>
          <a:xfrm>
            <a:off x="3148413" y="3968406"/>
            <a:ext cx="5133655" cy="2670137"/>
          </a:xfrm>
          <a:prstGeom prst="rect">
            <a:avLst/>
          </a:prstGeom>
        </p:spPr>
      </p:pic>
    </p:spTree>
    <p:extLst>
      <p:ext uri="{BB962C8B-B14F-4D97-AF65-F5344CB8AC3E}">
        <p14:creationId xmlns:p14="http://schemas.microsoft.com/office/powerpoint/2010/main" val="2759900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571415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965</Words>
  <Application>Microsoft Office PowerPoint</Application>
  <PresentationFormat>Широкоэкранный</PresentationFormat>
  <Paragraphs>272</Paragraphs>
  <Slides>22</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22</vt:i4>
      </vt:variant>
    </vt:vector>
  </HeadingPairs>
  <TitlesOfParts>
    <vt:vector size="30" baseType="lpstr">
      <vt:lpstr>Arial</vt:lpstr>
      <vt:lpstr>Calibri</vt:lpstr>
      <vt:lpstr>Calibri Light</vt:lpstr>
      <vt:lpstr>Cambria Math</vt:lpstr>
      <vt:lpstr>Courier New</vt:lpstr>
      <vt:lpstr>Symbol</vt:lpstr>
      <vt:lpstr>Times New Roman</vt:lpstr>
      <vt:lpstr>Тема Office</vt:lpstr>
      <vt:lpstr>Градиентный бустинг</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ALEKSEY</dc:creator>
  <cp:lastModifiedBy>ALEKSEY</cp:lastModifiedBy>
  <cp:revision>33</cp:revision>
  <dcterms:created xsi:type="dcterms:W3CDTF">2020-10-06T14:10:24Z</dcterms:created>
  <dcterms:modified xsi:type="dcterms:W3CDTF">2023-08-31T17:38:01Z</dcterms:modified>
</cp:coreProperties>
</file>