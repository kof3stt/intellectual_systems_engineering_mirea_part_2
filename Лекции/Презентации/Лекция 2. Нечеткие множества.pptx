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3" r:id="rId3"/>
    <p:sldId id="294" r:id="rId4"/>
    <p:sldId id="295" r:id="rId5"/>
    <p:sldId id="296" r:id="rId6"/>
    <p:sldId id="297" r:id="rId7"/>
    <p:sldId id="306" r:id="rId8"/>
    <p:sldId id="307" r:id="rId9"/>
    <p:sldId id="308" r:id="rId10"/>
    <p:sldId id="298" r:id="rId11"/>
    <p:sldId id="291" r:id="rId12"/>
    <p:sldId id="309" r:id="rId13"/>
    <p:sldId id="310" r:id="rId14"/>
    <p:sldId id="313" r:id="rId15"/>
    <p:sldId id="314" r:id="rId16"/>
    <p:sldId id="315" r:id="rId17"/>
    <p:sldId id="316" r:id="rId18"/>
    <p:sldId id="317" r:id="rId19"/>
    <p:sldId id="320" r:id="rId20"/>
    <p:sldId id="324" r:id="rId21"/>
    <p:sldId id="325" r:id="rId22"/>
    <p:sldId id="328" r:id="rId23"/>
    <p:sldId id="329" r:id="rId24"/>
    <p:sldId id="330" r:id="rId25"/>
    <p:sldId id="331" r:id="rId26"/>
    <p:sldId id="326" r:id="rId27"/>
    <p:sldId id="327" r:id="rId28"/>
    <p:sldId id="321" r:id="rId29"/>
    <p:sldId id="322" r:id="rId30"/>
    <p:sldId id="323" r:id="rId31"/>
    <p:sldId id="318" r:id="rId32"/>
    <p:sldId id="319" r:id="rId33"/>
    <p:sldId id="311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42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0F7-AE7A-4348-A159-DEF1C8F58816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087B-A7E8-4D8C-BF61-FB36110D3F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3272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0F7-AE7A-4348-A159-DEF1C8F58816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087B-A7E8-4D8C-BF61-FB36110D3F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921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0F7-AE7A-4348-A159-DEF1C8F58816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087B-A7E8-4D8C-BF61-FB36110D3F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34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0F7-AE7A-4348-A159-DEF1C8F58816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087B-A7E8-4D8C-BF61-FB36110D3F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2099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0F7-AE7A-4348-A159-DEF1C8F58816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087B-A7E8-4D8C-BF61-FB36110D3F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712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0F7-AE7A-4348-A159-DEF1C8F58816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087B-A7E8-4D8C-BF61-FB36110D3F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863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0F7-AE7A-4348-A159-DEF1C8F58816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087B-A7E8-4D8C-BF61-FB36110D3F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3955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0F7-AE7A-4348-A159-DEF1C8F58816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087B-A7E8-4D8C-BF61-FB36110D3F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39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0F7-AE7A-4348-A159-DEF1C8F58816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087B-A7E8-4D8C-BF61-FB36110D3F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11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0F7-AE7A-4348-A159-DEF1C8F58816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087B-A7E8-4D8C-BF61-FB36110D3F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433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6B0F7-AE7A-4348-A159-DEF1C8F58816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3087B-A7E8-4D8C-BF61-FB36110D3F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53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6B0F7-AE7A-4348-A159-DEF1C8F58816}" type="datetimeFigureOut">
              <a:rPr lang="ru-RU" smtClean="0"/>
              <a:t>25.08.2024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93087B-A7E8-4D8C-BF61-FB36110D3F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953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83828" y="190668"/>
            <a:ext cx="3543342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Нечеткие множества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04504" y="770635"/>
            <a:ext cx="77419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 = {0.04/молоко, 0.15/творог, 0.25/сливки, 0.35/сыр, 0.40/сметана, 0.78/масло, 0.98/топленое масло}.</a:t>
            </a: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693965"/>
            <a:ext cx="1186978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" marR="36195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Степень принадлежности характеризует каждый из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 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в общем случае является его функцией: </a:t>
            </a:r>
            <a:r>
              <a:rPr lang="ru-RU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Если элемент </a:t>
            </a:r>
            <a:r>
              <a:rPr lang="en-US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b="1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«стопроцентно» относится к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то </a:t>
            </a:r>
            <a:r>
              <a:rPr lang="ru-RU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)=1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если не содержится вообще, то </a:t>
            </a:r>
            <a:r>
              <a:rPr lang="ru-RU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)=0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6195" marR="36195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b="1" i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Определение 1</a:t>
            </a:r>
            <a:r>
              <a:rPr lang="ru-RU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Нечетким множеством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называется совокупность пар вида 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х, </a:t>
            </a:r>
            <a:r>
              <a:rPr lang="ru-RU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))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где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 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а </a:t>
            </a:r>
            <a:r>
              <a:rPr lang="ru-RU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функция принадлежности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определенная на интервале [0, 1]: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967" y="3528251"/>
            <a:ext cx="2732166" cy="84337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39633" y="4530630"/>
            <a:ext cx="11617236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" marR="36195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Функция принадлежности для элементов подмножества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может принимать не только значения 0 или 1, но и любое значение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 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[0, 1]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т.е.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en-US" b="1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)=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 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[0, 1]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В соответствии с этим условием элемент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b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Х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может не принадлежать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 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en-US" b="1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=0)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может быть элементом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в небольшой степени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(μ</a:t>
            </a:r>
            <a:r>
              <a:rPr lang="en-US" b="1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близко к 0)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может более или менее принадлежать 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 (μ</a:t>
            </a:r>
            <a:r>
              <a:rPr lang="en-US" b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0.5)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может в значительной степени быть элементом 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 (μ</a:t>
            </a:r>
            <a:r>
              <a:rPr lang="en-US" b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близко к 1)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или, наконец, может быть элементом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 (μ</a:t>
            </a:r>
            <a:r>
              <a:rPr lang="en-US" b="1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=1)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492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3805" y="283618"/>
            <a:ext cx="934429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b="1" i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2.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Функцией принадлежности называется функция, которая позволяет вычислить степень принадлежности произвольного элемента универсального множества к нечеткому множеству.</a:t>
            </a:r>
          </a:p>
          <a:p>
            <a:pPr marL="36195" marR="36195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Принадлежность элементов нечеткому подмножеству иначе можно записать в виде:</a:t>
            </a:r>
          </a:p>
          <a:p>
            <a:pPr marL="36195" marR="36195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х</a:t>
            </a:r>
            <a:r>
              <a:rPr lang="ru-RU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;	          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;	          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i="1" baseline="-25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6195" marR="36195" algn="ctr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0.2		0.4		0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0123" y="3636553"/>
            <a:ext cx="3169694" cy="2572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303" y="3636553"/>
            <a:ext cx="3639863" cy="249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344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6423" y="135572"/>
            <a:ext cx="9605554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" marR="36195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i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Пример.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Рассмотрим обычное множество чисел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{0 ≤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≤ 2}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нечеткое множество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 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{«значение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близко к 1/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»}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В первом случае множеству </a:t>
            </a:r>
            <a:r>
              <a:rPr lang="en-US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принадлежат все числа от 0 до 2 и, следовательно, здесь </a:t>
            </a:r>
            <a:r>
              <a:rPr lang="ru-RU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)=</a:t>
            </a:r>
            <a:r>
              <a:rPr lang="ru-RU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const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=1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Во втором – симметричная кривая. Функции принадлежности этих множеств приведены на рис. Вид функции принадлежности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нечеткого множества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зависит от смысла вкладываемого в понятие «близко».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6663" y="2541905"/>
            <a:ext cx="2905668" cy="2526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060" y="2468916"/>
            <a:ext cx="2807739" cy="259947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438263" y="5304897"/>
            <a:ext cx="32224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Функция принадлежности для множества 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ru-RU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i="1" baseline="-250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)=1)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641060" y="5258730"/>
            <a:ext cx="33900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Функция принадлежности для 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421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83176" y="183943"/>
            <a:ext cx="94923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i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Пример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 Представить в виде нечеткого множества понятие “мужчина среднего роста”.</a:t>
            </a:r>
          </a:p>
          <a:p>
            <a:pPr marL="36195" marR="36195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Решение: </a:t>
            </a:r>
            <a:r>
              <a:rPr lang="ru-RU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)/</a:t>
            </a:r>
            <a:r>
              <a:rPr lang="en-US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US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= 0/155+0.1/160 + 0.3/165 + 0.8/170 +1/175 +1/180 + 0.5/185 +0/190. где знак + означает не суммирование, а просто принадлежность к множеству.</a:t>
            </a:r>
          </a:p>
          <a:p>
            <a:pPr indent="450215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Представим </a:t>
            </a: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65714" y="1854927"/>
            <a:ext cx="4049485" cy="2342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209" y="4708218"/>
            <a:ext cx="4578493" cy="162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628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30630" y="162733"/>
            <a:ext cx="9274628" cy="41099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" marR="36195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Пусть 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нечеткие множества в 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а </a:t>
            </a:r>
            <a:r>
              <a:rPr lang="ru-RU" sz="1600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sz="1600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1600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sz="1600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их четкие функции принадлежности соответственно. Справедливо утверждение, что 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включает в себя 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(т.е. 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 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 </a:t>
            </a: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нестрогое подмножество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 если для любого 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 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выполнено неравенство:</a:t>
            </a:r>
          </a:p>
          <a:p>
            <a:pPr marL="36195" marR="36195" algn="ctr">
              <a:lnSpc>
                <a:spcPct val="150000"/>
              </a:lnSpc>
              <a:spcAft>
                <a:spcPts val="0"/>
              </a:spcAft>
            </a:pPr>
            <a:r>
              <a:rPr lang="ru-RU" sz="1600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sz="1600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≤ </a:t>
            </a:r>
            <a:r>
              <a:rPr lang="ru-RU" sz="1600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sz="1600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6195" marR="36195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Множество 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совпадают (эквивалентны), если </a:t>
            </a:r>
            <a:r>
              <a:rPr lang="ru-RU" sz="1600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sz="1600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= </a:t>
            </a:r>
            <a:r>
              <a:rPr lang="ru-RU" sz="1600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sz="1600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 любом 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 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Если нечеткие множества 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таковы, что 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 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то и </a:t>
            </a:r>
            <a:r>
              <a:rPr lang="ru-RU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sup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 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sup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16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supremum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верхняя грань)</a:t>
            </a: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195" marR="36195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Пример.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Рассмотрим нечеткие множества:</a:t>
            </a:r>
          </a:p>
          <a:p>
            <a:pPr marL="36195" marR="36195" indent="450215">
              <a:lnSpc>
                <a:spcPct val="150000"/>
              </a:lnSpc>
            </a:pP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{«</a:t>
            </a: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величина x близка к 1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»/</a:t>
            </a: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},</a:t>
            </a:r>
          </a:p>
          <a:p>
            <a:pPr marL="36195" marR="36195" indent="450215">
              <a:lnSpc>
                <a:spcPct val="150000"/>
              </a:lnSpc>
            </a:pP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 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{«</a:t>
            </a: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величина х очень близка к 1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»/</a:t>
            </a: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}.</a:t>
            </a:r>
          </a:p>
          <a:p>
            <a:pPr marL="36195" marR="36195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Видно, что 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 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т.е. функции принадлежности этих множеств </a:t>
            </a:r>
            <a:r>
              <a:rPr lang="ru-RU" sz="16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sz="16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1600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sz="1600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должны удовлетворять неравенству </a:t>
            </a:r>
            <a:r>
              <a:rPr lang="ru-RU" sz="1600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sz="1600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≤ </a:t>
            </a:r>
            <a:r>
              <a:rPr lang="ru-RU" sz="1600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sz="1600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при 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 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16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531" y="4272704"/>
            <a:ext cx="3867241" cy="229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872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5463" y="200412"/>
            <a:ext cx="960555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b="1" i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Определение 3.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Лингвистической переменной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(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linguistic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variable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называется переменная, значениями которой могут быть слова или словосочетания некоторого естественного или искусственного языка.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b="1" i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Определение 4.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Терм–множеством (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term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set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называется множество всех возможных значений лингвистической переменной.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b="1" i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Определение 5.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Термом (</a:t>
            </a:r>
            <a:r>
              <a:rPr lang="ru-RU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term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 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называется любой элемент терм–множества. В теории нечетких множеств терм формализуется нечетким множеством с помощью функции принадлежности.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65463" y="3710541"/>
            <a:ext cx="42882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Свойства нечетких множеств</a:t>
            </a:r>
            <a:endParaRPr lang="ru-RU" sz="24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252549" y="4364058"/>
            <a:ext cx="115301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b="1" i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6.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Высотой нечеткого множества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называется верхняя граница его функции принадлежности: </a:t>
            </a:r>
            <a:r>
              <a:rPr lang="en-US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hgt</a:t>
            </a:r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(A) =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sup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ru-RU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супремум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– верхняя граница, </a:t>
            </a:r>
            <a:r>
              <a:rPr lang="en-US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hgt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сокращенное </a:t>
            </a:r>
            <a:r>
              <a:rPr lang="ru-RU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height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– верх)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 Для дискретного универсального множества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супремум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становится максимумом, а значит высотой нечеткого множества будет максимум степеней принадлежности его элементов.</a:t>
            </a: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019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48344" y="268097"/>
            <a:ext cx="937042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b="1" i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7.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Нечеткое множество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называется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нормальным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если выполнено равенство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sup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)=1;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 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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 противном случае нечеткое множество называется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субнормальным.</a:t>
            </a: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3" name="Рисунок 2" descr="http://matlab.exponenta.ru/fuzzylogic/book1/images/image007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5316" y="1606925"/>
            <a:ext cx="4710113" cy="3365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Прямоугольник 3"/>
          <p:cNvSpPr/>
          <p:nvPr/>
        </p:nvSpPr>
        <p:spPr>
          <a:xfrm>
            <a:off x="496387" y="5149302"/>
            <a:ext cx="10458995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" marR="36195" indent="450215" algn="just">
              <a:lnSpc>
                <a:spcPct val="115000"/>
              </a:lnSpc>
              <a:spcAft>
                <a:spcPts val="0"/>
              </a:spcAft>
            </a:pPr>
            <a:r>
              <a:rPr lang="ru-RU" b="1" i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Определение 8.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Носителем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нечеткого множества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называется четкое подмножество универсального множества </a:t>
            </a:r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, элементы которого имеют ненулевые степени принадлежности </a:t>
            </a:r>
            <a:r>
              <a:rPr lang="ru-RU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sup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 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= {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 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/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 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&gt; 0}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Другими словами, </a:t>
            </a:r>
            <a:r>
              <a:rPr lang="ru-RU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sup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определяет верхнюю границу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при положительных значениях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97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69669" y="184024"/>
                <a:ext cx="9413966" cy="27672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ru-RU" sz="1400" b="1" i="1" u="sng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Определение 9.</a:t>
                </a:r>
                <a:r>
                  <a:rPr lang="ru-RU" sz="1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Нечеткое множество называется пустым, если его носитель является пустым множеством.</a:t>
                </a:r>
              </a:p>
              <a:p>
                <a:pPr indent="450215" algn="just"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ru-RU" sz="1400" b="1" i="1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10.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Ядром нечеткого множества </a:t>
                </a:r>
                <a:r>
                  <a:rPr lang="ru-RU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А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называется четкое подмножество универсального множества </a:t>
                </a:r>
                <a:r>
                  <a:rPr lang="ru-RU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Х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элементы которого имеют степени принадлежности равные единице: </a:t>
                </a:r>
                <a:r>
                  <a:rPr lang="en-US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core</a:t>
                </a:r>
                <a:r>
                  <a:rPr lang="ru-RU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</a:t>
                </a:r>
                <a:r>
                  <a:rPr lang="en-US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</a:t>
                </a:r>
                <a:r>
                  <a:rPr lang="ru-RU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=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{</a:t>
                </a:r>
                <a:r>
                  <a:rPr lang="ru-RU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x 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/ </a:t>
                </a:r>
                <a:r>
                  <a:rPr lang="ru-RU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x 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sym typeface="Symbol" panose="05050102010706020507" pitchFamily="18" charset="2"/>
                  </a:rPr>
                  <a:t>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X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:r>
                  <a:rPr lang="ru-RU" sz="1400" b="1" i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μ</a:t>
                </a:r>
                <a:r>
                  <a:rPr lang="ru-RU" sz="1400" b="1" i="1" baseline="-250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</a:t>
                </a:r>
                <a:r>
                  <a:rPr lang="ru-RU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x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= 1}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</a:t>
                </a:r>
                <a:r>
                  <a:rPr lang="ru-RU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Ядро субнормального нечеткого множества пустое.</a:t>
                </a:r>
                <a:endParaRPr lang="ru-RU" sz="14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 indent="450215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ru-RU" sz="1400" b="1" i="1" u="sng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Определение 11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α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-сечением (или множеством 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α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-уровня) нечеткого множества </a:t>
                </a:r>
                <a:r>
                  <a:rPr lang="ru-RU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А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называется четкое подмножество универсального множества </a:t>
                </a:r>
                <a:r>
                  <a:rPr lang="ru-RU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Х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элементы которого имеют степени принадлежности большие или равные 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α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: </a:t>
                </a:r>
                <a:b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</a:b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Аα = {</a:t>
                </a:r>
                <a:r>
                  <a:rPr lang="ru-RU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x 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/ </a:t>
                </a:r>
                <a:r>
                  <a:rPr lang="ru-RU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x 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sym typeface="Symbol" panose="05050102010706020507" pitchFamily="18" charset="2"/>
                  </a:rPr>
                  <a:t>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ru-RU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X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:r>
                  <a:rPr lang="ru-RU" sz="1400" b="1" i="1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μ</a:t>
                </a:r>
                <a:r>
                  <a:rPr lang="ru-RU" sz="1400" b="1" i="1" baseline="-25000" dirty="0" err="1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A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(</a:t>
                </a:r>
                <a:r>
                  <a:rPr lang="ru-RU" sz="1400" b="1" i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x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≥ α}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1400" b="1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𝜶𝝐</m:t>
                    </m:r>
                    <m:d>
                      <m:dPr>
                        <m:begChr m:val="["/>
                        <m:endChr m:val="]"/>
                        <m:ctrlPr>
                          <a:rPr lang="ru-RU" sz="1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sz="1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𝟎</m:t>
                        </m:r>
                        <m:r>
                          <a:rPr lang="ru-RU" sz="1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,</m:t>
                        </m:r>
                        <m:r>
                          <a:rPr lang="ru-RU" sz="14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. Значение 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α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называют 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α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-уровнем. Носитель (ядро) можно рассматривать как сечение нечеткого множества на нулевом (единичном) </a:t>
                </a:r>
                <a:r>
                  <a:rPr lang="ru-RU" sz="1400" b="1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α</a:t>
                </a:r>
                <a:r>
                  <a:rPr lang="ru-RU" sz="14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-уровне.</a:t>
                </a: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9" y="184024"/>
                <a:ext cx="9413966" cy="2767232"/>
              </a:xfrm>
              <a:prstGeom prst="rect">
                <a:avLst/>
              </a:prstGeom>
              <a:blipFill>
                <a:blip r:embed="rId2"/>
                <a:stretch>
                  <a:fillRect l="-194" r="-129" b="-15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054" y="3095729"/>
            <a:ext cx="5389331" cy="345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00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10193" y="682228"/>
            <a:ext cx="76112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0"/>
              </a:spcAft>
            </a:pPr>
            <a:r>
              <a:rPr lang="ru-RU" b="1" i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12.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Нечеткое множество будет выпуклым, если все его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α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-сечения - выпуклые множества. </a:t>
            </a: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3" name="Рисунок 2" descr="http://matlab.exponenta.ru/fuzzylogic/book1/images/image017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1315" y="1987458"/>
            <a:ext cx="6197010" cy="4038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03042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84217" y="112291"/>
            <a:ext cx="61754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Операции над нечеткими множествами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65462" y="758622"/>
            <a:ext cx="980585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" marR="36195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b="1" i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Определение 13</a:t>
            </a:r>
            <a:r>
              <a:rPr lang="ru-RU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Объединением нечетких множеств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en-US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в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называется нечеткое множество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 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 функцией принадлежности вида</a:t>
            </a:r>
          </a:p>
          <a:p>
            <a:pPr marL="36195" marR="36195" algn="ctr">
              <a:lnSpc>
                <a:spcPct val="150000"/>
              </a:lnSpc>
              <a:spcAft>
                <a:spcPts val="0"/>
              </a:spcAft>
            </a:pPr>
            <a:r>
              <a:rPr lang="ru-RU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b="1" baseline="-25000" dirty="0" err="1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ru-RU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= </a:t>
            </a:r>
            <a:r>
              <a:rPr lang="ru-RU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max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  <a:r>
              <a:rPr lang="ru-RU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ru-RU" b="1" i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μ</a:t>
            </a:r>
            <a:r>
              <a:rPr lang="ru-RU" b="1" i="1" baseline="-25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)},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 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195" marR="36195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Определение 13а.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Объединением нечетких множеств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Х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можно определить и через алгебраическую сумму их функций принадлежности: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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=1 при 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+ 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≥ 1;</a:t>
            </a: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457" y="3781270"/>
            <a:ext cx="4040105" cy="234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18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6754" y="97893"/>
            <a:ext cx="984068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Пример 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Пусть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 =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{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x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x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x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x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5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}, а нечеткие множества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и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заданы через соответствующие величины функций принадлежности: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= {(0.1/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(0.5/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(1/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(0/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(0.8/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5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)};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 = {(0.6/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(1/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(0.4/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(0.7/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(0.8/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5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)}.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Объединение двух нечетких подмножеств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и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здесь будет иметь вид: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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 =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{(0.6/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(1/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(1/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(0.7/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(0.8/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5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)}.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b="1" i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14</a:t>
            </a:r>
            <a:r>
              <a:rPr lang="ru-RU" b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Пересечением нечетких множеств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и </a:t>
            </a:r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в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называется нечеткое множество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 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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с функцией принадлежности вида: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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= </a:t>
            </a:r>
            <a:r>
              <a:rPr lang="ru-RU" b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min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{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)}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i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14а.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Пересечение нечетких множеств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и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можно определить с использованием алгебраического произведения их функций принадлежности.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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= 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* 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 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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886" y="4653018"/>
            <a:ext cx="3544387" cy="203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07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93" y="311193"/>
            <a:ext cx="8279984" cy="585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95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30925" y="117207"/>
            <a:ext cx="947492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b="1" i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15.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Два нечетких множества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и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равны 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=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тогда и только тогда, когда выполняется равенство: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= 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);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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 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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marL="179705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Если найдется, по крайней мере, один такой элемент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ru-RU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из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что равенство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ru-RU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≠ 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ru-RU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не удовлетворяется, то будем говорить, что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и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не равны и обозначать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≠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16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Дополнением нечеткого множества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в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называется нечеткое множество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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с функцией принадлежности вида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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= 1–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 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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Х.</a:t>
            </a: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408" y="3827350"/>
            <a:ext cx="4769568" cy="230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2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96388" y="738447"/>
            <a:ext cx="925721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Пример.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Пусть задано некоторое множество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и множество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функций принадлежности: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 =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{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5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};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М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= [0, 1].</a:t>
            </a:r>
          </a:p>
          <a:p>
            <a:pPr indent="450215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Построим нечеткое множество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= {(0.15/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(0.45/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(0/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(0.75/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(1/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5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)}.</a:t>
            </a:r>
          </a:p>
          <a:p>
            <a:pPr indent="450215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Дополнение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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в этом случае будет иметь вид: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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= {(0.85/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(0.55/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(1/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(0.25/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), (0/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5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)}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для всех 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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выполняется условие 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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= 1–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А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b="1" i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17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Операция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перемещения 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изменяет положение функции принадлежности на величину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λ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 При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λ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&gt;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происходит перемещение вправо, а при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λ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&lt;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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влево. Выражение для функции принадлежности: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 = 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μ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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λ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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λ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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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х 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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X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284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966" y="194562"/>
            <a:ext cx="3999524" cy="196516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82880" y="2406525"/>
            <a:ext cx="116694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sz="1600" b="1" i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Определение 18</a:t>
            </a:r>
            <a:r>
              <a:rPr lang="ru-RU" sz="1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Операция </a:t>
            </a:r>
            <a:r>
              <a:rPr lang="ru-RU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нормализации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осуществляется в соответствии со следующей формулой: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Рисунок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1928" y="2967672"/>
            <a:ext cx="2620826" cy="733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9746" y="4022417"/>
            <a:ext cx="4211470" cy="234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91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347" y="300923"/>
            <a:ext cx="8070812" cy="306058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232" y="3579578"/>
            <a:ext cx="5191485" cy="276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753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61476" y="288072"/>
            <a:ext cx="36952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Отношения и операции над ними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61256" y="657404"/>
            <a:ext cx="957942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Если элемент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под номером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некоторого множества находится в отношении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 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sym typeface="Symbol" panose="05050102010706020507" pitchFamily="18" charset="2"/>
              </a:rPr>
              <a:t>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R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 элементом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под номером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j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того же множества, то, упрощая, пишут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ij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,v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j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 Отношение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можно оговорить заранее, и тогда достаточно будет указать лишь пары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</a:t>
            </a:r>
            <a:r>
              <a:rPr lang="ru-RU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,v</a:t>
            </a:r>
            <a:r>
              <a:rPr lang="ru-RU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j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 Если </a:t>
            </a:r>
            <a:r>
              <a:rPr lang="ru-RU" i="1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i,j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=1,2,3,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…,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то подмножество отношений между ними удобно задавать в виде таблицы:</a:t>
            </a: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88" y="2495367"/>
            <a:ext cx="8166899" cy="293442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39931" y="5419691"/>
            <a:ext cx="987552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где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11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отображает отношение для пары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</a:t>
            </a:r>
            <a:r>
              <a:rPr lang="ru-RU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</a:t>
            </a:r>
            <a:r>
              <a:rPr lang="ru-RU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ru-RU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12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соответственно для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(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</a:t>
            </a:r>
            <a:r>
              <a:rPr lang="ru-RU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</a:t>
            </a:r>
            <a:r>
              <a:rPr lang="ru-RU" b="1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v</a:t>
            </a:r>
            <a:r>
              <a:rPr lang="ru-RU" b="1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и т.д.</a:t>
            </a: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04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01" y="635028"/>
            <a:ext cx="9122578" cy="516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779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46" y="492546"/>
            <a:ext cx="8160605" cy="562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694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62225" y="392576"/>
            <a:ext cx="26402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ea typeface="Calibri" panose="020F0502020204030204" pitchFamily="34" charset="0"/>
              </a:rPr>
              <a:t>Нечеткие отношения</a:t>
            </a:r>
            <a:endParaRPr lang="ru-RU" sz="2000" b="1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53" y="1061747"/>
            <a:ext cx="8122770" cy="459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390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57" y="532718"/>
            <a:ext cx="8018727" cy="566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56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96" y="488954"/>
            <a:ext cx="7566718" cy="513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00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216" y="259953"/>
            <a:ext cx="6625355" cy="653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11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30" y="69669"/>
            <a:ext cx="6608114" cy="659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74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46" y="517487"/>
            <a:ext cx="7084413" cy="558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284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30" y="139781"/>
            <a:ext cx="6301271" cy="663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210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45" y="519646"/>
            <a:ext cx="7503432" cy="479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64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4171" y="214036"/>
            <a:ext cx="9527177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ВЕС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может быть задан лингвистической переменной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Z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термами которой будут: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МАЛЫЙ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СРЕДНИЙ, БОЛЬШОЙ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 Универсум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U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можно задать множеством целых положительных чисел [10, 15, 20, …, 250, 350] по шкале веса в граммах.</a:t>
            </a:r>
          </a:p>
          <a:p>
            <a:pPr indent="450215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Область задания термов лингвистической переменной (ЛП)  определим следующим образом: </a:t>
            </a:r>
          </a:p>
          <a:p>
            <a:pPr indent="450215">
              <a:lnSpc>
                <a:spcPct val="150000"/>
              </a:lnSpc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МАЛЫЙ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соответствует интервал [10–100], </a:t>
            </a:r>
          </a:p>
          <a:p>
            <a:pPr indent="450215">
              <a:lnSpc>
                <a:spcPct val="150000"/>
              </a:lnSpc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СРЕДНИЙ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– [101–200], </a:t>
            </a:r>
          </a:p>
          <a:p>
            <a:pPr indent="450215">
              <a:lnSpc>
                <a:spcPct val="150000"/>
              </a:lnSpc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БОЛЬШОЙ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– [201–350]. </a:t>
            </a:r>
          </a:p>
          <a:p>
            <a:pPr indent="450215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Тогда отображение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можно задать, например, в виде правил: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1. Если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вес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МАЛЫЙ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то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ЯБЛОКО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имеет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НИЗКУЮ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потребительскую стоимость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НПС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2. Если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вес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СРЕДНИЙ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то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ЯБЛОКО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имеет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ВЫСОКУЮ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потребительскую стоимость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ВПС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3. Если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вес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БОЛЬШОЙ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, то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ЯБЛОКО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имеет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СРЕДНЮЮ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потребительскую стоимость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(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СПС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).</a:t>
            </a:r>
            <a:endParaRPr lang="ru-RU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4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19" y="175771"/>
            <a:ext cx="8354498" cy="569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5204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07" y="279202"/>
            <a:ext cx="7635550" cy="636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830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38" y="311751"/>
            <a:ext cx="7661676" cy="639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865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55" y="172218"/>
            <a:ext cx="6451185" cy="657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04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38" y="364003"/>
            <a:ext cx="7243465" cy="604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0169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1824</Words>
  <Application>Microsoft Office PowerPoint</Application>
  <PresentationFormat>Широкоэкранный</PresentationFormat>
  <Paragraphs>75</Paragraphs>
  <Slides>33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ALEKSEY</dc:creator>
  <cp:lastModifiedBy>Владислав Холмогоров</cp:lastModifiedBy>
  <cp:revision>21</cp:revision>
  <dcterms:created xsi:type="dcterms:W3CDTF">2020-04-01T14:55:41Z</dcterms:created>
  <dcterms:modified xsi:type="dcterms:W3CDTF">2024-08-25T14:31:06Z</dcterms:modified>
</cp:coreProperties>
</file>