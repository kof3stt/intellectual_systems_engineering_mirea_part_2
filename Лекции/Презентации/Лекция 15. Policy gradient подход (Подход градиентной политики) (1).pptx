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1581913"/>
            <a:ext cx="10515600" cy="1946284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  <a:tabLst>
                <a:tab pos="5832475" algn="l"/>
                <a:tab pos="6049010" algn="r"/>
              </a:tabLst>
            </a:pP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Policy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gradient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подход </a:t>
            </a: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Подход градиентной политики)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86389" y="172040"/>
            <a:ext cx="2763577" cy="5900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Вывод первым способом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46888" y="644625"/>
                <a:ext cx="11658600" cy="1598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Пусть политика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параметризована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дифференцируема по параметрам. Тогда наш оптимизируемый функционал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тоже дифференцируем по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далее мы рассмотрим формулу этого градиента. Для этого нам понадобится стандартная техника вычисления градиента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распределению. Сейчас в оптимизируемом функционале у нас стоит целая цепочка вложенных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мат.ожиданий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наш вывод будет заключаться просто в последовательном применении той же техники к каждому стоящему там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мат.ожиданию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(·)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644625"/>
                <a:ext cx="11658600" cy="1598130"/>
              </a:xfrm>
              <a:prstGeom prst="rect">
                <a:avLst/>
              </a:prstGeom>
              <a:blipFill>
                <a:blip r:embed="rId2"/>
                <a:stretch>
                  <a:fillRect l="-314" r="-262" b="-1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73736" y="2373708"/>
                <a:ext cx="11658600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=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𝑙𝑜𝑔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| 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+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2373708"/>
                <a:ext cx="11658600" cy="683264"/>
              </a:xfrm>
              <a:prstGeom prst="rect">
                <a:avLst/>
              </a:prstGeom>
              <a:blipFill>
                <a:blip r:embed="rId3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91440" y="3144563"/>
                <a:ext cx="11109960" cy="6368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𝛾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𝔼</m:t>
                        </m:r>
                      </m:e>
                      <m:sub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</a:t>
                </a:r>
                <a:endParaRPr lang="ru-RU" sz="16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" y="3144563"/>
                <a:ext cx="11109960" cy="636841"/>
              </a:xfrm>
              <a:prstGeom prst="rect">
                <a:avLst/>
              </a:prstGeom>
              <a:blipFill>
                <a:blip r:embed="rId4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246888" y="3854390"/>
                <a:ext cx="11439144" cy="6368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Утверждение: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𝔼</m:t>
                        </m:r>
                      </m:e>
                      <m:sub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| 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+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)]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</a:t>
                </a:r>
                <a:endParaRPr lang="ru-RU" sz="1600" dirty="0"/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3854390"/>
                <a:ext cx="11439144" cy="636841"/>
              </a:xfrm>
              <a:prstGeom prst="rect">
                <a:avLst/>
              </a:prstGeom>
              <a:blipFill>
                <a:blip r:embed="rId5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173736" y="4668607"/>
                <a:ext cx="11512296" cy="18719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Осталось раскрутить эту рекурсивную цепочку, продолжая раскрывать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 будущее до бесконечности. Аккуратно собирая слагаемые, а также собирая из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мат.ожиданий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мат.ожидание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по траектории, получаем следующее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Утверждение — </a:t>
                </a:r>
                <a:r>
                  <a:rPr lang="ru-RU" sz="1600" u="sng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Policy</a:t>
                </a:r>
                <a:r>
                  <a:rPr lang="ru-RU" sz="1600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u="sng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Gradient</a:t>
                </a:r>
                <a:r>
                  <a:rPr lang="ru-RU" sz="1600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u="sng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Theorem</a:t>
                </a:r>
                <a:r>
                  <a:rPr lang="ru-RU" sz="1600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Выражение для градиента оптимизируемого функционала можно записать следующим образом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d>
                        <m:d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𝒯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≥0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γ</m:t>
                              </m:r>
                            </m:e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𝑙𝑜𝑔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|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4668607"/>
                <a:ext cx="11512296" cy="1871923"/>
              </a:xfrm>
              <a:prstGeom prst="rect">
                <a:avLst/>
              </a:prstGeom>
              <a:blipFill>
                <a:blip r:embed="rId6"/>
                <a:stretch>
                  <a:fillRect l="-318" r="-2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92024" y="292147"/>
                <a:ext cx="11585448" cy="1991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Вывод вторым способом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Применим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REINFORCE 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(УКРЕПИТЬ) не к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мат.ожиданиям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по отдельным действиям, а напрямую к распределению всей траектории следующим образом: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Теорема: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𝒯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s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≥0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𝑙𝑜𝑔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|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𝑅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𝒯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292147"/>
                <a:ext cx="11585448" cy="1991443"/>
              </a:xfrm>
              <a:prstGeom prst="rect">
                <a:avLst/>
              </a:prstGeom>
              <a:blipFill>
                <a:blip r:embed="rId2"/>
                <a:stretch>
                  <a:fillRect l="-316" r="-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92024" y="2283590"/>
                <a:ext cx="11585448" cy="7141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Теорема: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Для произвольного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с параметрами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верно: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𝑙𝑜𝑔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𝑎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)=0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2283590"/>
                <a:ext cx="11585448" cy="7141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65760" y="3335950"/>
                <a:ext cx="11411712" cy="24931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Теорема — Принцип причинности (</a:t>
                </a:r>
                <a:r>
                  <a:rPr lang="ru-RU" sz="1600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causality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): При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&gt;</m:t>
                    </m:r>
                    <m:acc>
                      <m:accPr>
                        <m:chr m:val="̂"/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acc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𝒯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𝜋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𝑙𝑜𝑔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|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acc>
                        </m:sup>
                      </m:sSup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acc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ˆ=0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</m:d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𝒯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𝜋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s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t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≥0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𝑙𝑜𝑔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|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	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(8.5)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Reward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to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go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(награда на вынос) очень похож на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-функцию, так как является Монте-Карло оценкой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-функции, 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распределениям всё равно берётся. Формальное обоснование эквивалентности выглядит так: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Формула (8.5) эквивалентна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𝒯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𝑙𝑜𝑔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|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 </a:t>
                </a:r>
                <a:endParaRPr lang="ru-RU" sz="1600" dirty="0"/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3335950"/>
                <a:ext cx="11411712" cy="2493183"/>
              </a:xfrm>
              <a:prstGeom prst="rect">
                <a:avLst/>
              </a:prstGeom>
              <a:blipFill>
                <a:blip r:embed="rId4"/>
                <a:stretch>
                  <a:fillRect l="-267" r="-267" b="-215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71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01593" y="199472"/>
            <a:ext cx="2263633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Физический смысл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398354" y="1310003"/>
                <a:ext cx="4925899" cy="8290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acc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):=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d>
                                <m:dPr>
                                  <m:begChr m:val="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𝒯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∼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acc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b>
                          </m:sSub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nary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p>
                              <m:acc>
                                <m:accPr>
                                  <m:chr m:val="̃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acc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354" y="1310003"/>
                <a:ext cx="4925899" cy="8290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09728" y="626739"/>
                <a:ext cx="11503152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Чтобы ещё лучше увидеть это, рассмотрим суррогатную функцию (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surrogate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objective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) — другой функционал, который будет иметь в точке текущих значений параметров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такой же градиент, как 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" y="626739"/>
                <a:ext cx="11503152" cy="683264"/>
              </a:xfrm>
              <a:prstGeom prst="rect">
                <a:avLst/>
              </a:prstGeom>
              <a:blipFill>
                <a:blip r:embed="rId3"/>
                <a:stretch>
                  <a:fillRect l="-265" r="-265"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448056" y="2518512"/>
                <a:ext cx="11375136" cy="3077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Это суррогатная функция от двух стратегий: стратегии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θ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которую мы оптимизируем, и ещё одной стратегии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Давайте рассмотрим эту суррогатную функцию в точке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такой, что эти две стратегии совпадают: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≡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θ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посмотрим на градиент при изменении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только одной из них. То есть что мы сказали: давайте «заморозим» оценочную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-функцию, и «заморозим» распределение, из которого приходят пары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Тогда: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ℒ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</m:acc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θ</m:t>
                          </m:r>
                        </m:e>
                      </m:d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</m:acc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 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θ</m:t>
                              </m:r>
                            </m:sub>
                          </m:sSub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J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θ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Значит, направление максимизации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текущей точке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просто совпадает с направлением максимизации этой суррогатной функции. Это принципиально единственное свойство введённой суррогатной функции. Таким образом, можно считать, что в текущей точке мы на самом деле «как бы» максимизируем (8.6), а это уже в чистом виде логарифм правдоподобия каких-то пар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для каждой из которых дополнительно выдан «вес» в виде значения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2518512"/>
                <a:ext cx="11375136" cy="3077830"/>
              </a:xfrm>
              <a:prstGeom prst="rect">
                <a:avLst/>
              </a:prstGeom>
              <a:blipFill>
                <a:blip r:embed="rId4"/>
                <a:stretch>
                  <a:fillRect l="-322" r="-268" b="-7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/>
          <p:nvPr/>
        </p:nvPicPr>
        <p:blipFill rotWithShape="1">
          <a:blip r:embed="rId5"/>
          <a:srcRect l="43691" t="48370" r="43516" b="46390"/>
          <a:stretch/>
        </p:blipFill>
        <p:spPr bwMode="auto">
          <a:xfrm>
            <a:off x="1030222" y="5836920"/>
            <a:ext cx="2563369" cy="6278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/>
          <p:cNvPicPr/>
          <p:nvPr/>
        </p:nvPicPr>
        <p:blipFill rotWithShape="1">
          <a:blip r:embed="rId5"/>
          <a:srcRect l="41602" t="62449" r="41420" b="32725"/>
          <a:stretch/>
        </p:blipFill>
        <p:spPr bwMode="auto">
          <a:xfrm>
            <a:off x="5382958" y="5836920"/>
            <a:ext cx="3239834" cy="6278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46665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30096" y="226904"/>
            <a:ext cx="2997295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REINFORCE 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(УКРЕПИТЬ)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672508" y="614702"/>
                <a:ext cx="40605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𝒯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𝒯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508" y="614702"/>
                <a:ext cx="4060599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-96569" y="1132160"/>
            <a:ext cx="2750112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REINFORCE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 rotWithShape="1">
          <a:blip r:embed="rId3"/>
          <a:srcRect l="26176" t="41029" r="26362" b="28565"/>
          <a:stretch/>
        </p:blipFill>
        <p:spPr bwMode="auto">
          <a:xfrm>
            <a:off x="1783080" y="1519958"/>
            <a:ext cx="8083296" cy="2869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-224457" y="4596120"/>
            <a:ext cx="5755999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State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visitation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frequency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(Состояние посещения частоты)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4222110" y="5109923"/>
                <a:ext cx="32052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):=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110" y="5109923"/>
                <a:ext cx="3205236" cy="369332"/>
              </a:xfrm>
              <a:prstGeom prst="rect">
                <a:avLst/>
              </a:prstGeom>
              <a:blipFill>
                <a:blip r:embed="rId4"/>
                <a:stretch>
                  <a:fillRect t="-119672" r="-15619" b="-1836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Прямоугольник 7"/>
              <p:cNvSpPr/>
              <p:nvPr/>
            </p:nvSpPr>
            <p:spPr>
              <a:xfrm>
                <a:off x="237744" y="5785205"/>
                <a:ext cx="11137392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Состояния, которые встречает агент со стратегией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приходят из некоторой стационарной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марковской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цепи.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5785205"/>
                <a:ext cx="11137392" cy="683264"/>
              </a:xfrm>
              <a:prstGeom prst="rect">
                <a:avLst/>
              </a:prstGeom>
              <a:blipFill>
                <a:blip r:embed="rId5"/>
                <a:stretch>
                  <a:fillRect l="-274" r="-274"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79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83464" y="243652"/>
                <a:ext cx="11356848" cy="45487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Допустим, начальное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фиксировано. Обозначим вероятность оказаться в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момент времени t при использовании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как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Мы могли бы попробовать посчитать, сколько раз мы в среднем оказываемся в некотором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просто просуммировав по времени: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t</m:t>
                          </m:r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/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однако, как легко видеть, такой ряд может оказаться равен бесконечности (например, если в MDP всего одно состояние). Поскольку мы хотели получить распределение, мы можем попробовать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отнормировать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этот «счётчик»: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данного MDP и политики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state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visitation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frequency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(состояние посещения частоты) называется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µ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𝑇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t</m:t>
                            </m:r>
                            <m: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≥0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T</m:t>
                            </m:r>
                          </m:sup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|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			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(8.7)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Вообще говоря, мы мало что можем сказать про это распределение. При некоторых технических условиях у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марковской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цепи встречаемых состояний может существовать некоторое стационарное распределение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t</m:t>
                            </m:r>
                            <m: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𝑝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𝑡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=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из которого будут приходить встречающиеся состояния, условно, через бесконечное количество шагов взаимодействия; если так, то (8.7) совпадает с ним, поскольку, интуитивно, начиная с некоторого достаточно большого момента времени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все слагаемые в ряде будут очень похожи на стационарное распределение.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243652"/>
                <a:ext cx="11356848" cy="4548746"/>
              </a:xfrm>
              <a:prstGeom prst="rect">
                <a:avLst/>
              </a:prstGeom>
              <a:blipFill>
                <a:blip r:embed="rId2"/>
                <a:stretch>
                  <a:fillRect l="-322" r="-268" b="-2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0" y="4792398"/>
            <a:ext cx="4871655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Расцепление внешней и внутренней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стохастики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92024" y="5154420"/>
                <a:ext cx="10204704" cy="1400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Для этого мы сейчас придумаем, как можно записывать функционалы вида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 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какая-то функция от пар состояние-действие, немного по-другому.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5154420"/>
                <a:ext cx="10204704" cy="1400512"/>
              </a:xfrm>
              <a:prstGeom prst="rect">
                <a:avLst/>
              </a:prstGeom>
              <a:blipFill>
                <a:blip r:embed="rId3"/>
                <a:stretch>
                  <a:fillRect b="-34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675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19456" y="348669"/>
                <a:ext cx="11402568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Для данного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MDP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политики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discounted state visitation distribution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(распределение посещений со скидкой) называется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):=(1−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≥0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p</m:t>
                        </m:r>
                        <m:d>
                          <m:dPr>
                            <m:endChr m:val="|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t</m:t>
                                </m:r>
                              </m:sub>
                            </m:sSub>
                            <m: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s</m:t>
                            </m:r>
                            <m: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		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(8.8)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 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State visitation distribution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(состояние распределение посещений) есть распределение на множестве состояний, то есть: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348669"/>
                <a:ext cx="11402568" cy="1865126"/>
              </a:xfrm>
              <a:prstGeom prst="rect">
                <a:avLst/>
              </a:prstGeom>
              <a:blipFill>
                <a:blip r:embed="rId2"/>
                <a:stretch>
                  <a:fillRect l="-267" r="-214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/>
          <p:nvPr/>
        </p:nvPicPr>
        <p:blipFill rotWithShape="1">
          <a:blip r:embed="rId3"/>
          <a:srcRect l="46219" t="68674" r="45819" b="25528"/>
          <a:stretch/>
        </p:blipFill>
        <p:spPr bwMode="auto">
          <a:xfrm>
            <a:off x="5073840" y="2298128"/>
            <a:ext cx="1693799" cy="783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478536" y="3193293"/>
                <a:ext cx="11426952" cy="7644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 Для произвольной функции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𝒯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𝛾</m:t>
                        </m:r>
                      </m:den>
                    </m:f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ru-RU" sz="1600" dirty="0"/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36" y="3193293"/>
                <a:ext cx="11426952" cy="764440"/>
              </a:xfrm>
              <a:prstGeom prst="rect">
                <a:avLst/>
              </a:prstGeom>
              <a:blipFill>
                <a:blip r:embed="rId4"/>
                <a:stretch>
                  <a:fillRect t="-3200" b="-656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431736" y="4069498"/>
                <a:ext cx="11271504" cy="989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Оптимизируемый функционал можно записать в таком виде: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𝐽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𝜋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1−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36" y="4069498"/>
                <a:ext cx="11271504" cy="9891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478536" y="5276483"/>
                <a:ext cx="10338816" cy="989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Рассмотренная теорема позволяет переписать и формулу градиента: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𝐽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𝜋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1−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𝑙𝑜𝑔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36" y="5276483"/>
                <a:ext cx="10338816" cy="9891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196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09728" y="249752"/>
                <a:ext cx="11558016" cy="4376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На практике во всех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Gradient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методах от дисконтирования частот посещения отказываются. Это означает, что мы заменяем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µ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𝐽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𝜋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)≈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1−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µ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𝑙𝑜𝑔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формуле (8.4) это эквивалентно удалению множителя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𝐽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𝜋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)≈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𝑙𝑜𝑔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Мы вовсе не отказались от дисконтирования: оно всё ещё сидит внутри оценочной функции и даёт приоритет ближайшей награде перед получением той же награды в будущем, как мы и задумывали изначально. Итак, при таком соглашении мы можем получить как бы оценку Монте-Карло на градиент: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𝐽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≈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1−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a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s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𝑙𝑜𝑔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s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π</m:t>
                          </m:r>
                        </m:sub>
                      </m:sSub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s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Такую оценку можно считать условно несмещённой (с учётом нашего забивания на множитель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приближённого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сэмплирования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s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),если у нас на руках есть точная (или хотя бы несмещённое) оценка «кредита»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" y="249752"/>
                <a:ext cx="11558016" cy="4376070"/>
              </a:xfrm>
              <a:prstGeom prst="rect">
                <a:avLst/>
              </a:prstGeom>
              <a:blipFill>
                <a:blip r:embed="rId2"/>
                <a:stretch>
                  <a:fillRect l="-264" r="-264" b="-2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-241199" y="4625822"/>
            <a:ext cx="4932504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Связь с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policy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improvement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(улучшение политики)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74320" y="5102401"/>
                <a:ext cx="11713464" cy="15801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Формула градиента даёт ещё одну интересную интерпретацию. Давайте введём ещё одну суррогатную функцию (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surrogate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objective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). Как и суррогатная </a:t>
                </a:r>
                <a:r>
                  <a:rPr lang="ru-RU" sz="1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функция, 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это будет ещё один функционал, который имеет в точке текущих значений параметров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такой же градиент, как 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ℒ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</m:acc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γ</m:t>
                          </m:r>
                        </m:den>
                      </m:f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𝑑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𝜋</m:t>
                                  </m:r>
                                </m:e>
                              </m:acc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Q</m:t>
                          </m:r>
                        </m:e>
                        <m:sup>
                          <m:acc>
                            <m:accPr>
                              <m:chr m:val="̃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</m:acc>
                        </m:sup>
                      </m:sSup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s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a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5102401"/>
                <a:ext cx="11713464" cy="1580113"/>
              </a:xfrm>
              <a:prstGeom prst="rect">
                <a:avLst/>
              </a:prstGeom>
              <a:blipFill>
                <a:blip r:embed="rId3"/>
                <a:stretch>
                  <a:fillRect l="-260" r="-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4003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83464" y="277276"/>
                <a:ext cx="11576304" cy="1649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ℒ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</m:acc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</m:acc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≡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𝐽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Это значит, что в текущей точке градиенты указывают туда же, куда и при максимизации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ℒ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</m:acc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А куда указывает направление градиентов для неё? Выражение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Q</m:t>
                        </m:r>
                      </m:e>
                      <m:sup>
                        <m:acc>
                          <m:accPr>
                            <m:chr m:val="̃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</m:acc>
                      </m:sup>
                    </m:sSup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s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a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говорит максимизировать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-функцию по выбираемым нами действиям.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277276"/>
                <a:ext cx="11576304" cy="1649619"/>
              </a:xfrm>
              <a:prstGeom prst="rect">
                <a:avLst/>
              </a:prstGeom>
              <a:blipFill>
                <a:blip r:embed="rId2"/>
                <a:stretch>
                  <a:fillRect l="-316" r="-263" b="-22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549" y="1926895"/>
            <a:ext cx="3350134" cy="56694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78213" y="2210368"/>
            <a:ext cx="1428533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Бэйзлайн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81" y="2706548"/>
            <a:ext cx="2854176" cy="20757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3898392" y="2820021"/>
                <a:ext cx="7961376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Но у нас в Монте-Карло оценке только один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для него направление изменения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домножится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кредит, на нашу оценку Qπ(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s,a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). Если эта оценка в одной области 100, а в другой 1000 — дисперсия получаемых значений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𝑙𝑜𝑔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|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становится колоссальной. Было бы сильно лучше, если бы «кредит» — вес примеров — был в среднем центрирован, и тоже колебался возле нуля</a:t>
                </a:r>
                <a:endParaRPr lang="ru-RU" sz="1600" dirty="0"/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392" y="2820021"/>
                <a:ext cx="7961376" cy="1323439"/>
              </a:xfrm>
              <a:prstGeom prst="rect">
                <a:avLst/>
              </a:prstGeom>
              <a:blipFill>
                <a:blip r:embed="rId5"/>
                <a:stretch>
                  <a:fillRect l="-459" t="-1382" b="-46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283464" y="5075585"/>
                <a:ext cx="11457432" cy="989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Для произвольной функции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𝑏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ℝ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называемой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бэйзлайном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верно: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J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π</m:t>
                          </m:r>
                        </m:e>
                      </m:d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γ</m:t>
                          </m:r>
                        </m:den>
                      </m:f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π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a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s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𝑙𝑜𝑔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|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b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s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5075585"/>
                <a:ext cx="11457432" cy="9891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583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9456" y="207365"/>
            <a:ext cx="10076688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Теорема: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Бэйзлайном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максимально снижающим дисперсию Монте-Карло оценок формулы градиентов, является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431" y="816838"/>
            <a:ext cx="4306829" cy="819937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 rotWithShape="1">
          <a:blip r:embed="rId3"/>
          <a:srcRect l="18955" t="35100" r="18813" b="57561"/>
          <a:stretch/>
        </p:blipFill>
        <p:spPr bwMode="auto">
          <a:xfrm>
            <a:off x="1472184" y="1901093"/>
            <a:ext cx="8661971" cy="6903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301752" y="2647239"/>
                <a:ext cx="11503152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Эта аппроксимация довольно интуитивная: по логике, для дисперсии хорошо, если значения функции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</m:d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b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s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вертятся вокруг нуля, то есть в среднем дают ноль, и поэтому хорошим (но неоптимальным)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бэйзлайном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будет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2647239"/>
                <a:ext cx="11503152" cy="683264"/>
              </a:xfrm>
              <a:prstGeom prst="rect">
                <a:avLst/>
              </a:prstGeom>
              <a:blipFill>
                <a:blip r:embed="rId4"/>
                <a:stretch>
                  <a:fillRect l="-318"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9968" y="3393385"/>
            <a:ext cx="8266176" cy="4269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301752" y="4235710"/>
                <a:ext cx="11503152" cy="21710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J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π</m:t>
                          </m:r>
                        </m:e>
                      </m:d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γ</m:t>
                          </m:r>
                        </m:den>
                      </m:f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s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𝑙𝑜𝑔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|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π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s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a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Таким образом, «кредит», который мы выдаём каждой паре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s,a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будет являться оценкой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(Преимущество), и состоять из двух слагаемых: оценки Q-функции 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бэйзлайна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Именно поэтому этот вес и называется «кредитом»: задача оценки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есть в точности тот самый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credit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assingment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(предоставление кредита) который мы обсуждали.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 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4235710"/>
                <a:ext cx="11503152" cy="2171044"/>
              </a:xfrm>
              <a:prstGeom prst="rect">
                <a:avLst/>
              </a:prstGeom>
              <a:blipFill>
                <a:blip r:embed="rId6"/>
                <a:stretch>
                  <a:fillRect l="-318" r="-2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6514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391</Words>
  <Application>Microsoft Office PowerPoint</Application>
  <PresentationFormat>Широкоэкранный</PresentationFormat>
  <Paragraphs>81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Тема Office</vt:lpstr>
      <vt:lpstr>Policy gradient подход  (Подход градиентной политики)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54</cp:revision>
  <dcterms:created xsi:type="dcterms:W3CDTF">2020-10-06T14:10:24Z</dcterms:created>
  <dcterms:modified xsi:type="dcterms:W3CDTF">2023-10-07T09:00:38Z</dcterms:modified>
</cp:coreProperties>
</file>