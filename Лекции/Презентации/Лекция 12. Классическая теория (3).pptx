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90" r:id="rId7"/>
    <p:sldId id="291" r:id="rId8"/>
    <p:sldId id="292" r:id="rId9"/>
    <p:sldId id="293" r:id="rId10"/>
    <p:sldId id="286" r:id="rId11"/>
    <p:sldId id="287" r:id="rId12"/>
    <p:sldId id="288" r:id="rId13"/>
    <p:sldId id="289" r:id="rId14"/>
    <p:sldId id="294" r:id="rId15"/>
    <p:sldId id="296" r:id="rId16"/>
    <p:sldId id="297" r:id="rId17"/>
    <p:sldId id="295" r:id="rId18"/>
    <p:sldId id="298" r:id="rId19"/>
    <p:sldId id="299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Классическая теория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80884" y="184440"/>
            <a:ext cx="22752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Табличные алгоритмы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313059" y="522994"/>
            <a:ext cx="6947671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Exploration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exploitation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дилемма (дилемма исследование-использование)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Прямоугольник 7"/>
              <p:cNvSpPr/>
              <p:nvPr/>
            </p:nvSpPr>
            <p:spPr>
              <a:xfrm>
                <a:off x="192024" y="1023300"/>
                <a:ext cx="11292840" cy="1069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 какой же стратегией играть со средой, чтобы получать траектории? Коли мы учим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у нас на очередном шаге есть текущее приближение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мы можем использовать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exploit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эти знания.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Собирая траектории при помощи жадной стратегии, есть риск не сойтись к оптимальной.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1023300"/>
                <a:ext cx="11292840" cy="1069845"/>
              </a:xfrm>
              <a:prstGeom prst="rect">
                <a:avLst/>
              </a:prstGeom>
              <a:blipFill>
                <a:blip r:embed="rId2"/>
                <a:stretch>
                  <a:fillRect l="-324" r="-270" b="-4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Прямоугольник 8"/>
              <p:cNvSpPr/>
              <p:nvPr/>
            </p:nvSpPr>
            <p:spPr>
              <a:xfrm>
                <a:off x="135870" y="2231429"/>
                <a:ext cx="11405148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Любая стратегия, для которой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:µ(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удовлетворяет условию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inﬁnite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visitation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(бесконечного посещения), то есть с отличной от нуля вероятностью в траектории, порождённой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встретится любая пара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70" y="2231429"/>
                <a:ext cx="11405148" cy="683264"/>
              </a:xfrm>
              <a:prstGeom prst="rect">
                <a:avLst/>
              </a:prstGeom>
              <a:blipFill>
                <a:blip r:embed="rId3"/>
                <a:stretch>
                  <a:fillRect l="-267" r="-321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/>
              <p:cNvSpPr/>
              <p:nvPr/>
            </p:nvSpPr>
            <p:spPr>
              <a:xfrm>
                <a:off x="457200" y="3052977"/>
                <a:ext cx="11311128" cy="30921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Обсудим базовые варианты, как можно решать этот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exploration-exploitation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trade-o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(компромисс между исследованием-использованием) в контексте вычисления оптимальной Q-функции методом временных разностей. Нам нужно взять нашу стратегию использования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что-нибудь с ней поделать так, чтобы она стала формально стохастичной.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-жадной (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greedy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называется стратегия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µ(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a</m:t>
                                </m:r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Uniform</m:t>
                                </m:r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A</m:t>
                                </m:r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) с вероятностью 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ε</m:t>
                                </m:r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; 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6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𝑠</m:t>
                                        </m:r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                         </m:t>
                                    </m:r>
                                    <m:r>
                                      <a:rPr lang="ru-RU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иначе.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Больцмановской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температурой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𝜏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стратегия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µ(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𝑠𝑜𝑓𝑡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52977"/>
                <a:ext cx="11311128" cy="3092129"/>
              </a:xfrm>
              <a:prstGeom prst="rect">
                <a:avLst/>
              </a:prstGeom>
              <a:blipFill>
                <a:blip r:embed="rId4"/>
                <a:stretch>
                  <a:fillRect l="-269" r="-2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67145" y="153752"/>
            <a:ext cx="4040658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Реплей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буфер (буфер воспроизведения)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67145" y="515774"/>
            <a:ext cx="2504853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Q-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learning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l="25984" t="21490" r="29059" b="53552"/>
          <a:stretch/>
        </p:blipFill>
        <p:spPr bwMode="auto">
          <a:xfrm>
            <a:off x="1883664" y="877796"/>
            <a:ext cx="7735823" cy="28895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43344" y="3976986"/>
                <a:ext cx="11524983" cy="18989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данного буфера — набора переходов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будем называть эмпирическим MDP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empirical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MDP – Марковских процессов принятия решений) MDP с тем же пространством состояний, действий и функций награды, где функция переходов задана следующим образом: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</m:e>
                      </m:ac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число троек s,a,s0, входящих в буфер,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число пар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входящих в буфер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44" y="3976986"/>
                <a:ext cx="11524983" cy="1898918"/>
              </a:xfrm>
              <a:prstGeom prst="rect">
                <a:avLst/>
              </a:prstGeom>
              <a:blipFill>
                <a:blip r:embed="rId3"/>
                <a:stretch>
                  <a:fillRect l="-317" r="-265" b="-16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59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92608" y="270123"/>
                <a:ext cx="11164824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При выполнении условий на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rate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(скорости обучения), Q-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, запущенный с фиксированного буфера, выучит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эмпирического MDP.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" y="270123"/>
                <a:ext cx="11164824" cy="683264"/>
              </a:xfrm>
              <a:prstGeom prst="rect">
                <a:avLst/>
              </a:prstGeom>
              <a:blipFill>
                <a:blip r:embed="rId2"/>
                <a:stretch>
                  <a:fillRect l="-273" r="-218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46304" y="953387"/>
                <a:ext cx="11457432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Реплей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буфер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replay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bu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experience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replay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— это память со всеми собранными агентом переходами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𝑑𝑜𝑛𝑒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Реплей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буфер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replay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bu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experience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replay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— это память со всеми собранными агентом переходами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𝑑𝑜𝑛𝑒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done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сделанный)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 взаимодействие со средой продолжается, буфер расширяется, и распределение, из которого приходит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становится всё больше похожим на настоящее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на факт сходимости это не влияет.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" y="953387"/>
                <a:ext cx="11457432" cy="1865126"/>
              </a:xfrm>
              <a:prstGeom prst="rect">
                <a:avLst/>
              </a:prstGeom>
              <a:blipFill>
                <a:blip r:embed="rId3"/>
                <a:stretch>
                  <a:fillRect l="-266" r="-213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292608" y="2818513"/>
            <a:ext cx="11146536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4000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</a:t>
            </a:r>
            <a:r>
              <a:rPr 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 Q-learning with experience replay – Q-</a:t>
            </a:r>
            <a:r>
              <a:rPr lang="en-US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обучение</a:t>
            </a:r>
            <a:r>
              <a:rPr 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 </a:t>
            </a:r>
            <a:r>
              <a:rPr lang="en-US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повторением</a:t>
            </a:r>
            <a:r>
              <a:rPr 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опыта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 rotWithShape="1">
          <a:blip r:embed="rId4"/>
          <a:srcRect l="26236" t="19658" r="29359" b="50205"/>
          <a:stretch/>
        </p:blipFill>
        <p:spPr bwMode="auto">
          <a:xfrm>
            <a:off x="1746504" y="3206311"/>
            <a:ext cx="7863840" cy="33644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046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73918" y="153752"/>
            <a:ext cx="1219565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SARSA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435864" y="515774"/>
                <a:ext cx="11503152" cy="6606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Рассмотрели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o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(вне политики) алгоритм: мы умеем оценивать нашу текущую стратегию (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неявно сидящий внутри формулы обновления), используя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другой стратегии.</a:t>
                </a:r>
                <a:endParaRPr lang="ru-RU" sz="1600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64" y="515774"/>
                <a:ext cx="11503152" cy="660694"/>
              </a:xfrm>
              <a:prstGeom prst="rect">
                <a:avLst/>
              </a:prstGeom>
              <a:blipFill>
                <a:blip r:embed="rId2"/>
                <a:stretch>
                  <a:fillRect l="-318" t="-3704"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09728" y="1176468"/>
                <a:ext cx="11756136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Рассмотрим очень похожий на Q-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алгоритм. Будем использовать пятёрки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(отсюда и название) прямо из траекторий нашего взаимодействия со средой 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апдейтить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текущее приближение Q-функции по формуле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" y="1176468"/>
                <a:ext cx="11756136" cy="978729"/>
              </a:xfrm>
              <a:prstGeom prst="rect">
                <a:avLst/>
              </a:prstGeom>
              <a:blipFill>
                <a:blip r:embed="rId3"/>
                <a:stretch>
                  <a:fillRect l="-259" r="-207" b="-6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-90562" y="2155197"/>
            <a:ext cx="2272417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</a:t>
            </a:r>
            <a:r>
              <a:rPr 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 SARSA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4"/>
          <a:srcRect l="25985" t="26342" r="29339" b="49855"/>
          <a:stretch/>
        </p:blipFill>
        <p:spPr bwMode="auto">
          <a:xfrm>
            <a:off x="2506043" y="2542995"/>
            <a:ext cx="6963505" cy="28268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0" y="5575955"/>
                <a:ext cx="8868802" cy="8193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Будем говорить, что стратегия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-мягкая (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soft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)≥ 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𝒜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</m:den>
                    </m:f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ε-мягкая,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−жадный(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 хуже,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75955"/>
                <a:ext cx="8868802" cy="819391"/>
              </a:xfrm>
              <a:prstGeom prst="rect">
                <a:avLst/>
              </a:prstGeom>
              <a:blipFill>
                <a:blip r:embed="rId5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62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28016" y="33863"/>
                <a:ext cx="11722608" cy="21141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 Для данного MDP оптимальными ε-мягкими оценочными функциями назовём: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𝑠𝑜𝑓𝑡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:= 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𝜀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−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𝑠𝑜𝑓𝑡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𝑠𝑜𝑓𝑡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:= 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𝜀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−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𝑠𝑜𝑓𝑡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π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Как тогда будет выглядеть принцип оптимальности? Раньше нужно было выбирать самое хорошее действие, но теперь так делать нельзя. Проводя аналогичные рассуждения, можно показать, что теперь оптимально выбирать самое хорошее действие с вероятностью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1−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 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, а всем остальным действиям выдавать минимально разрешённую вероятность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" y="33863"/>
                <a:ext cx="11722608" cy="2114169"/>
              </a:xfrm>
              <a:prstGeom prst="rect">
                <a:avLst/>
              </a:prstGeom>
              <a:blipFill>
                <a:blip r:embed="rId2"/>
                <a:stretch>
                  <a:fillRect l="-260" r="-260" b="-17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74904" y="2248616"/>
                <a:ext cx="11475720" cy="4119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 u="sng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Утверждение: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Стратегия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оптимальна в классе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-мягких стратегий тогда и только тогда, когда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таких, что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𝐴𝑟𝑔𝑚𝑎𝑥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верно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𝒜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</m:den>
                    </m:f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Уравнения оптимальности, соответственно, теперь выглядят так: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𝑠𝑜𝑓𝑡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r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γ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(1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ε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𝜀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 −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𝑠𝑜𝑓𝑡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|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𝒜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|</m:t>
                                  </m:r>
                                </m:den>
                              </m:f>
                            </m:e>
                          </m:func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𝜀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 −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𝑠𝑜𝑓𝑡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теперь понимаем, что наша формула обновления — просто метод решения такого уравнения оптимальности: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сэмплируя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-жадной стратегии, мы просто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стохастически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аппроксимируем по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мат.ожиданию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-жадной стратегии. Мы могли бы, вообще говоря, взять это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полностью явно, сбив таким образом дисперсию: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определению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равно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=(1−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𝜀</m:t>
                              </m:r>
                            </m:num>
                            <m:den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𝒜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4" y="2248616"/>
                <a:ext cx="11475720" cy="4119141"/>
              </a:xfrm>
              <a:prstGeom prst="rect">
                <a:avLst/>
              </a:prstGeom>
              <a:blipFill>
                <a:blip r:embed="rId3"/>
                <a:stretch>
                  <a:fillRect l="-319" r="-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47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47861" y="153752"/>
            <a:ext cx="3105978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Expected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-SARSA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 rotWithShape="1">
          <a:blip r:embed="rId2"/>
          <a:srcRect l="26244" t="29578" r="25681" b="41767"/>
          <a:stretch/>
        </p:blipFill>
        <p:spPr bwMode="auto">
          <a:xfrm>
            <a:off x="2078641" y="600085"/>
            <a:ext cx="8034718" cy="26937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610939" y="3655904"/>
            <a:ext cx="6163803" cy="361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Bias-VarianceTrade-O</a:t>
            </a:r>
            <a:r>
              <a:rPr lang="ru-RU" sz="1600" b="1" i="1" dirty="0" err="1">
                <a:solidFill>
                  <a:srgbClr val="00000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ﬀ</a:t>
            </a:r>
            <a:r>
              <a:rPr lang="ru-RU" sz="1600" b="1" i="1" dirty="0">
                <a:solidFill>
                  <a:srgbClr val="00000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 (Компромисс смещения и дисперсии)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-415851" y="4017670"/>
            <a:ext cx="3187860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Дилемма смещения-разброса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210312" y="4741458"/>
                <a:ext cx="11494008" cy="19278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обсудили два вида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бэкапов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, доступных в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model-free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обучении: Монте-Карло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бэкап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Temporal-Di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(временная разница)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бэкап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На самом деле, они очень похожи, поскольку делают обновление вида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 отличаются лишь выбором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Монте-Карло берёт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reward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to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go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(награда на вынос), а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backup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одношаговую оценку с использованием уже имеющейся аппроксимации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" y="4741458"/>
                <a:ext cx="11494008" cy="1927835"/>
              </a:xfrm>
              <a:prstGeom prst="rect">
                <a:avLst/>
              </a:prstGeom>
              <a:blipFill>
                <a:blip r:embed="rId3"/>
                <a:stretch>
                  <a:fillRect l="-318" r="-2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130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06662" y="226904"/>
            <a:ext cx="5601020" cy="361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N-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step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Temporal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Di</a:t>
            </a:r>
            <a:r>
              <a:rPr lang="ru-RU" sz="1600" i="1" dirty="0" err="1">
                <a:solidFill>
                  <a:srgbClr val="00000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ﬀ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erence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-шагов временной разницы)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10896" y="588670"/>
                <a:ext cx="11521440" cy="2803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Какие есть промежуточные варианты между одношаговыми оценками и Монте-Карло оценками? Давайте заглядывать в будущее не на один шаг и не до самого конца, а на N шагов. Итак, пусть у нас есть целый фрагмент траектории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Фрагмент траектории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,...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состояние и действие, которое агент встретил через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шагов, будем называть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роллаутом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rollout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длины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-шаговой оценкой (N-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step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estimation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для Qπ(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s,a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назовём следующий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+···+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тобы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выучить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нужно, чтобы состояния приходили из функции переходов, а действия — из оцениваемой стратегии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Другими словами,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использованный для построения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должен быть порождён оцениваемой стратегией.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96" y="588670"/>
                <a:ext cx="11521440" cy="2803844"/>
              </a:xfrm>
              <a:prstGeom prst="rect">
                <a:avLst/>
              </a:prstGeom>
              <a:blipFill>
                <a:blip r:embed="rId2"/>
                <a:stretch>
                  <a:fillRect l="-265" r="-265" b="-10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37160" y="3470995"/>
                <a:ext cx="11868912" cy="27761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Понятно, что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оценка переходит в Монте-Карло оценку. С увеличением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всё больше интегралов заменяется на Монте-Карло оценки, и растёт дисперсия; наше же смещённое приближение будущих наград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которое может быть сколь угодно неверным,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домножается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во столько же раз сбивается потенциальное смещение; с ростом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оно уходит в ноль. Замешивая в оценку слагаемое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+···+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теряем информацию о том, что из этого в какой момент было получено, но и начинаем распространять сигнал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раз «быстрее» одношаговой оценки.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Сразу заметим, что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нам необходимо иметь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-шаговой оценке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Это означает, что мы не можем получить такую оценку с буфера: действительно, в буфере для данной четвёрки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 лежит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ведь в произвольном буфере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генерируется стратегией сбора данных (старой версией стратегией или «экспертом»). Поэтому обучаться на многошаговые оценки с буфера не выйдет; по крайней мере, без какой-либо коррекции.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3470995"/>
                <a:ext cx="11868912" cy="2776145"/>
              </a:xfrm>
              <a:prstGeom prst="rect">
                <a:avLst/>
              </a:prstGeom>
              <a:blipFill>
                <a:blip r:embed="rId3"/>
                <a:stretch>
                  <a:fillRect l="-308" r="-257" b="-8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5142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502920" y="589913"/>
                <a:ext cx="11329416" cy="51576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Также отметим, что все рассуждения одинаковы применимы как для обучения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таки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Для V-функции общая формула обновления выглядит так: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reward-to-go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(награда на вынос) при использовании Монте-Карло оценки,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)+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одношагового метода временных разностей,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текущей оцениваемой стратегии),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Соответственно, для V-функции обучаться с буфера (без каких-либо коррекций) невозможно даже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поскольку лежащий в буфере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стратегии сбора данных, а не оцениваемой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Для простоты и наглядности будем обсуждать обучение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Также введём следующие обозначения: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Введём такое обозначение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-шаговой временной разности (N-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step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temporal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di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для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текущая аппроксимация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-функции,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,...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порождённый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Ранее мы обсуждали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temporal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di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(временная разница), в котором мы сдвигали нашу аппроксимацию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))=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V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α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(1)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Теперь же мы можем обобщить наш метод, заменив оценку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на многошаговую оценку: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89913"/>
                <a:ext cx="11329416" cy="5157630"/>
              </a:xfrm>
              <a:prstGeom prst="rect">
                <a:avLst/>
              </a:prstGeom>
              <a:blipFill>
                <a:blip r:embed="rId2"/>
                <a:stretch>
                  <a:fillRect l="-323" r="-2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147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33109" y="153752"/>
            <a:ext cx="624029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Интерпретация через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Credit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Assingment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(переуступка кредита)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20040" y="611434"/>
                <a:ext cx="11640312" cy="4654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Рассмотрим проблему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credit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assingment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а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за какие будущие награды «в ответе» то действие, которое было выполнено в некотором состоянии s? «Идеальное» решение задачи — значение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но на практике у нас нет точных значений оценочных функций, а есть лишь аппроксимация, допустим,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Положим, мы знаем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траектории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,...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до конца эпизода. С одной стороны, мы можем выдавать кредит, полностью опираясь на аппроксимацию: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)≈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)≈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Здесь проблема в том, что наша аппроксимация может быть сколь угодно неверна, и выдавать полную ерунду. Более «безопасный» с этой точки зрения способ — в приближении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не опираться на аппроксимацию и использовать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reward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to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go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(награда на вынос):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)≈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 этого второго способа выдавать кредит есть важное свойство, которого нет у первого: в среднем такой кредит будет больше у тех действий, которые действительно приводят к более высокой награде. То есть,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таковы,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)&gt;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при любой аппроксимации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среднее значение кредита для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будет больше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Это и есть свойство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несмещённости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Монте-Карло оценок в контексте проблемы выдачи кредита.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611434"/>
                <a:ext cx="11640312" cy="4654031"/>
              </a:xfrm>
              <a:prstGeom prst="rect">
                <a:avLst/>
              </a:prstGeom>
              <a:blipFill>
                <a:blip r:embed="rId2"/>
                <a:stretch>
                  <a:fillRect l="-314" r="-262" b="-1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84048" y="5265465"/>
                <a:ext cx="11576304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Видно, что эти два крайних способа выдачи кредита есть в точности «градиент»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 которому учится V-функция. Фактически, занимаясь обучением V-функции и используя формулу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𝛼𝛹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выбором функции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𝛹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по-разному проводим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credit </a:t>
                </a:r>
                <a:r>
                  <a:rPr lang="en-US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assingment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(переуступка кредита).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265465"/>
                <a:ext cx="11576304" cy="1274195"/>
              </a:xfrm>
              <a:prstGeom prst="rect">
                <a:avLst/>
              </a:prstGeom>
              <a:blipFill>
                <a:blip r:embed="rId3"/>
                <a:stretch>
                  <a:fillRect l="-263" r="-263"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297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237666"/>
            <a:ext cx="5645132" cy="183956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1662" y="2077233"/>
            <a:ext cx="297440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Backward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View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(Вид назад)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594360" y="2699971"/>
                <a:ext cx="11137392" cy="37233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Пример: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Сядем в кафе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захотим вернуться домой. Текущая аппроксимация даёт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)=30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минут (езда до дома). Делаем один шаг в среде: тратим одну минуту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обнаруживаем пробку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Новая оценка времени возвращения даёт: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 40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минут, соответственно с нами случилась одношаговая временная разность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)=41−30 =11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минут, которая позволяет нам корректировать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Давайте сделаем ещё один шаг в среде: тратим одну минуту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видим пожар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получаем новую оценку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)=60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минут. Тогда мы можем посчитать как одношаговую временную разность для пары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равную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)=61−40 =21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минуте, и уточнить свою аппроксимацию V-функции для состояния с пробкой; а можем посчитать 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двухшаговую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временную разность для кафе: мы потратили две минуты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два шага и наша нынешнее приближение равно 60 минутам. Итого двух шаговая временная разность равна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(2)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)=62−30=32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минуты.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Forward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view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(вид вперед) говорит следующее: если мы хотим учиться на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двухшаговые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оценки вместо одношаговых, то нам не следовало на первом шаге использовать 11 минут для обновления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нужно было дождаться второго шага, узнать двух шаговую ошибку в 32 минуты и воспользоваться ей.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2699971"/>
                <a:ext cx="11137392" cy="3723327"/>
              </a:xfrm>
              <a:prstGeom prst="rect">
                <a:avLst/>
              </a:prstGeom>
              <a:blipFill>
                <a:blip r:embed="rId3"/>
                <a:stretch>
                  <a:fillRect l="-328" r="-274" b="-4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87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9184" y="83493"/>
            <a:ext cx="11237976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Но понятно, что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двухшаговая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ошибка это сумма двух одношаговых ошибок. Наши 32 минуты ошибки — это 11 минут ошибки после выхода из кафе в пробку плюс 21 минута ошибки от выхода из пробки в пожар. Давайте после первого шага используем уже известную часть ошибки в 11 минут, а на втором шаге, если мы готовы обучаться с двух шаговых ошибок, возьмём и добавим недостающие 21 минуту.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29184" y="1357688"/>
                <a:ext cx="11448288" cy="1922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Формализуем эту идею. Пусть мы взаимодействуем в среде при помощи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которую хотим оценить; также будем считать (скорость обучения)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константным. После совершения первого шага «из кафе» мы можем, зная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сразу же обновить нашу V-функцию: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(1)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Затем мы делаем ещё один шаг в среде, узнавая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временную разность за этот случившийся шаг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Тогда мы можем просто ещё в нашу оценку V-функции добавить слагаемое: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" y="1357688"/>
                <a:ext cx="11448288" cy="1922065"/>
              </a:xfrm>
              <a:prstGeom prst="rect">
                <a:avLst/>
              </a:prstGeom>
              <a:blipFill>
                <a:blip r:embed="rId2"/>
                <a:stretch>
                  <a:fillRect l="-266" r="-266" b="-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64592" y="3279753"/>
                <a:ext cx="11612880" cy="3344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(1)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Непосредственной проверкой легко убедиться, что суммарное обновление V-функции получится эквивалентным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двухшаговому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обновлению: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Последовательное применение обновлений эквивалентно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двухшаговому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обновлению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(2)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Понятно, что можно обобщить эту идею с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двухшаговых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ошибок на N-шаговые: действительно, ошибка за N шагов равна сумме одношаговых ошибок за эти шаги.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𝛹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(1)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3279753"/>
                <a:ext cx="11612880" cy="3344057"/>
              </a:xfrm>
              <a:prstGeom prst="rect">
                <a:avLst/>
              </a:prstGeom>
              <a:blipFill>
                <a:blip r:embed="rId3"/>
                <a:stretch>
                  <a:fillRect l="-262" r="-2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97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82296" y="231117"/>
                <a:ext cx="11603736" cy="1922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indent="450215" algn="just">
                  <a:lnSpc>
                    <a:spcPct val="120000"/>
                  </a:lnSpc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 наблюдение открывает, что все наши формулы обновления выражаются через одношаговые ошибки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. Это интересный факт, поскольку одношаговая временная разность</a:t>
                </a:r>
                <a:endParaRPr lang="ru-RU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lvl="0" indent="450215"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(1)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lvl="0" indent="254000" algn="just">
                  <a:lnSpc>
                    <a:spcPct val="120000"/>
                  </a:lnSpc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очень похожа на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reward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shaping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(формирование вознаграждения), где в качестве потенциала выбрана наша текущая аппроксимация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Поэтому эти дельты, как их ещё иногда называют, можно интерпретировать как некие «новые награды», центрированные — которые в среднем должны быть равны нулю, если аппроксимация V-функции точная.</a:t>
                </a:r>
                <a:endParaRPr lang="ru-RU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" y="231117"/>
                <a:ext cx="11603736" cy="1922065"/>
              </a:xfrm>
              <a:prstGeom prst="rect">
                <a:avLst/>
              </a:prstGeom>
              <a:blipFill>
                <a:blip r:embed="rId2"/>
                <a:stretch>
                  <a:fillRect l="-315" r="-263" b="-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9" y="2153182"/>
            <a:ext cx="5093208" cy="25053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46888" y="4687049"/>
                <a:ext cx="11576304" cy="18935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Итого, оказывается, мы можем на каждом шаге добавлять к оценкам V-функции ранее встречавшихся в эпизоде пар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только что случившуюся одношаговую ошибку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таким образом получать N-шаговые обновления: достаточно пару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посещённую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назад, обновить с весом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 есть мы начинаем действовать по-другому: зная, что было в прошлом, мы правильным образом обновляем оценочную функцию посещённых состояний из прошлого, используя временную разность за один последний шаг («настоящее»). Такой подход к обновлению оценочной функции называется, соответственно, «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backward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view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», и он позволяет взглянуть на обучение оценочных функций под другим углом (вид назад).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4687049"/>
                <a:ext cx="11576304" cy="1893595"/>
              </a:xfrm>
              <a:prstGeom prst="rect">
                <a:avLst/>
              </a:prstGeom>
              <a:blipFill>
                <a:blip r:embed="rId4"/>
                <a:stretch>
                  <a:fillRect l="-316" r="-263" b="-19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3226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35464"/>
            <a:ext cx="4854919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Eligibility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Trace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(Отслеживание приемлемости)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37744" y="523262"/>
                <a:ext cx="11430000" cy="47116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Допустим, мы сделали шаг в среде и получили на этом одном шаге какую-то одношаговую ошибку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Рассмотрим какое-нибудь состояние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С каким весом, помимо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(скорости обучения), нужно добавить эту ошибку к нашей текущей аппроксимации? Это состояние в течение прошлого эпизода было, возможно, посещено несколько раз, и за каждое посещение вес увеличивается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число шагов с момента посещения. Такой счётчик можно сохранить в памяти: заведём вектор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размером с число состояний, проинициализируем его нулём и далее 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-ом шаге будем обновлять следующим образом: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t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γ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t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s</m:t>
                                    </m:r>
                                  </m:e>
                                </m:d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+1  </m:t>
                                </m:r>
                                <m: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если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s</m:t>
                                </m:r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γ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t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s</m:t>
                                    </m:r>
                                  </m:e>
                                </m:d>
                                <m: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                   иначе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После этого на каждом шаге мы будем добавлять текущую одношаговую ошибку, временную разность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 всем состояниям с коэффициентом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𝑒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61: Будем называть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𝑒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следом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eligibility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trace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для состояния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момент времени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эпизода коэффициент, с которым алгоритм обновляет оценочную функцию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t-ом шаге при помощи текущей одношаговой ошибки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𝑒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(1)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t</m:t>
                          </m:r>
                        </m:sub>
                      </m:sSub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t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Одношаговое обновление будет превращено в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двухшаговое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двухшаговое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в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трёхшаговое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так далее до N-шагового, где N — количество шагов до конца эпизода. Таким образом (если в ходе таких обновлений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оцениваемая стратегия не меняется) наши обновления в точности соответствуют Монте-Карло.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523262"/>
                <a:ext cx="11430000" cy="4711674"/>
              </a:xfrm>
              <a:prstGeom prst="rect">
                <a:avLst/>
              </a:prstGeom>
              <a:blipFill>
                <a:blip r:embed="rId2"/>
                <a:stretch>
                  <a:fillRect l="-267" r="-267" b="-1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38328" y="5234936"/>
                <a:ext cx="11329416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Важно, что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eligibility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trace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(отслеживание приемлемости) имеет физический смысл «кредита», который выдан решениям, принятым в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это та степень ответственности, с которой выбранное в этом состоянии действия влияют на события настоящего, на получаемые сейчас награды (временные разности).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8" y="5234936"/>
                <a:ext cx="11329416" cy="978729"/>
              </a:xfrm>
              <a:prstGeom prst="rect">
                <a:avLst/>
              </a:prstGeom>
              <a:blipFill>
                <a:blip r:embed="rId3"/>
                <a:stretch>
                  <a:fillRect l="-323" r="-269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645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16700" y="89744"/>
            <a:ext cx="4761560" cy="361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TD(λ)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(temporal di</a:t>
            </a:r>
            <a:r>
              <a:rPr lang="en-US" sz="1600" i="1" dirty="0">
                <a:solidFill>
                  <a:srgbClr val="00000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ﬀ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erence - </a:t>
            </a:r>
            <a:r>
              <a:rPr 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временная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разница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37160" y="670595"/>
                <a:ext cx="11658600" cy="300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После момента посещения состояния s след для него вырастет на единичку и оценочная функция обновится следующим образом: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α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Ψ</m:t>
                          </m:r>
                        </m:e>
                        <m:sub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(1)</m:t>
                          </m:r>
                        </m:sub>
                      </m:sSub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s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Допустим, на следующем шаге мы выбрали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[0,1]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«коэффициент затухания» — и потушили след не с коэффициентом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с коэффициентом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𝛾𝜆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Тогда дальше мы добавим новую текущую временную разность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коэффициентом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получая суммарно следующее обновление: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α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α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  <m: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γ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𝛹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(1)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которое в силу для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=2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преобразуется в: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α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𝛹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  <m: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𝛹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2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  <m: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a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670595"/>
                <a:ext cx="11658600" cy="3004797"/>
              </a:xfrm>
              <a:prstGeom prst="rect">
                <a:avLst/>
              </a:prstGeom>
              <a:blipFill>
                <a:blip r:embed="rId2"/>
                <a:stretch>
                  <a:fillRect l="-314" r="-2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374" y="3797697"/>
            <a:ext cx="2295234" cy="280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77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92608" y="227413"/>
                <a:ext cx="10917936" cy="16378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Будем называть (временная разница)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temporal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di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обновлением с параметром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[0,1]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(«обновление TD(λ)) обновление  со следом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𝑒𝑡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проинициализированным нулём и далее определённым следующим образом: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t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γ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t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s</m:t>
                                    </m:r>
                                  </m:e>
                                </m:d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+1  </m:t>
                                </m:r>
                                <m: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если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s</m:t>
                                </m:r>
                                <m:r>
                                  <a:rPr lang="en-US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γ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t</m:t>
                                    </m:r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</m:t>
                                    </m:r>
                                    <m: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s</m:t>
                                    </m:r>
                                  </m:e>
                                </m:d>
                                <m: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                   иначе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" y="227413"/>
                <a:ext cx="10917936" cy="1637821"/>
              </a:xfrm>
              <a:prstGeom prst="rect">
                <a:avLst/>
              </a:prstGeom>
              <a:blipFill>
                <a:blip r:embed="rId2"/>
                <a:stretch>
                  <a:fillRect l="-279" r="-2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65760" y="1828658"/>
                <a:ext cx="11567160" cy="2758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Формула следа задаёт алгоритм в парадигме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backward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view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(вид назад). Естественно, что любая оценка, придуманная в терминах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backward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view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(вид назад), то есть записанная в терминах следа (в явном виде хранящего «кредит» ответственности решений для каждого состояния), переделывается в парадигме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forward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view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(вид вперед как и наоборот), когда мы, используя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будущего, строим некоторую оценку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(преимущество)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𝛹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просто сдвигаем по нему значение V-функции: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𝛼𝛹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— Эквивалентные формы TD(λ):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Обновление TD(λ) эквивалентно с оценкой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𝛹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):=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𝛹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=(1−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𝛹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828658"/>
                <a:ext cx="11567160" cy="2758319"/>
              </a:xfrm>
              <a:prstGeom prst="rect">
                <a:avLst/>
              </a:prstGeom>
              <a:blipFill>
                <a:blip r:embed="rId3"/>
                <a:stretch>
                  <a:fillRect l="-263" r="-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92608" y="4618562"/>
                <a:ext cx="1143914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полученная формула обновления имеет две интерпретации. Получается, что подобный ансамбль многошаговых оценок эквивалентен дисконтированной сумме будущих одношаговых ошибок («модифицированных наград» с потенциалом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где коэффициент дисконтирования равен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𝛾𝜆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исходный коэффициент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γ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отвечает за затухание ценности наград со временем из исходной постановки задачи, а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соответствует затуханию кредита ответственности действия за полученные в будущем награды.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" y="4618562"/>
                <a:ext cx="11439144" cy="1569660"/>
              </a:xfrm>
              <a:prstGeom prst="rect">
                <a:avLst/>
              </a:prstGeom>
              <a:blipFill>
                <a:blip r:embed="rId4"/>
                <a:stretch>
                  <a:fillRect l="-266" r="-213" b="-2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376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/>
          <a:srcRect l="58696" t="35202" r="10057" b="13194"/>
          <a:stretch/>
        </p:blipFill>
        <p:spPr bwMode="auto">
          <a:xfrm>
            <a:off x="929037" y="247331"/>
            <a:ext cx="4161727" cy="34668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5425440" y="254319"/>
                <a:ext cx="6096000" cy="345985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 через N шагов после оцениваемого состояния </a:t>
                </a:r>
                <a14:m>
                  <m:oMath xmlns:m="http://schemas.openxmlformats.org/officeDocument/2006/math"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эпизод закончился, то все многошаговые оценки длины больше N, понятно, совпадают с N-шаговой и равны </a:t>
                </a:r>
                <a:r>
                  <a:rPr lang="ru-RU" sz="14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reward-to-go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(награда на вынос). Следовательно, в такой ситуации </a:t>
                </a:r>
                <a:r>
                  <a:rPr lang="ru-RU" sz="14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reward-to-go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определению замешивается в оценку с весом </a:t>
                </a:r>
                <a14:m>
                  <m:oMath xmlns:m="http://schemas.openxmlformats.org/officeDocument/2006/math"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(1−</m:t>
                    </m:r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)(</m:t>
                    </m:r>
                    <m:sSup>
                      <m:sSupPr>
                        <m:ctrlP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p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p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p>
                    </m:sSup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+...)=</m:t>
                    </m:r>
                    <m:sSup>
                      <m:sSupPr>
                        <m:ctrlP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p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привыкли, что любая формула обновления для нас — стохастическая аппроксимация решения какого-то уравнения. TD(λ) не исключение. Если N-шаговая оценка направляет нас в сторону решения N-шагового уравнения Беллмана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𝔅</m:t>
                        </m:r>
                      </m:e>
                      <m:sup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ансамбль из оценок направляет нас в сторону решения ансамбля N-шаговых уравнений Беллмана:</a:t>
                </a:r>
                <a:endParaRPr lang="ru-RU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=(1−</m:t>
                      </m:r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𝔅</m:t>
                      </m:r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𝔅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𝔅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+ ...) = (1−</m:t>
                      </m:r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ru-RU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&gt;0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ru-RU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𝔅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</m:sSup>
                      <m:sSup>
                        <m:sSup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0" y="254319"/>
                <a:ext cx="6096000" cy="3459858"/>
              </a:xfrm>
              <a:prstGeom prst="rect">
                <a:avLst/>
              </a:prstGeom>
              <a:blipFill>
                <a:blip r:embed="rId3"/>
                <a:stretch>
                  <a:fillRect l="-300" r="-3300" b="-289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502920" y="4019556"/>
                <a:ext cx="11173968" cy="216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Поскольку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является неподвижной точкой для операторов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𝔅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всех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и для их выпуклой комбинации, «ансамбля», он тоже будет неподвижной точкой. Итого TD(λ) дало нам прикольную идею: мы не могли выбрать одну из многошаговых оценок, и поэтому взяли их все сразу.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мы получили алгоритм TD(λ) оценивания стратегии, или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temporal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di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(временная разница) с параметром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который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эквивалентен Монте-Карло алгоритму (с постоянным обновлением V-функции «по ходу эпизода»), а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эквивалентен одношаговому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temporal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di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erence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методу, который мы, в частности, применяли в Q-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SARSA для оценивания стратегии.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019556"/>
                <a:ext cx="11173968" cy="2160591"/>
              </a:xfrm>
              <a:prstGeom prst="rect">
                <a:avLst/>
              </a:prstGeom>
              <a:blipFill>
                <a:blip r:embed="rId4"/>
                <a:stretch>
                  <a:fillRect l="-327" r="-273"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13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62896"/>
            <a:ext cx="2119619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TD(λ)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 rotWithShape="1">
          <a:blip r:embed="rId2"/>
          <a:srcRect l="14261" t="25538" r="8022" b="9579"/>
          <a:stretch/>
        </p:blipFill>
        <p:spPr bwMode="auto">
          <a:xfrm>
            <a:off x="1947672" y="550694"/>
            <a:ext cx="8321040" cy="38932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37744" y="4632204"/>
                <a:ext cx="11521440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Возможность в принципе обучаться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o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(вне политики) в Q-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обеспечивалась тем, что, когда мы учим Q функцию с одношаговых оценок, нам для любых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которые можно взять из буфера, достаточно лишь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При этом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всегда сможем сгенерировать «онлайн», прогнав на взятом из буфера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оцениваемую стратегию. Обычно в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o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режиме учат именно Q-функцию, что важно в том числе тем, что по крайней мере одношаговая оценка будет доступна всегда. Если же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буфера такого, что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любые наши коррекции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схлопнутся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одношаговую оценку (или же будут теоретически некорректны), но по крайней мере хоть что-то мы сможем сделать.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4632204"/>
                <a:ext cx="11521440" cy="1865126"/>
              </a:xfrm>
              <a:prstGeom prst="rect">
                <a:avLst/>
              </a:prstGeom>
              <a:blipFill>
                <a:blip r:embed="rId3"/>
                <a:stretch>
                  <a:fillRect l="-265" r="-265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702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329184" y="367906"/>
                <a:ext cx="11256264" cy="5506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— </a:t>
                </a:r>
                <a:r>
                  <a:rPr lang="ru-RU" sz="1600" u="sng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Retrace</a:t>
                </a: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число состояний и действий конечно, таблица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проинициализирована произвольно. Пусть 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-ом шаге алгоритма для каждой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ячейка таблицы обновляется по формуле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k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)←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k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k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(1)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Sup>
                            <m:sSub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+1)</m:t>
                              </m:r>
                            </m:sup>
                          </m:sSub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Sup>
                        <m:sSub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+1)</m:t>
                          </m:r>
                        </m:sup>
                      </m:sSub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)−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µ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сгенерирована произвольной стратегией сбора данных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µ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(причём не обязательно стационарной),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 rate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(скорость обучения)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случайно,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произвольно, и коэффициенты следа — любые в диапазоне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µ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Тогда, если с вероятностью 1 скорость обучения удовлетворяет условиям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Роббинса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-Монро, а стратегия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вероятностью 1 становится жадной по отношению 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пределе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при некоторых технических ограничениях с вероятностью 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сходится к оптимальной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соответственно, к оптимальной стратегии.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Пользуясь этой теоремой, мы можем в полной аналогии с TD(λ) выбрать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[0,1]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считать след по формуле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λ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µ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" y="367906"/>
                <a:ext cx="11256264" cy="5506507"/>
              </a:xfrm>
              <a:prstGeom prst="rect">
                <a:avLst/>
              </a:prstGeom>
              <a:blipFill>
                <a:blip r:embed="rId2"/>
                <a:stretch>
                  <a:fillRect l="-271" r="-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3126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1180</Words>
  <Application>Microsoft Office PowerPoint</Application>
  <PresentationFormat>Широкоэкранный</PresentationFormat>
  <Paragraphs>129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Тема Office</vt:lpstr>
      <vt:lpstr>Классическая теория 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60</cp:revision>
  <dcterms:created xsi:type="dcterms:W3CDTF">2020-10-06T14:10:24Z</dcterms:created>
  <dcterms:modified xsi:type="dcterms:W3CDTF">2023-10-07T08:26:45Z</dcterms:modified>
</cp:coreProperties>
</file>