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9" r:id="rId9"/>
    <p:sldId id="290" r:id="rId10"/>
    <p:sldId id="288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15.10.2023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Ценностно-ориентированный подход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200208" y="160972"/>
            <a:ext cx="4127861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Deep</a:t>
            </a: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Q-</a:t>
            </a:r>
            <a:r>
              <a:rPr lang="ru-RU" sz="1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learning</a:t>
            </a: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(Глубокое Q-обучение)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-229880" y="556272"/>
            <a:ext cx="1374159" cy="6574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Q-сетка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481" y="522994"/>
            <a:ext cx="4968684" cy="2487232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46304" y="3076782"/>
                <a:ext cx="11704320" cy="13918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Попробуем промоделировать в сложных средах алгоритм Q-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Для этого будем приближать оптимальную Q-функцию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помощи нейронной сети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параметрами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Заметим, что для дискретных пространств действий сетка может как принимать действия на входе, так и принимать на вход только состояние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а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выдавать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чисел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)...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𝒜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В последнем случае мы можем за константу находить жадное действие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" y="3076782"/>
                <a:ext cx="11704320" cy="1391856"/>
              </a:xfrm>
              <a:prstGeom prst="rect">
                <a:avLst/>
              </a:prstGeom>
              <a:blipFill>
                <a:blip r:embed="rId3"/>
                <a:stretch>
                  <a:fillRect l="-260" r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10312" y="4644152"/>
                <a:ext cx="1164031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 случае, если пространство действий непрерывно, выдать по числу для каждого варианта уже не получится. При этом, если непрерывное действие подаётся на вход вместе с состоянием, то оптимизировать по нему для поиска максимума или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аргмаксимума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придётся при помощи серии прямых и обратных проходов (для дискретного пространства — за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прямых проходов), что вычислительно нерентабельно. Поэтому такой вариант на практике не встречается, а алгоритм пригоден в таком виде только для дискретных пространств состояний.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4644152"/>
                <a:ext cx="11640312" cy="1569660"/>
              </a:xfrm>
              <a:prstGeom prst="rect">
                <a:avLst/>
              </a:prstGeom>
              <a:blipFill>
                <a:blip r:embed="rId4"/>
                <a:stretch>
                  <a:fillRect l="-314" r="-262" b="-2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97121" y="135464"/>
            <a:ext cx="4117730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Переход к параметрической Q-функции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37160" y="497486"/>
                <a:ext cx="11684598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Как обучать параметры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нейронной сети так,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? Вообще говоря, мы помним, что мы хотим решать уравнения оптимальности Беллмана, и можно было бы, например, оптимизировать невязку (величина ошибки (расхождения) приближённого равенства):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97486"/>
                <a:ext cx="11684598" cy="978729"/>
              </a:xfrm>
              <a:prstGeom prst="rect">
                <a:avLst/>
              </a:prstGeom>
              <a:blipFill>
                <a:blip r:embed="rId2"/>
                <a:stretch>
                  <a:fillRect l="-313" r="-313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88" y="1476215"/>
            <a:ext cx="4834317" cy="5578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99734" y="2034021"/>
                <a:ext cx="11622024" cy="17197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однако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формуле берётся по неизвестному нам распределению (а даже если известному, то почти наверняка в сложных средах аналитически ничего не возьмётся) и никак не выносится (несмещённые оценки градиента нас бы устроили).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Q-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-е мы смогли с сохранением теоретических гарантий побороться с этим при помощи стохастической аппроксимации.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α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r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s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γ</m:t>
                          </m:r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34" y="2034021"/>
                <a:ext cx="11622024" cy="1719766"/>
              </a:xfrm>
              <a:prstGeom prst="rect">
                <a:avLst/>
              </a:prstGeom>
              <a:blipFill>
                <a:blip r:embed="rId4"/>
                <a:stretch>
                  <a:fillRect l="-315" r="-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74320" y="3626770"/>
                <a:ext cx="11547438" cy="3102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Пусть у нас есть текущая версия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мы хотим проделать шаг метода простой итерации. Зададим следующую задачу регрессии: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входом является пара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искомым значением на паре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правая часть уравнения оптимальности Беллмана (3.17), т.е.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k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наблюдаемым («зашумлённым») значением целевой переменной или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target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k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∼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|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• функцией потерь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MSE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𝐿𝑜𝑠𝑠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 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e>
                        </m:ac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3626770"/>
                <a:ext cx="11547438" cy="3102837"/>
              </a:xfrm>
              <a:prstGeom prst="rect">
                <a:avLst/>
              </a:prstGeom>
              <a:blipFill>
                <a:blip r:embed="rId5"/>
                <a:stretch>
                  <a:fillRect l="-264" r="-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70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92024" y="134923"/>
                <a:ext cx="11731752" cy="4459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Заметим, что, как и в классической постановке задачи машинного обучения, значение целевой переменной — это её «зашумлённое» значение: по входу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генерируется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затем от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считается детерминированная функция, и результат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является наблюдаемым значением. Мы можем для данной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себе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взяв переход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воспользовавшись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существенно, что такой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случайная функция от входа. Принципиально: согласно уравнениям Беллмана, мы хотим выучить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такого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значит, нам нужна квадратичная функция потерь.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достаточно ёмкая модель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model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with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enough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capacity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 модель с достаточной мощностью), выборка неограниченно большая, а оптимизатор идеальный. Тогда решением вышеописанной задачи регрессии будет шаг метода простой итерации для поиска оптимальной Q-функции: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r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a</m:t>
                          </m:r>
                        </m:e>
                      </m:d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γ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k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Другими словами, когда мы решаем задачу регрессии с целевой переменной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формуле (наблюдаемым («зашумлённым») значением целевой переменной), мы в среднем сдвигаем нашу аппроксимацию в сторону правой части уравнения оптимальности Беллмана. Полезно наглядно увидеть это в формуле самого градиента. Представим на секунду, что мы решаем задачу регрессии с «идеальной», не зашумлённой целевой переменной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γ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k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для одного примера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градиент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MSE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тогда будет равен: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134923"/>
                <a:ext cx="11731752" cy="4459554"/>
              </a:xfrm>
              <a:prstGeom prst="rect">
                <a:avLst/>
              </a:prstGeom>
              <a:blipFill>
                <a:blip r:embed="rId2"/>
                <a:stretch>
                  <a:fillRect l="-312" r="-260" b="-1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/>
          <p:nvPr/>
        </p:nvPicPr>
        <p:blipFill rotWithShape="1">
          <a:blip r:embed="rId3"/>
          <a:srcRect l="28385" t="51448" r="22682" b="34150"/>
          <a:stretch/>
        </p:blipFill>
        <p:spPr bwMode="auto">
          <a:xfrm>
            <a:off x="2615184" y="4432400"/>
            <a:ext cx="6105906" cy="10382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38328" y="5470627"/>
                <a:ext cx="11585448" cy="1239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 наша «зашумлённая» целевая переменная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есть несмещённая оценка f(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s,a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поскольку специально построена так,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Значит, мы можем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несмещённо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оценить этот градиент как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" y="5470627"/>
                <a:ext cx="11585448" cy="1239891"/>
              </a:xfrm>
              <a:prstGeom prst="rect">
                <a:avLst/>
              </a:prstGeom>
              <a:blipFill>
                <a:blip r:embed="rId4"/>
                <a:stretch>
                  <a:fillRect r="-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763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7760"/>
            <a:ext cx="175387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Таргет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-сеть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20040" y="605558"/>
                <a:ext cx="11210544" cy="3738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Рассмотренное теоретическое объяснение перехода от табличных методов к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нейросетевым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конечно, предполагает, что мы решаем задачу регрессии «полностью», обучая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фиксированных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«Замороженные»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соответствуют фиксированию формулы целевой переменной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есть фиксированию задачи регрессии. Так мы моделируем один шаг метода простой итерации, и только после этого объявляем выученные параметры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В этот момент задача регрессии изменится (поменяется целевая переменная), и мы перейдём к следующему шагу метода простой итерации.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Но возникает вопрос: сколько шагов градиентного спуска тратить на решение фиксированной задачи регрессии? Возникает естественное желание по аналогии с табличными методами использовать для построения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свежую модель, то есть менять целевую переменную в задаче регрессии каждый шаг после каждого градиентного шага: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Принципиально важно, что зависимость целевой переменной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 параметров текущей модели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игнорировалось. Если вдруг в неё протекут градиенты, мы будем не только подстраивать прошлое под будущее, но и будущее под прошлое, что не будет являться корректной процедурой.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605558"/>
                <a:ext cx="11210544" cy="3738844"/>
              </a:xfrm>
              <a:prstGeom prst="rect">
                <a:avLst/>
              </a:prstGeom>
              <a:blipFill>
                <a:blip r:embed="rId2"/>
                <a:stretch>
                  <a:fillRect l="-326" r="-272" b="-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429768" y="4732200"/>
                <a:ext cx="11164824" cy="10796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стабилизации процесса одну задачу регрессии нужно решать более одной итерации градиентного спуска; необходимо сделать хотя бы условно 100-200 шагов. Проблема в том, что если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строится по формуле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после первого же градиентного шага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поменяется.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4732200"/>
                <a:ext cx="11164824" cy="1079655"/>
              </a:xfrm>
              <a:prstGeom prst="rect">
                <a:avLst/>
              </a:prstGeom>
              <a:blipFill>
                <a:blip r:embed="rId3"/>
                <a:stretch>
                  <a:fillRect l="-328" r="-273" b="-3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89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7" y="347364"/>
            <a:ext cx="3791848" cy="29761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502920" y="3693131"/>
                <a:ext cx="11402568" cy="1966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Поэтому хранится копия Q-сетки, называемая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сетью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target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network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), единственная цель которой — генерировать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таргеты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текущей задачи регрессии для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транзишнов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(эффект плавного анимированного перехода от одного состояния к другому) из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засэмплированных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мини-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батчей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Традиционно её параметры обозначаются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Итак, целевая переменная в таких обозначениях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генерится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формуле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 раз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веса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просто копируются из текущей модели с весами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«задания» новой задачи регрессии.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693131"/>
                <a:ext cx="11402568" cy="1966051"/>
              </a:xfrm>
              <a:prstGeom prst="rect">
                <a:avLst/>
              </a:prstGeom>
              <a:blipFill>
                <a:blip r:embed="rId3"/>
                <a:stretch>
                  <a:fillRect l="-321" r="-267" b="-18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49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55923" y="153752"/>
            <a:ext cx="2573461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Декорреляция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сэмплов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37744" y="600950"/>
                <a:ext cx="1124712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Q-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learning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после одного шага в среде делал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апдейт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(обновления) одного значения таблицы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Сейчас нас такой вариант, очевидно, не устраивает, потому что обучать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нейросетки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мини-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батчах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размера 1 (особенно с уровнем доверия к нашим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— это явно плохая идея, но главное,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сильно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скоррелированы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в сложных средах последовательности состояний обычно очень сильно похожи.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Нейросетки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скоррелированных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данных обучаются очень плохо (чаще — не обучаются вовсе). Поэтому сбор мини-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подряд с одной траектории здесь не сгодится.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600950"/>
                <a:ext cx="11247120" cy="1569660"/>
              </a:xfrm>
              <a:prstGeom prst="rect">
                <a:avLst/>
              </a:prstGeom>
              <a:blipFill>
                <a:blip r:embed="rId2"/>
                <a:stretch>
                  <a:fillRect l="-271" r="-271" b="-2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37744" y="2511055"/>
                <a:ext cx="11548872" cy="22615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Есть два доступных на практике варианта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декорреляции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sample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decorrelation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). Первый — запуск параллельных агентов, то есть сбор данных сразу в нескольких параллельных средах. Этот вариант доступен всегда, по крайней мере, если среда виртуальна; иначе эта опция может быть дороговатой... Второй вариант —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реплей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буфер, который, как мы помним, является прерогативой исключительно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o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ﬀ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(вне политики) алгоритмов. При наличии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реплей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буфера агент может решать задачи регрессии,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сэмплируя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мини-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переходов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буфера, затем делая для каждого перехода расчёт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игнорируя зависимость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 параметров, и проводя шаг оптимизации по такому мини-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батчу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Такой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уже будет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декоррелирован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2511055"/>
                <a:ext cx="11548872" cy="2261517"/>
              </a:xfrm>
              <a:prstGeom prst="rect">
                <a:avLst/>
              </a:prstGeom>
              <a:blipFill>
                <a:blip r:embed="rId3"/>
                <a:stretch>
                  <a:fillRect l="-264" r="-211" b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73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309691" y="135464"/>
            <a:ext cx="1070486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DQN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70744" y="428072"/>
            <a:ext cx="3620543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Deep Q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learning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DQN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23681" t="26072" r="23739" b="14258"/>
          <a:stretch/>
        </p:blipFill>
        <p:spPr bwMode="auto">
          <a:xfrm>
            <a:off x="0" y="1014984"/>
            <a:ext cx="8439911" cy="5394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8695944" y="2091760"/>
                <a:ext cx="3127248" cy="1153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Неявно в DQN, конечно же, присутствует текущая политика, «целевая политика», которую мы оцениваем —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944" y="2091760"/>
                <a:ext cx="3127248" cy="1153136"/>
              </a:xfrm>
              <a:prstGeom prst="rect">
                <a:avLst/>
              </a:prstGeom>
              <a:blipFill>
                <a:blip r:embed="rId3"/>
                <a:stretch>
                  <a:fillRect l="-1170" t="-1587" r="-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63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80600"/>
            <a:ext cx="2433551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Модификации DQN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224562" y="442622"/>
            <a:ext cx="4246932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Overestimation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Bias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(Ошибка переоценки)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28016" y="854074"/>
                <a:ext cx="11722608" cy="50971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Отмечалось, что без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-сетки (при обновлении задачи регрессии каждый шаг) можно наблюдать, как Q начинает неограниченно расти. Хотя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-сетка более-менее справляется с тем,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чтобыстабилизроватьпроцесс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предотвратить этот эффект полностью у неё не получается: сравнение обучающейся Q с Монте-Карло оценками и зачастую просто со здравым смыслом выдаёт присутствие в алгоритме заметного смещения в сторону переоценки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overestimation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bias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). Почему так происходит? Очевидно, что источник проблемы — оператор максимума в формуле построения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 построении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есть два источника ошибок: 1) ошибка аппроксимации 2) внешняя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стохастика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Максимум здесь «выбирает» то действие, для которого из-за ошибки нейросети или из-за везения в прошлых играх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больше правильного значения.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Рассмотрим одно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Пусть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истинные значения, и для каждого действия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есть модель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которая оценивает это действие с некоторой погрешностью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Пусть эти погрешности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независимы по действиям, а завышение и занижение оценки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равеновероятны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)&gt;0)=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)&lt;0)=0.5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оценка максимума скорее завышена, чем занижена: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&gt;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&gt;0.5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" y="854074"/>
                <a:ext cx="11722608" cy="5097165"/>
              </a:xfrm>
              <a:prstGeom prst="rect">
                <a:avLst/>
              </a:prstGeom>
              <a:blipFill>
                <a:blip r:embed="rId2"/>
                <a:stretch>
                  <a:fillRect l="-260" r="-2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6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35141" t="16370" r="32341" b="70660"/>
          <a:stretch/>
        </p:blipFill>
        <p:spPr bwMode="auto">
          <a:xfrm>
            <a:off x="6839712" y="338232"/>
            <a:ext cx="4013073" cy="85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95" y="216291"/>
            <a:ext cx="3810330" cy="98154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-174351" y="1197832"/>
            <a:ext cx="2372573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Twin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(близнец) DQN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 rotWithShape="1">
          <a:blip r:embed="rId4"/>
          <a:srcRect l="33348" t="45068" r="30307" b="41323"/>
          <a:stretch/>
        </p:blipFill>
        <p:spPr bwMode="auto">
          <a:xfrm>
            <a:off x="3593592" y="1585630"/>
            <a:ext cx="4417695" cy="9388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-174351" y="2567171"/>
            <a:ext cx="264514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Double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(Двойной) DQN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3798717" y="2954969"/>
                <a:ext cx="4007443" cy="5346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𝕋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limLow>
                                <m:limLow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717" y="2954969"/>
                <a:ext cx="4007443" cy="5346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-203334" y="3683336"/>
            <a:ext cx="2430537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Dueling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(дуэль) DQN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0" t="12552" r="8208" b="55957"/>
          <a:stretch/>
        </p:blipFill>
        <p:spPr bwMode="auto">
          <a:xfrm>
            <a:off x="1011934" y="4139614"/>
            <a:ext cx="4822317" cy="25903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6092952" y="4923038"/>
                <a:ext cx="530047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Формализуя идею, мы хотели бы в модели учить не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напрямую, а получать их с учётом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/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952" y="4923038"/>
                <a:ext cx="5300472" cy="584775"/>
              </a:xfrm>
              <a:prstGeom prst="rect">
                <a:avLst/>
              </a:prstGeom>
              <a:blipFill>
                <a:blip r:embed="rId7"/>
                <a:stretch>
                  <a:fillRect l="-690" t="-3125" b="-114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41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512064" y="240584"/>
                <a:ext cx="11064240" cy="2456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Дуэльная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dueling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 архитектура — это модификация вычислительного графа нашей модели с параметрами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 которой на выходе предлагается иметь две головы, V-функцию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(преимущество)-функцию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интересная идея решить проблему просто сменой архитектуры вычислительного графа: при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апдейте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значения для одной пары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неизбежно поменяется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ценности всего состояния, которое общее для всех действий. Мы таким образом вводим следующий «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прайор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»: ценности действий в одном состоянии всё таки связаны между собой, и если одно действие в состоянии плохое, то вероятно, что и остальные тоже плохие.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240584"/>
                <a:ext cx="11064240" cy="2456057"/>
              </a:xfrm>
              <a:prstGeom prst="rect">
                <a:avLst/>
              </a:prstGeom>
              <a:blipFill>
                <a:blip r:embed="rId2"/>
                <a:stretch>
                  <a:fillRect l="-275" r="-275" b="-1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28600" y="2987629"/>
                <a:ext cx="11347704" cy="29337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 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func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условие можно легко учесть, вычтя максимум в формуле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Таким образом мы гарантируем, что максимум по действиям последних двух слагаемых равен нулю, и они корректно моделируют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(преимущество)-функцию.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Заметим, что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учатся по отдельности (для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уравнение оптимальности Беллмана не сводится к регрессии,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уравнения Беллмана не существует вообще); вместо этого минимизируется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лосс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(потеря) для Q функции точно так же, как и в обычном DQN.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987629"/>
                <a:ext cx="11347704" cy="2933752"/>
              </a:xfrm>
              <a:prstGeom prst="rect">
                <a:avLst/>
              </a:prstGeom>
              <a:blipFill>
                <a:blip r:embed="rId3"/>
                <a:stretch>
                  <a:fillRect l="-322" r="-269" b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379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15277" y="217760"/>
            <a:ext cx="3241978" cy="395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Шумные сети (</a:t>
            </a:r>
            <a:r>
              <a:rPr lang="ru-RU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Noisy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Nets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1" y="792395"/>
            <a:ext cx="5373844" cy="20554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21208" y="3298247"/>
                <a:ext cx="11137392" cy="25632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Шумные сети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noisy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nets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 — добавление шума с обучаемой и, главное, зависимой от состояния (входа в модель) дисперсией.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Хак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(обходное техническое решение в программировании) чисто инженерный: давайте каждый параметр в модели заменим на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𝑁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(0,1),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или, другими словами, заменим веса сети на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𝑤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параметры модели, обучаемые градиентным спуском. Очевидно, что выход сети становится случайной величиной, и, в зависимости от шума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будет меняться выбор действия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𝑎𝑟𝑔</m:t>
                    </m:r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𝜀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При этом влияние шума на принятое решение зависит от поданного в модель входного состояния.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" y="3298247"/>
                <a:ext cx="11137392" cy="2563202"/>
              </a:xfrm>
              <a:prstGeom prst="rect">
                <a:avLst/>
              </a:prstGeom>
              <a:blipFill>
                <a:blip r:embed="rId3"/>
                <a:stretch>
                  <a:fillRect l="-328" r="-274" b="-9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20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" t="14367" r="57410" b="56100"/>
          <a:stretch/>
        </p:blipFill>
        <p:spPr bwMode="auto">
          <a:xfrm>
            <a:off x="3373247" y="129730"/>
            <a:ext cx="5043170" cy="2428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65760" y="2995035"/>
            <a:ext cx="11430000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Формально, коли наша модель стала стохастичной, мы поменяли оптимизируемый функционал: мы хотим минимизировать функцию потерь в среднем по шуму: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3"/>
          <a:srcRect l="42333" t="40136" r="39925" b="52667"/>
          <a:stretch/>
        </p:blipFill>
        <p:spPr bwMode="auto">
          <a:xfrm>
            <a:off x="4775454" y="3595551"/>
            <a:ext cx="2238756" cy="5581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521208" y="4278815"/>
                <a:ext cx="11338560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Видно, что градиент такого функционала можно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несмещённо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оценивать по Монте-Карло: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𝐿𝑜𝑠𝑠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𝐿𝑜𝑠𝑠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)≈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𝐿𝑜𝑠𝑠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    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𝑁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(0,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𝐼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" y="4278815"/>
                <a:ext cx="11338560" cy="683264"/>
              </a:xfrm>
              <a:prstGeom prst="rect">
                <a:avLst/>
              </a:prstGeom>
              <a:blipFill>
                <a:blip r:embed="rId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521208" y="5217286"/>
                <a:ext cx="11338560" cy="11540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Заметим, что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который мы генерируем для каждого перехода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батча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формально теперь тоже должен вычисляться как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шуму: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+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𝜀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" y="5217286"/>
                <a:ext cx="11338560" cy="1154098"/>
              </a:xfrm>
              <a:prstGeom prst="rect">
                <a:avLst/>
              </a:prstGeom>
              <a:blipFill>
                <a:blip r:embed="rId5"/>
                <a:stretch>
                  <a:fillRect l="-323" r="-2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20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97059" y="126320"/>
            <a:ext cx="4777142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Приоритизированный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реплей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Prioritized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DQN)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67234" t="13564" r="7709" b="37166"/>
          <a:stretch/>
        </p:blipFill>
        <p:spPr bwMode="auto">
          <a:xfrm>
            <a:off x="4423791" y="488342"/>
            <a:ext cx="2777490" cy="3070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93192" y="3392764"/>
                <a:ext cx="11539728" cy="2456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Важно, что при обучении оценочных функций информация о награде распространяется от последних состояний к первым. Например, на первых итерациях довольно бессмысленно обновлять те состояний, где сигнала награды не было (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а Q-функция для следующего состояния </a:t>
                </a:r>
                <a:r>
                  <a:rPr lang="ru-RU" sz="16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примерно случайна (а именно такие переходы чаще всего и попадаются алгоритму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Такие обновления лишь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схлопывают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выход аппроксимации к константе (которая ещё и имеет тенденцию к росту из-за оператора максимума). Ценной информацией поначалу являются терминальные состояния, где целевая переменная по определению равна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является абсолютно точным значением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Типично, что на таких переходах значения временной разницы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лосса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DQN (потери)) довольно высоко. Аналогичная ситуация в принципе справедлива для любых наград, которые для агента новы и ещё не распространились в аппроксимацию через уравнение Беллмана.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2764"/>
                <a:ext cx="11539728" cy="2456057"/>
              </a:xfrm>
              <a:prstGeom prst="rect">
                <a:avLst/>
              </a:prstGeom>
              <a:blipFill>
                <a:blip r:embed="rId3"/>
                <a:stretch>
                  <a:fillRect l="-317" r="-264" b="-14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104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37744" y="270516"/>
                <a:ext cx="11283696" cy="216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Очень хочется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сэмплировать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переходы из буфера не равномерно, а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приоритизировано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Приоритет установим, например, следующим образом: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𝕋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))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𝐿𝑜𝑠𝑠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переходов из буфера происходит по следующему правилу: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𝜌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контролирует масштаб приоритетов (в частности,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соответствует равномерному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когда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→+∞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соответствовало бы жадному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самых «важных» переходов).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" y="270516"/>
                <a:ext cx="11283696" cy="2160591"/>
              </a:xfrm>
              <a:prstGeom prst="rect">
                <a:avLst/>
              </a:prstGeom>
              <a:blipFill>
                <a:blip r:embed="rId2"/>
                <a:stretch>
                  <a:fillRect l="-270" r="-270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502920" y="2736503"/>
                <a:ext cx="6181344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Пример: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для данной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вероятностью 0.9 мы попадаем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с вероятностью 0.1 мы попадаем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В условно бесконечном буфере для этой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среди каждых 10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 1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9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равномерное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давало бы переходы, удовлетворяющие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736503"/>
                <a:ext cx="6181344" cy="1865126"/>
              </a:xfrm>
              <a:prstGeom prst="rect">
                <a:avLst/>
              </a:prstGeom>
              <a:blipFill>
                <a:blip r:embed="rId3"/>
                <a:stretch>
                  <a:fillRect l="-592" r="-4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867" y="2431107"/>
            <a:ext cx="1975173" cy="14282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65760" y="4601629"/>
                <a:ext cx="11558016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приоритизированного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реплея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веса у переходов 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могут отличаться от весов для переходов 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Например, если мы оцениваем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=0,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уже даже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правильновыучилисреднеезначение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)=0.1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𝐿𝑜𝑠𝑠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 равен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0.1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𝐿𝑜𝑠𝑠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0.9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Значит,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 появляться 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засэмплированных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переходах чаще, чем с вероятностью 0.1, и это выбьет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её правильного значения.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4601629"/>
                <a:ext cx="11558016" cy="1274195"/>
              </a:xfrm>
              <a:prstGeom prst="rect">
                <a:avLst/>
              </a:prstGeom>
              <a:blipFill>
                <a:blip r:embed="rId5"/>
                <a:stretch>
                  <a:fillRect l="-264" r="-264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57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28600" y="310505"/>
                <a:ext cx="11219688" cy="8447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Теорема: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приоритетами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использование весов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𝑤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 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позволит избежать эффекта смещения.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10505"/>
                <a:ext cx="11219688" cy="844718"/>
              </a:xfrm>
              <a:prstGeom prst="rect">
                <a:avLst/>
              </a:prstGeom>
              <a:blipFill>
                <a:blip r:embed="rId2"/>
                <a:stretch>
                  <a:fillRect l="-326" r="-272" b="-5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32588" y="1155223"/>
                <a:ext cx="11411712" cy="15928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Раз поначалу смещение нас не так беспокоит, предлагается вводить веса постепенно: а именно, использовать веса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𝑤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𝕋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𝛽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зависящий от итерации алгоритма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Изначально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=0)=0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что делает веса равномерными (корректировки не производится), но постепенно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растёт к 1 и полностью избавляет алгоритм от эффекта смещения.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" y="1155223"/>
                <a:ext cx="11411712" cy="1592808"/>
              </a:xfrm>
              <a:prstGeom prst="rect">
                <a:avLst/>
              </a:prstGeom>
              <a:blipFill>
                <a:blip r:embed="rId3"/>
                <a:stretch>
                  <a:fillRect l="-321" r="-267" b="-26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228600" y="2806900"/>
            <a:ext cx="3491020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Multi-step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DQN (Многошаговый)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28600" y="3350659"/>
                <a:ext cx="11384280" cy="3339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— N-шаговое уравнение оптимальности Беллмана: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𝒯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: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∼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𝑁</m:t>
                                  </m:r>
                                </m:sub>
                              </m:sSub>
                            </m:sub>
                          </m:sSub>
                          <m:func>
                            <m:func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sSubSup>
                                    <m:sSub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𝑁</m:t>
                                      </m:r>
                                    </m:sub>
                                    <m: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Что мы можем сделать? Мы можем прикинуться, будто решаем многошаговые уравнения Беллмана, задав целевую переменную следующим образом: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𝑁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...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взяты из буфера. Для этого в буфере вместо одношаговых переходов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достаточно просто хранить другую пятёрку</a:t>
                </a:r>
                <a:r>
                  <a:rPr lang="ru-RU" sz="16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350659"/>
                <a:ext cx="11384280" cy="3339632"/>
              </a:xfrm>
              <a:prstGeom prst="rect">
                <a:avLst/>
              </a:prstGeom>
              <a:blipFill>
                <a:blip r:embed="rId4"/>
                <a:stretch>
                  <a:fillRect l="-321" r="-321" b="-9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995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19456" y="280756"/>
                <a:ext cx="11676888" cy="17925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𝕋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 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𝑁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𝑑𝑜𝑛𝑒</m:t>
                              </m:r>
                            </m:e>
                          </m:nary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—награда, полученная через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n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шагов после посещения рассматриваемого состояния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—состояние, посещённое через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шагов, и, что важно, флаг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𝑑𝑜𝑛𝑒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(сделанный) указывает на то, завершился ли эпизод в течение этого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-шагового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(внедрения).</a:t>
                </a:r>
                <a:endParaRPr lang="ru-RU" sz="1600" dirty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280756"/>
                <a:ext cx="11676888" cy="1792542"/>
              </a:xfrm>
              <a:prstGeom prst="rect">
                <a:avLst/>
              </a:prstGeom>
              <a:blipFill>
                <a:blip r:embed="rId2"/>
                <a:stretch>
                  <a:fillRect l="-261" r="-418" b="-3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-113252" y="2073298"/>
            <a:ext cx="2908745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Retrace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(Восстановление)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06324" y="2591646"/>
                <a:ext cx="11503152" cy="39947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 буфере так же нужно сохранять вероятности выбора сохранённых действий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µ(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момент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сбораданных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-жадных стратегий эти значения всё время будут или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ε</m:t>
                        </m:r>
                      </m:num>
                      <m:den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ε</m:t>
                        </m:r>
                      </m:num>
                      <m:den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параметр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эксплорейшна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момент сбора перехода). Вместо отдельных переходов теперь хранятся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фрагменты траекторий некоторой длины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Далее для каждого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засэмплированного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буфера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,...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сначала для каждой пары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считаем, используя формулы из теории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Retrace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следующие вспомогательные величины: значение коэффициента затухания следа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(коэффициент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обычно полагают равным единице) и значение одношаговой ошибки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𝑚𝑖𝑛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1,</m:t>
                          </m:r>
                          <m:f>
                            <m:f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µ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t</m:t>
                              </m:r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+1∼</m:t>
                              </m:r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π</m:t>
                              </m:r>
                              <m: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Всюду, где используется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используется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жадная стратегии по отношению 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таргет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-сети. В частности,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π можно посчитать явно: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π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acc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1−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𝜀</m:t>
                          </m:r>
                        </m:e>
                      </m:d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" y="2591646"/>
                <a:ext cx="11503152" cy="3994748"/>
              </a:xfrm>
              <a:prstGeom prst="rect">
                <a:avLst/>
              </a:prstGeom>
              <a:blipFill>
                <a:blip r:embed="rId3"/>
                <a:stretch>
                  <a:fillRect l="-265" r="-3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365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92608" y="340652"/>
                <a:ext cx="11731752" cy="42937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После этого в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Retrace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одной пары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все будущие одношаговые ошибки нужно просуммировать (воспользуемся индексом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обозначения этого перебора), но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заглядывание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каждый следующий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ый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 в будущее обязывает нас потушить след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раз: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𝑟𝑒𝑡𝑟𝑎𝑐𝑒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acc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limLoc m:val="undOvr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=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𝑡</m:t>
                                      </m:r>
                                    </m:e>
                                  </m:acc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𝛹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𝑡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𝑡</m:t>
                                      </m:r>
                                    </m:e>
                                  </m:acc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Заметим, что в этой формуле внешняя сумма по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идёт не до бесконечности, как в теории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Retrace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до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до конца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После этого считаем, что след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зануляется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это корректно, хотя иногда можно и потерять возможность получить более длинную оценку. Далее в табличном методе мы бы провели обновление по формуле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←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𝛼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𝑟𝑒𝑡𝑟𝑎𝑐𝑒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 есть воспользовались бы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𝑟𝑒𝑡𝑟𝑎𝑐𝑒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как градиентом. Другими словами, оценка указывает, нужно ли увеличивать выход модели для рассматриваемой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или уменьшать. Чтобы получить задачу регрессии, целевая переменная строится по формуле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𝑟𝑒𝑡𝑟𝑎𝑐𝑒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)+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дальше оптимизируется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MSE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игнорируя зависимость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" y="340652"/>
                <a:ext cx="11731752" cy="4293740"/>
              </a:xfrm>
              <a:prstGeom prst="rect">
                <a:avLst/>
              </a:prstGeom>
              <a:blipFill>
                <a:blip r:embed="rId2"/>
                <a:stretch>
                  <a:fillRect l="-260" r="-208" b="-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/>
          <p:nvPr/>
        </p:nvPicPr>
        <p:blipFill rotWithShape="1">
          <a:blip r:embed="rId3"/>
          <a:srcRect l="38846" t="46131" r="35932" b="46853"/>
          <a:stretch/>
        </p:blipFill>
        <p:spPr bwMode="auto">
          <a:xfrm>
            <a:off x="4718304" y="4634392"/>
            <a:ext cx="3089275" cy="6134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-283549" y="5072369"/>
                <a:ext cx="6248570" cy="3620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градиент функции потерь по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одного примера равен: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3549" y="5072369"/>
                <a:ext cx="6248570" cy="362022"/>
              </a:xfrm>
              <a:prstGeom prst="rect">
                <a:avLst/>
              </a:prstGeom>
              <a:blipFill>
                <a:blip r:embed="rId4"/>
                <a:stretch>
                  <a:fillRect b="-22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/>
          <p:nvPr/>
        </p:nvPicPr>
        <p:blipFill rotWithShape="1">
          <a:blip r:embed="rId3"/>
          <a:srcRect l="18169" t="59538" r="14881" b="32610"/>
          <a:stretch/>
        </p:blipFill>
        <p:spPr bwMode="auto">
          <a:xfrm>
            <a:off x="2487169" y="5434391"/>
            <a:ext cx="7141464" cy="6802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05914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976</Words>
  <Application>Microsoft Office PowerPoint</Application>
  <PresentationFormat>Широкоэкранный</PresentationFormat>
  <Paragraphs>109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Тема Office</vt:lpstr>
      <vt:lpstr>Ценностно-ориентированный подход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65</cp:revision>
  <dcterms:created xsi:type="dcterms:W3CDTF">2020-10-06T14:10:24Z</dcterms:created>
  <dcterms:modified xsi:type="dcterms:W3CDTF">2023-10-15T12:21:42Z</dcterms:modified>
</cp:coreProperties>
</file>