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Policy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gradient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подход 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Подход градиентной политики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-257148" y="-59940"/>
            <a:ext cx="2830775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Схемы «актёр-критик»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42311" y="187597"/>
            <a:ext cx="2231316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Введение критика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274320" y="505264"/>
                <a:ext cx="11567160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Раз знание функции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позволит обучаться, не доигрывая эпизоды до конца, а функцию в готовом виде нам никто не даст, то возникает логичная идея — аппроксимировать её. Итак, введём вторую сетку, которая будет «оценивать» наши собственные решения — критика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critic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Нейросеть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моделирующую стратегию, соответственно будем называть актёром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actor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и такие алгоритмы, в которых обучается как модель критика, так и модель актёра, называются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Actor-Critic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(актёр-критик).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Здесь возникает принципиальный момент: мы не умеем обучать модели оценочных функций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так чтобы они оценивали будущую награду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несмещённо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(«выдавали в среднем правильный ответ»). Что это влечёт? При смещённой оценке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любые гарантии на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несмещённость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градиентов мгновенно теряются. </a:t>
                </a:r>
                <a:endParaRPr lang="ru-RU" sz="1600" dirty="0"/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505264"/>
                <a:ext cx="11567160" cy="2012859"/>
              </a:xfrm>
              <a:prstGeom prst="rect">
                <a:avLst/>
              </a:prstGeom>
              <a:blipFill>
                <a:blip r:embed="rId2"/>
                <a:stretch>
                  <a:fillRect l="-263" r="-421" b="-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Прямоугольник 10"/>
              <p:cNvSpPr/>
              <p:nvPr/>
            </p:nvSpPr>
            <p:spPr>
              <a:xfrm>
                <a:off x="100584" y="2518123"/>
                <a:ext cx="11567160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Надежда на работоспособность алгоритма после замены значения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смещённую оценку связана с тем, что формула градиента говорит проводить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(улучшение политики) во встречаемых состояниях. Коли градиент есть просто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мы знаем из общей идеи алгоритма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Generalized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Iteration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(итерация обобщенной политики), что для улучшения политики вовсе не обязательно использовать идеальную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достаточно любой аппроксимации критика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которая параллельным процессом движется в сторону идеальной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текущей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Фактически, все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Actor-Critic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(актёр-критик) методы моделируют именно эту идею.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" y="2518123"/>
                <a:ext cx="11567160" cy="1865126"/>
              </a:xfrm>
              <a:prstGeom prst="rect">
                <a:avLst/>
              </a:prstGeom>
              <a:blipFill>
                <a:blip r:embed="rId3"/>
                <a:stretch>
                  <a:fillRect l="-316" r="-264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/>
              <p:cNvSpPr/>
              <p:nvPr/>
            </p:nvSpPr>
            <p:spPr>
              <a:xfrm>
                <a:off x="192024" y="4530982"/>
                <a:ext cx="11567160" cy="19823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Следующий существенный момент заключается в том, что в качестве критика обычно учат именно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-функцию. Во-первых, если бы мы учили модель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и подставили бы её, то градиент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направил бы нашу стратегию в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a</m:t>
                            </m:r>
                          </m:lim>
                        </m:limLow>
                      </m:fName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Помимо того, что это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выродило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бы стратегию, это бы привело к тому, что качество обучения актёра выродилось бы в качество обучения критика: пока модель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похожа на истинную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у нас нет надежды, что актёр выучит хорошую стратегию.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4530982"/>
                <a:ext cx="11567160" cy="1982338"/>
              </a:xfrm>
              <a:prstGeom prst="rect">
                <a:avLst/>
              </a:prstGeom>
              <a:blipFill>
                <a:blip r:embed="rId4"/>
                <a:stretch>
                  <a:fillRect l="-316" r="-264" b="-3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65176" y="144413"/>
                <a:ext cx="11631168" cy="22131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Возможность не обучать сложную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является одним из преимуществ подхода прямой оптимизации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 DQN было обязательным учить именно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-функцию, так как, во-первых, мы хотели выводить из неё оптимальную стратегию, во-вторых, для уравнения оптимальности Беллмана для оптимальной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фокус с регрессией не прокатил бы — там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стоит внутри оператора взятия максимума. Сейчас же мы из соображений эффективности алгоритма (желания не играть полные эпизоды и задачи снижения дисперсии оценок) не сможем обойтись совсем без обучения каких-либо оценочных функций, но нам хватит лишь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𝜑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поскольку оценить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-функцию мы можем хотя бы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𝜑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),   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 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		 (1)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44413"/>
                <a:ext cx="11631168" cy="2213170"/>
              </a:xfrm>
              <a:prstGeom prst="rect">
                <a:avLst/>
              </a:prstGeom>
              <a:blipFill>
                <a:blip r:embed="rId2"/>
                <a:stretch>
                  <a:fillRect l="-314" r="-262" b="-11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65176" y="2397243"/>
                <a:ext cx="11731752" cy="20496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Bias-variance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trade-of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(торговля со смещённой дисперсией)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Обсудим сначала, как критик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𝜑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параметрами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𝜑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 использоваться в формуле градиента по параметрам стратегии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J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e>
                    </m:d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γ</m:t>
                        </m:r>
                      </m:den>
                    </m:f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a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s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𝑙𝑜𝑔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|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π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s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a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</a:t>
                </a:r>
                <a:r>
                  <a:rPr lang="ru-RU" sz="16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(2)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собираемся вместо частного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(преимущества) подставить некоторую его оценку (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 estimator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оценщик преимуществ) и провести таким образом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credit assignment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(кредитное присвоение):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2397243"/>
                <a:ext cx="11731752" cy="2049600"/>
              </a:xfrm>
              <a:prstGeom prst="rect">
                <a:avLst/>
              </a:prstGeom>
              <a:blipFill>
                <a:blip r:embed="rId3"/>
                <a:stretch>
                  <a:fillRect l="-312" r="-260" b="-17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884" y="4486503"/>
            <a:ext cx="5115629" cy="7071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774289"/>
                  </p:ext>
                </p:extLst>
              </p:nvPr>
            </p:nvGraphicFramePr>
            <p:xfrm>
              <a:off x="3124835" y="5368385"/>
              <a:ext cx="6558660" cy="9298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12674">
                      <a:extLst>
                        <a:ext uri="{9D8B030D-6E8A-4147-A177-3AD203B41FA5}">
                          <a16:colId xmlns:a16="http://schemas.microsoft.com/office/drawing/2014/main" val="1959758557"/>
                        </a:ext>
                      </a:extLst>
                    </a:gridCol>
                    <a:gridCol w="1803154">
                      <a:extLst>
                        <a:ext uri="{9D8B030D-6E8A-4147-A177-3AD203B41FA5}">
                          <a16:colId xmlns:a16="http://schemas.microsoft.com/office/drawing/2014/main" val="1860989093"/>
                        </a:ext>
                      </a:extLst>
                    </a:gridCol>
                    <a:gridCol w="1842832">
                      <a:extLst>
                        <a:ext uri="{9D8B030D-6E8A-4147-A177-3AD203B41FA5}">
                          <a16:colId xmlns:a16="http://schemas.microsoft.com/office/drawing/2014/main" val="44782619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𝛹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Дисперсия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Смещение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65013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𝜑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𝑠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высокая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нет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31138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254000"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𝑟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𝑠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)+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𝜑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𝜑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𝑠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низкая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большое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94214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Таблица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774289"/>
                  </p:ext>
                </p:extLst>
              </p:nvPr>
            </p:nvGraphicFramePr>
            <p:xfrm>
              <a:off x="3124835" y="5368385"/>
              <a:ext cx="6558660" cy="9298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12674">
                      <a:extLst>
                        <a:ext uri="{9D8B030D-6E8A-4147-A177-3AD203B41FA5}">
                          <a16:colId xmlns:a16="http://schemas.microsoft.com/office/drawing/2014/main" val="1959758557"/>
                        </a:ext>
                      </a:extLst>
                    </a:gridCol>
                    <a:gridCol w="1803154">
                      <a:extLst>
                        <a:ext uri="{9D8B030D-6E8A-4147-A177-3AD203B41FA5}">
                          <a16:colId xmlns:a16="http://schemas.microsoft.com/office/drawing/2014/main" val="1860989093"/>
                        </a:ext>
                      </a:extLst>
                    </a:gridCol>
                    <a:gridCol w="1842832">
                      <a:extLst>
                        <a:ext uri="{9D8B030D-6E8A-4147-A177-3AD203B41FA5}">
                          <a16:colId xmlns:a16="http://schemas.microsoft.com/office/drawing/2014/main" val="447826192"/>
                        </a:ext>
                      </a:extLst>
                    </a:gridCol>
                  </a:tblGrid>
                  <a:tr h="29260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12500" r="-125732" b="-2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Дисперсия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Смещение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6501398"/>
                      </a:ext>
                    </a:extLst>
                  </a:tr>
                  <a:tr h="31864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101887" r="-125732" b="-12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высокая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нет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3113843"/>
                      </a:ext>
                    </a:extLst>
                  </a:tr>
                  <a:tr h="31864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9" t="-201887" r="-125732" b="-2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низкая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254000" algn="ctr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600" dirty="0" err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</a:rPr>
                            <a:t>большое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94214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0875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83464" y="241888"/>
                <a:ext cx="11439144" cy="15020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 этой таблице речь идёт именно о дисперсии и смещении оценки градиента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использованной аппроксимации. То есть, в первом случае оценка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несмещённая, оценка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смещённая, но поскольку в качестве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бэйзлайна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силу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𝑙𝑜𝑔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может использоваться совершенно произвольная функция от состояний, совершенно несущественно, насколько наша аппроксимация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вообще похожа на истинную оценочную функцию</a:t>
                </a:r>
                <a:endParaRPr lang="ru-RU" sz="1600" dirty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241888"/>
                <a:ext cx="11439144" cy="1502014"/>
              </a:xfrm>
              <a:prstGeom prst="rect">
                <a:avLst/>
              </a:prstGeom>
              <a:blipFill>
                <a:blip r:embed="rId2"/>
                <a:stretch>
                  <a:fillRect l="-320" r="-267" b="-40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82880" y="1726579"/>
                <a:ext cx="11804904" cy="26961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Во втором же случае, аппроксимация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используется для оценки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и вызывает смещение в том числе в оценке градиента. Дисперсия же снижается, поскольку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 аккумулированы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мат.ожидания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всему хвосту траектории; она в обоих случаях существенно ниже, чем до введения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бэйзлайна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замена Монте-Карло оценки на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бутстрапированную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оценку снижает её ещё сильнее.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Вспомним, как можно интерполировать между этими крайними вариантами. Для начала, есть ещё целое семейство промежуточных вариантов — многошаговых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multi-step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оценок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-функции, использующих N-шаговое уравнение Беллмана: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≈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726579"/>
                <a:ext cx="11804904" cy="2696187"/>
              </a:xfrm>
              <a:prstGeom prst="rect">
                <a:avLst/>
              </a:prstGeom>
              <a:blipFill>
                <a:blip r:embed="rId3"/>
                <a:stretch>
                  <a:fillRect l="-258" r="-2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0" y="4422766"/>
                <a:ext cx="11841480" cy="1514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мы пользуемся для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credit </a:t>
                </a:r>
                <a:r>
                  <a:rPr lang="en-US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assingment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(кредитное присвоение)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-шаговой оценкой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(преимущество), или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-шаговой временной разностью.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)− 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22766"/>
                <a:ext cx="11841480" cy="1514325"/>
              </a:xfrm>
              <a:prstGeom prst="rect">
                <a:avLst/>
              </a:prstGeom>
              <a:blipFill>
                <a:blip r:embed="rId4"/>
                <a:stretch>
                  <a:fillRect l="-257" r="-2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59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65176" y="182827"/>
                <a:ext cx="11430000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 ростом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дисперсия такой оценки увеличивается: всё больший фрагмент траектории мы оцениваем по Монте-Карло, нам становятся нужны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),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), . . . 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при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оценка в пределе переходит в полную Монте-Карло оценку оставшейся награды, где дисперсия большая, но зато исчезает смещение в силу отсутствия смещённой аппроксимации награды за хвост траектории.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82827"/>
                <a:ext cx="11430000" cy="1274195"/>
              </a:xfrm>
              <a:prstGeom prst="rect">
                <a:avLst/>
              </a:prstGeom>
              <a:blipFill>
                <a:blip r:embed="rId2"/>
                <a:stretch>
                  <a:fillRect l="-320" r="-267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65176" y="1457022"/>
                <a:ext cx="11292840" cy="2802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Поэтому пока можно условно сказать, что самая «выгодная» оценка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(преимущества) для не очень длинных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оценка максимальной длины: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можем построить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-шаговую оценку, её и возьмём;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уже не более чем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-шаговую; наконец,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нам доступна лишь одношаговая оценка, просто потому что никаких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ещё не получали.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пар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. . . 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длины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будем называть оценкой максимальной длины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max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trace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estimation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оценку с максимальным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заглядыванием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будущее: 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𝑄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-функции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𝑀𝑎𝑥𝑇𝑟𝑎𝑐𝑒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:= </m:t>
                    </m:r>
                    <m:nary>
                      <m:naryPr>
                        <m:chr m:val="∑"/>
                        <m:limLoc m:val="undOvr"/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acc>
                          <m:accPr>
                            <m:chr m:val="̂"/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acc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acc>
                              <m:accPr>
                                <m:chr m:val="̂"/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acc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acc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p>
                        </m:s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𝜋</m:t>
                            </m:r>
                          </m:sup>
                        </m:s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16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(3)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(преимущества) функции, соответственно: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𝑀𝑎𝑥𝑇𝑟𝑎𝑐𝑒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𝑀𝑎𝑥𝑇𝑟𝑎𝑐𝑒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1457022"/>
                <a:ext cx="11292840" cy="2802819"/>
              </a:xfrm>
              <a:prstGeom prst="rect">
                <a:avLst/>
              </a:prstGeom>
              <a:blipFill>
                <a:blip r:embed="rId3"/>
                <a:stretch>
                  <a:fillRect l="-324" r="-2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65176" y="4476756"/>
                <a:ext cx="11292840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Это полностью корректно, поскольку любая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-шаговая оценка является оценкой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(преимущества) для данного слагаемого в нашей формуле градиента. Именно это и говорит оценка максимальной длины: если мы собрали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. . . 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длины 5, то одну пару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самую последнюю, нам придётся оценить одношаговой оценкой (поскольку для неё известен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лишь следующего состояния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только, никаких альтернатив здесь придумать не получится), предпоследнюю пару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двухшаговой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так далее. То есть «в среднем» длина оценок будет очень маленькой, такая оценка с точки зрения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bias-variance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(дисперсия смещения) скорее смещена, чем имеет большую дисперсию.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4476756"/>
                <a:ext cx="11292840" cy="1865126"/>
              </a:xfrm>
              <a:prstGeom prst="rect">
                <a:avLst/>
              </a:prstGeom>
              <a:blipFill>
                <a:blip r:embed="rId4"/>
                <a:stretch>
                  <a:fillRect l="-324" r="-270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04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16408" y="216509"/>
            <a:ext cx="7997952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Generalized Advantage Estimation – GAE (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Обобщенная оценка преимуществ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46304" y="805980"/>
                <a:ext cx="11612880" cy="58848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Решение дилеммы компромисс между смещением и дисперсией (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bias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variance trade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off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)) подсказывает теория обновления временной разницы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λ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оценки. Нужно применить формулу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𝛹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p>
                        </m:sSup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𝜆</m:t>
                            </m:r>
                          </m:sup>
                        </m:s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𝛹</m:t>
                            </m:r>
                          </m:e>
                          <m:sub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p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𝑎</m:t>
                            </m:r>
                          </m:e>
                          <m:sup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nary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=(1−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𝛹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(</m:t>
                            </m:r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)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(4)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просто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заансамблировать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-шаговые оценки разной длины: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GAE-оценкой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-преимущество-функции называется ансамбль многошаговых оценок, где оценка длины N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:=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𝑉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берётся с весом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(0,1)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GAE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:=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(1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λ</m:t>
                      </m:r>
                      <m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&gt;0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такая GAE-оценка соответствует одношаговой оценке; при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GAE-оценка соответствует Монте-Карло оценке Q-функции.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текущем виде в формуле суммируются все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-шаговые оценки вплоть до конца эпизода. В реальности собранные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могут прерваться в середине эпизода: допустим, для данной пары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через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«обрывается». Тогда на практике используется чуть-чуть другим определением GAE-оценки: если мы знаем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𝑀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, но после этого эпизод ещё не доигран до конца, мы пользуемся формулой (3) и оставляем от суммы только «доступные» слагаемые: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GAE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:=</m:t>
                    </m:r>
                    <m:nary>
                      <m:naryPr>
                        <m:chr m:val="∑"/>
                        <m:limLoc m:val="undOvr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≥0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𝑀</m:t>
                        </m:r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ru-RU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		</a:t>
                </a:r>
                <a:r>
                  <a:rPr lang="ru-RU" sz="16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(5)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" y="805980"/>
                <a:ext cx="11612880" cy="5884881"/>
              </a:xfrm>
              <a:prstGeom prst="rect">
                <a:avLst/>
              </a:prstGeom>
              <a:blipFill>
                <a:blip r:embed="rId2"/>
                <a:stretch>
                  <a:fillRect l="-262" r="-262" b="-8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79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46304" y="169373"/>
                <a:ext cx="11722608" cy="4055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Формула (5) эквивалентна следующему ансамблю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-шаговых оценок: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GAE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λ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&gt;0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𝑁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𝜆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𝑀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𝑁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такой «обрезанной» оценке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соответствует оценке максимальной длины, 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всё ещё даст одношаговую оценку.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коде формула (5) очень удобна для рекурсивного подсчёта оценки; также для практического алгоритма осталось учесть флаги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𝑑𝑜𝑛𝑒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Формулы подсчёта GAE-оценки для всех пар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роллаута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𝑟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· · ·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приобретают такой вид: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GAE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:=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𝛹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(1)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GAE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:=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𝛹</m:t>
                                </m:r>
                              </m:e>
                              <m: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(1)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γλ</m:t>
                            </m:r>
                            <m: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(1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done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N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ru-RU" sz="16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𝛹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GAE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𝑁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…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𝛹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ru-RU" sz="16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GAE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:=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𝛹</m:t>
                                      </m:r>
                                    </m:e>
                                    <m:sub>
                                      <m:r>
                                        <a:rPr lang="ru-RU" sz="16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(1)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γλ</m:t>
                                  </m:r>
                                  <m: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(1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done</m:t>
                                      </m:r>
                                    </m:e>
                                    <m:sub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𝛹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ru-RU" sz="16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GAE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Заметим, что эти формулы очень похожи на расчёт кумулятивной награды за эпизод, где «наградой за шаг» выступает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𝛹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(1)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В среднем наши оценки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Advantage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(преимущество) должны быть равны нулю, и, если наша аппроксимация этому не удовлетворяет, мы получаем направление корректировки стратегии.</a:t>
                </a: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" y="169373"/>
                <a:ext cx="11722608" cy="4055662"/>
              </a:xfrm>
              <a:prstGeom prst="rect">
                <a:avLst/>
              </a:prstGeom>
              <a:blipFill>
                <a:blip r:embed="rId2"/>
                <a:stretch>
                  <a:fillRect l="-260" r="-260" b="-4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146304" y="4124451"/>
            <a:ext cx="2260106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Обучение критика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429768" y="4486473"/>
                <a:ext cx="11439144" cy="1981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Как обучать критика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𝜑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)≈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? Воспользуемся идеей перехода к регрессии, которую мы обсуждали раньше в контексте DQN (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Deep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Q-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learning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лубокое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Q-обучение). Нам нужно просто решать методом простой итерации уравнение Беллмана: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)←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[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𝑟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Мы можем получить несмещённую оценку правой части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:=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𝛾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и с таким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таргетом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минимизировать MSE. </a:t>
                </a:r>
                <a:r>
                  <a:rPr lang="ru-RU" sz="1600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Например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можно выбрать любое N-шаговое уравнение и строить целевую переменную как</a:t>
                </a: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𝛾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𝛾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+ · · · + 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sup>
                    </m:sSup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sup>
                    </m:sSup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			(6)</a:t>
                </a: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4486473"/>
                <a:ext cx="11439144" cy="1981889"/>
              </a:xfrm>
              <a:prstGeom prst="rect">
                <a:avLst/>
              </a:prstGeom>
              <a:blipFill>
                <a:blip r:embed="rId3"/>
                <a:stretch>
                  <a:fillRect l="-320" r="-267" b="-1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811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92608" y="0"/>
                <a:ext cx="11594592" cy="5347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Соответственно, можно считать решение </a:t>
                </a:r>
                <a:r>
                  <a:rPr lang="ru-RU" sz="16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trade-off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(компромисс) одинаковым для актёра и критика. Тогда если мы оцениваем </a:t>
                </a:r>
                <a:r>
                  <a:rPr lang="ru-RU" sz="1600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Advantage</a:t>
                </a:r>
                <a:r>
                  <a:rPr lang="ru-RU" sz="16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(преимущество) как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𝛹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𝑦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некоторая оценка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-функции, то y же является и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таргетом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-функции, и наоборот. Используя функцию потерь MSE с таким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таргетом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мы как раз и учим среднее значение наших оценок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-функции, то есть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бэйзлайн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Конечно же, мы можем использовать и GAE-оценку (4)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Advantage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(преимущество), достаточно «убрать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бэйзлайн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+ 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≈ 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𝐺𝐴𝐸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𝑎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При этом мы как бы будем решать «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заансамблированные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»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-шаговые уравнения Беллмана для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-функции: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Утверждение: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Таргет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𝛹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𝐺𝐴𝐸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+ 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𝜑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является несмещённой оценкой правой части «ансамбля» уравнений Беллмана: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=(1−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&gt;0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𝔅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𝔅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— оператор Беллмана для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-функции.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Брать для обучения критика набор выходных состояний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мы можем откуда угодно. Поэтому для удобства будем брать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µ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чтобы можно было использовать для обучения критика и актёра один и тот же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минибатч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Итого получаем следующее: делаем несколько шагов взаимодействия со средой, собирая таким образом </a:t>
                </a:r>
                <a:r>
                  <a:rPr lang="ru-RU" sz="16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роллаут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некоторой длины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считаем для каждой пары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некоторую оценку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-функции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например, оценку максимальной длины (3); оцениваем преимущество каждой пары как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𝛹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):=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)−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𝜑</m:t>
                        </m:r>
                      </m:sub>
                    </m:sSub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далее по Монте-Карло оцениваем градиент по параметрам стратегии</a:t>
                </a: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" y="0"/>
                <a:ext cx="11594592" cy="5347682"/>
              </a:xfrm>
              <a:prstGeom prst="rect">
                <a:avLst/>
              </a:prstGeom>
              <a:blipFill>
                <a:blip r:embed="rId2"/>
                <a:stretch>
                  <a:fillRect l="-263" r="-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74904" y="4979205"/>
                <a:ext cx="11512296" cy="1866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𝐽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𝜋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)≈</m:t>
                      </m:r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𝑙𝑜𝑔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𝛹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и градиент для оптимизации критика (допустим, критик —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-функция):</a:t>
                </a: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𝐿𝑜𝑠𝑠</m:t>
                          </m:r>
                        </m:e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𝑐𝑟𝑖𝑡𝑖𝑐</m:t>
                          </m:r>
                        </m:sup>
                      </m:sSup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𝜑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𝑠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𝜑</m:t>
                                      </m:r>
                                    </m:sub>
                                  </m:s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𝑠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4" y="4979205"/>
                <a:ext cx="11512296" cy="18669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61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343783" y="108032"/>
            <a:ext cx="613129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Advantage Actor-Critic (A2C – 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преимущество актера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критика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7" y="495830"/>
            <a:ext cx="8195026" cy="61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3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0879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358</Words>
  <Application>Microsoft Office PowerPoint</Application>
  <PresentationFormat>Широкоэкранный</PresentationFormat>
  <Paragraphs>75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Тема Office</vt:lpstr>
      <vt:lpstr>Policy gradient подход  (Подход градиентной политики) 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57</cp:revision>
  <dcterms:created xsi:type="dcterms:W3CDTF">2020-10-06T14:10:24Z</dcterms:created>
  <dcterms:modified xsi:type="dcterms:W3CDTF">2023-11-24T12:25:55Z</dcterms:modified>
</cp:coreProperties>
</file>