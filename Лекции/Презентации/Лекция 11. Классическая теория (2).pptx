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47" autoAdjust="0"/>
    <p:restoredTop sz="94660"/>
  </p:normalViewPr>
  <p:slideViewPr>
    <p:cSldViewPr snapToGrid="0">
      <p:cViewPr varScale="1">
        <p:scale>
          <a:sx n="84" d="100"/>
          <a:sy n="84" d="100"/>
        </p:scale>
        <p:origin x="53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607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0330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6579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0559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246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846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7318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825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9832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215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6418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5316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77240" y="1581913"/>
            <a:ext cx="10515600" cy="1946284"/>
          </a:xfrm>
        </p:spPr>
        <p:txBody>
          <a:bodyPr>
            <a:normAutofit/>
          </a:bodyPr>
          <a:lstStyle/>
          <a:p>
            <a:pPr algn="ctr">
              <a:spcAft>
                <a:spcPts val="0"/>
              </a:spcAft>
              <a:tabLst>
                <a:tab pos="5832475" algn="l"/>
                <a:tab pos="6049010" algn="r"/>
              </a:tabLst>
            </a:pP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Классическая теория </a:t>
            </a:r>
            <a:r>
              <a:rPr lang="ru-RU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8597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81670" y="144608"/>
            <a:ext cx="3705117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Динамическое программирование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-183082" y="506630"/>
            <a:ext cx="2956963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Метод простой итерации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4" name="Рисунок 13"/>
          <p:cNvPicPr/>
          <p:nvPr/>
        </p:nvPicPr>
        <p:blipFill rotWithShape="1">
          <a:blip r:embed="rId2"/>
          <a:srcRect l="53008" t="36278" r="25814" b="44080"/>
          <a:stretch/>
        </p:blipFill>
        <p:spPr bwMode="auto">
          <a:xfrm>
            <a:off x="454723" y="894428"/>
            <a:ext cx="4254437" cy="216881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4709160" y="506630"/>
                <a:ext cx="7269480" cy="27515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Оператор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→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называется сжимающим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contraction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с коэффициентом сжатия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𝛾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&lt;1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 некоторой метрике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𝜌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если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𝜌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𝑓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𝑓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2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)) &lt;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𝛾𝜌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2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Точка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для оператора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→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называется неподвижной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ﬁxed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point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), если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𝑥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𝑓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𝑥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Построение последовательности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для начального приближения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называется методом простой итерации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point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iteration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решения уравнения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9160" y="506630"/>
                <a:ext cx="7269480" cy="2751522"/>
              </a:xfrm>
              <a:prstGeom prst="rect">
                <a:avLst/>
              </a:prstGeom>
              <a:blipFill>
                <a:blip r:embed="rId3"/>
                <a:stretch>
                  <a:fillRect l="-503" r="-503" b="-110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109728" y="3724042"/>
                <a:ext cx="11868912" cy="21662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Теорема – Теорема </a:t>
                </a:r>
                <a:r>
                  <a:rPr lang="ru-RU" sz="1600" u="sng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Банаха</a:t>
                </a: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о неподвижной точке: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 полном метрическом пространстве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усжимающего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оператора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→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существует и обязательно единственна неподвижная точка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причём метод простой итерации сходится к ней из любого начального приближения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Сходимость метода простой итерации.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произвольное,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Тогда для любого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𝑘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&gt;0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𝜌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+1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 = {определение 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} =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𝜌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𝑓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𝑓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)) ≤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r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≤{свойство сжатия}≤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𝛾𝜌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 ≤···≤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			(4.1)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≤{аналогичным образом}≤···≤ 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𝛾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𝜌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0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" y="3724042"/>
                <a:ext cx="11868912" cy="2166299"/>
              </a:xfrm>
              <a:prstGeom prst="rect">
                <a:avLst/>
              </a:prstGeom>
              <a:blipFill>
                <a:blip r:embed="rId4"/>
                <a:stretch>
                  <a:fillRect l="-257" r="-2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9149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365760" y="298349"/>
                <a:ext cx="10844784" cy="2605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Теперь посмотрим, что произойдёт после применения оператора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раз: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𝜌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+1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 ≤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{неравенство треугольника}≤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𝜌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+1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)+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𝜌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+1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+2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)+···+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𝜌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+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𝑛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+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𝑛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 ≤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≤{(4.1)}≤(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𝛾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𝛾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+1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 ...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𝛾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+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𝑛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−1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𝜌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0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)≤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≤{геом. прогрессия}≤</m:t>
                      </m:r>
                      <m:f>
                        <m:f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</m:t>
                              </m:r>
                            </m:sup>
                          </m:sSup>
                        </m:num>
                        <m:den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1−</m:t>
                          </m:r>
                          <m:r>
                            <m:rPr>
                              <m:sty m:val="p"/>
                            </m:rP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γ</m:t>
                          </m:r>
                        </m:den>
                      </m:f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𝜌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0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  <m:box>
                        <m:box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boxPr>
                        <m:e>
                          <m:groupChr>
                            <m:groupChrPr>
                              <m:chr m:val="→"/>
                              <m:vertJc m:val="bot"/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sty m:val="p"/>
                                </m:rPr>
                                <a:rPr lang="ru-RU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k</m:t>
                              </m:r>
                              <m:r>
                                <a:rPr lang="ru-RU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→∞</m:t>
                              </m:r>
                            </m:e>
                          </m:groupChr>
                        </m:e>
                      </m:box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0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Итак, последовательность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фундаментальная, и мы специально используем такое метрическое пространство («полное»), в котором обязательно найдётся предел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:= </m:t>
                    </m:r>
                    <m:func>
                      <m:func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ru-RU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lim</m:t>
                            </m:r>
                          </m:e>
                          <m:lim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𝑘</m:t>
                            </m:r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𝑘</m:t>
                            </m:r>
                          </m:sub>
                        </m:sSub>
                      </m:e>
                    </m:func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298349"/>
                <a:ext cx="10844784" cy="2605329"/>
              </a:xfrm>
              <a:prstGeom prst="rect">
                <a:avLst/>
              </a:prstGeom>
              <a:blipFill>
                <a:blip r:embed="rId2"/>
                <a:stretch>
                  <a:fillRect l="-281" r="-2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283464" y="3122194"/>
                <a:ext cx="11512296" cy="24560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Существование неподвижной точки.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Покажем,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есть неподвижная точка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то есть покажем, что метод простой итерации конструктивно её построил. Заметим, что для любого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𝑘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&gt;0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𝜌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𝑓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))≤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≤{неравенство треугольника}≤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𝜌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)+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𝜌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𝑓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))=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={определение 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}=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𝜌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)+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𝜌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𝑓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)),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𝑓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))≤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≤{свойство сжатия}≤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𝜌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  +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𝛾𝜌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Устремим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𝑘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→∞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; слева стоит константа, не зависящая от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𝑘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Тогда расстояние между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устремится к нулю, ровно как и между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поскольку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предел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Значит, константа равна нулю,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𝜌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))=0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следовательно,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64" y="3122194"/>
                <a:ext cx="11512296" cy="2456057"/>
              </a:xfrm>
              <a:prstGeom prst="rect">
                <a:avLst/>
              </a:prstGeom>
              <a:blipFill>
                <a:blip r:embed="rId3"/>
                <a:stretch>
                  <a:fillRect l="-318" r="-265" b="-1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7613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0" y="258479"/>
                <a:ext cx="11622024" cy="9787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Единственность.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две неподвижные точки оператора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Ну тогда: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𝜌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2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 =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𝜌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𝑓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𝑓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2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)) ≤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𝛾𝜌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2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Получаем, что такое возможно только при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𝜌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)=0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то есть только 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совпадают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58479"/>
                <a:ext cx="11622024" cy="978729"/>
              </a:xfrm>
              <a:prstGeom prst="rect">
                <a:avLst/>
              </a:prstGeom>
              <a:blipFill>
                <a:blip r:embed="rId2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246888" y="1433521"/>
                <a:ext cx="11484864" cy="375750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Policy</a:t>
                </a:r>
                <a:r>
                  <a:rPr lang="ru-RU" sz="16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Evaluation</a:t>
                </a:r>
                <a:r>
                  <a:rPr lang="ru-RU" sz="16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(Оценка политики)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Известно,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π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для данного MDP и фиксированной политики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удовлетворяет уравнению Беллмана. Для нас это система уравнений относительно значений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π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π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объект (точка) в функциональном пространстве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𝒮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→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ℝ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Будем решать её методом простой итерации. Для этого определим оператор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𝔅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то есть преобразование из одной функции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𝒮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→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ℝ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 другую. На вход этот оператор принимает функцию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𝑉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𝒮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ℝ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выдаёт некоторую другую функцию от состояний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𝔅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𝑉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. Чтобы задать выход оператора, нужно задать значение выходной функции в каждом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𝒮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; это значение мы будем обозначать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[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𝔅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𝑉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](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(квадратные скобки позволяют не путать применение оператора с вызовом самой функции) и определим его как правую часть решаемого уравнения Беллмана. И так: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Введём оператор Беллмана для заданного MDP и стратегии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как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[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𝔅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](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):=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∼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|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[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𝑟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)+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𝛾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)]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Также нам нужна метрика на множестве функций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𝒮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→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ℝ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; возьмём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𝑑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∞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):=</m:t>
                      </m:r>
                      <m:func>
                        <m:func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lim>
                          </m:limLow>
                        </m:fName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)−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)|</m:t>
                          </m:r>
                        </m:e>
                      </m:func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88" y="1433521"/>
                <a:ext cx="11484864" cy="3757503"/>
              </a:xfrm>
              <a:prstGeom prst="rect">
                <a:avLst/>
              </a:prstGeom>
              <a:blipFill>
                <a:blip r:embed="rId3"/>
                <a:stretch>
                  <a:fillRect l="-318" r="-2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246888" y="5074867"/>
                <a:ext cx="11530584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Теорема: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Если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𝛾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&lt;1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оператор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𝔅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сжимающий с коэффициентом сжатия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𝛾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Итак, мы попали в теорему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Банаха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и значит, метод простой итерации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+1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:=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𝔅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гарантированно сойдётся к единственной неподвижной точке при любой стартовой инициализации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По построению знаем,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π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такова, что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𝔅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(это и есть уравнение Беллмана), поэтому к ней и придём.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88" y="5074867"/>
                <a:ext cx="11530584" cy="1569660"/>
              </a:xfrm>
              <a:prstGeom prst="rect">
                <a:avLst/>
              </a:prstGeom>
              <a:blipFill>
                <a:blip r:embed="rId4"/>
                <a:stretch>
                  <a:fillRect l="-317" r="-264" b="-23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8668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566928" y="790474"/>
                <a:ext cx="11411712" cy="21605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Важно помнить, что на каждой итерации такой процедуры текущее приближение не совпадает с истинной оценочной функцией: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)≈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π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но точного равенства поставить нельзя. Распространено (но, к сожалению, не везде применяется) соглашение обозначать аппроксимации оценочных функций без верхнего индекса: просто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𝑉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или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𝑄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Однако, иногда, что бы подчеркнуть, что алгоритм учит именно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π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верхний индекс оставляют, что может приводить к путанице.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Обсудим, что случится в ситуации, когда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𝛾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=1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; напомним, что в таких ситуациях мы требовали эпизодичность сред, с гарантиями завершения всех эпизодов за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𝑇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max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шагов. Оператор Беллмана формально сжатием являться уже не будет, и мы не подпадаем под теорему.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8" y="790474"/>
                <a:ext cx="11411712" cy="2160591"/>
              </a:xfrm>
              <a:prstGeom prst="rect">
                <a:avLst/>
              </a:prstGeom>
              <a:blipFill>
                <a:blip r:embed="rId2"/>
                <a:stretch>
                  <a:fillRect l="-267" r="-267" b="-16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283464" y="3261961"/>
                <a:ext cx="11786616" cy="21605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Теорема: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 эпизодичных средах метод простой итерации сойдётся к единственному решению уравнений Беллмана не более чем за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𝑇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max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шагов даже при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𝛾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=1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Мы определились, как решать задачу оценивания стратегии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Policy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Evaluation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): вычислять значения оценочной функции по данной стратегии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 ситуации, когда мы знаем динамику среды. На практике мы можем воспользоваться этим результатом только в «табличном» случае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tabular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RL), когда пространство состояний и пространство действий конечны и достаточно малы, чтобы все пары состояние-действие было возможно хранить в памяти компьютера и перебирать за разумное время. В такой ситуации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π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конечный вектор, и можно считать оператор Беллмана и делать обновления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𝔅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64" y="3261961"/>
                <a:ext cx="11786616" cy="2160591"/>
              </a:xfrm>
              <a:prstGeom prst="rect">
                <a:avLst/>
              </a:prstGeom>
              <a:blipFill>
                <a:blip r:embed="rId3"/>
                <a:stretch>
                  <a:fillRect l="-310" r="-259" b="-14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8907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80008" y="45893"/>
            <a:ext cx="4804200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Алгоритм: </a:t>
            </a:r>
            <a:r>
              <a:rPr lang="ru-RU" sz="1600" u="sng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Policy</a:t>
            </a:r>
            <a:r>
              <a:rPr lang="ru-RU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u="sng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Evaluation</a:t>
            </a:r>
            <a:r>
              <a:rPr lang="ru-RU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(Оценка политики)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424" y="482360"/>
            <a:ext cx="5136083" cy="2491434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-80008" y="2915772"/>
            <a:ext cx="3774944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Value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Iteration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(Итерация значения)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219456" y="3277794"/>
                <a:ext cx="11768328" cy="34271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 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Определим оператор оптимальности Беллмана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(Bellman optimality operator, Bellman control operator)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𝔅</m:t>
                        </m:r>
                      </m:e>
                      <m:sup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𝔅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</m:d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</m:d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:=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𝑟</m:t>
                      </m:r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</m:d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𝛾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func>
                        <m:func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max</m:t>
                              </m:r>
                            </m:e>
                            <m:lim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В качестве метрики на множестве функций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𝒮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×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𝒜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→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ℝ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аналогично возьмём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𝑑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∞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):=</m:t>
                      </m:r>
                      <m:func>
                        <m:func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)−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)|</m:t>
                          </m:r>
                        </m:e>
                      </m:func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Тогда утвердим следующий факт: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limLowPr>
                              <m:e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𝑚𝑎𝑥</m:t>
                                </m:r>
                              </m:e>
                              <m:lim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𝑥</m:t>
                                </m:r>
                              </m:lim>
                            </m:limLow>
                          </m:fName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𝑓</m:t>
                            </m:r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(</m:t>
                            </m:r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𝑥</m:t>
                            </m:r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)</m:t>
                            </m:r>
                          </m:e>
                        </m:func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</m:t>
                        </m:r>
                        <m:func>
                          <m:func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limLowPr>
                              <m:e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𝑚𝑎𝑥</m:t>
                                </m:r>
                              </m:e>
                              <m:lim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𝑥</m:t>
                                </m:r>
                              </m:lim>
                            </m:limLow>
                          </m:fName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𝑔</m:t>
                            </m:r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(</m:t>
                            </m:r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𝑥</m:t>
                            </m:r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)</m:t>
                            </m:r>
                          </m:e>
                        </m:func>
                      </m:e>
                    </m:d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≤</m:t>
                    </m:r>
                    <m:func>
                      <m:func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limLow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𝑚𝑎𝑥</m:t>
                            </m:r>
                          </m:e>
                          <m:lim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𝑥</m:t>
                            </m:r>
                          </m:lim>
                        </m:limLow>
                      </m:fName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|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𝑓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)−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𝑔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)|</m:t>
                        </m:r>
                      </m:e>
                    </m:func>
                  </m:oMath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Аналогично.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Теорема: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Если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𝛾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&lt;1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оператор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𝔅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 — сжимающий.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Теорема: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 эпизодичных средах метод простой итерации сойдётся к единственному решению уравнений оптимальности Беллмана не более чем за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𝑇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max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шагов даже при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𝛾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=1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56" y="3277794"/>
                <a:ext cx="11768328" cy="3427157"/>
              </a:xfrm>
              <a:prstGeom prst="rect">
                <a:avLst/>
              </a:prstGeom>
              <a:blipFill>
                <a:blip r:embed="rId3"/>
                <a:stretch>
                  <a:fillRect l="-259" r="-207" b="-71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350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-137160" y="142107"/>
                <a:ext cx="10945368" cy="6832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Аналогично.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Метод простой итерации сходится 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из любого начального приближения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7160" y="142107"/>
                <a:ext cx="10945368" cy="683264"/>
              </a:xfrm>
              <a:prstGeom prst="rect">
                <a:avLst/>
              </a:prstGeom>
              <a:blipFill>
                <a:blip r:embed="rId2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Прямоугольник 2"/>
          <p:cNvSpPr/>
          <p:nvPr/>
        </p:nvSpPr>
        <p:spPr>
          <a:xfrm>
            <a:off x="193022" y="921848"/>
            <a:ext cx="4691925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Алгоритм: </a:t>
            </a:r>
            <a:r>
              <a:rPr lang="ru-RU" sz="1600" u="sng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Value</a:t>
            </a:r>
            <a:r>
              <a:rPr lang="ru-RU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u="sng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Iteration</a:t>
            </a:r>
            <a:r>
              <a:rPr lang="ru-RU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(Итерация значения)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04" y="1612302"/>
            <a:ext cx="4639315" cy="222817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824" y="1115747"/>
            <a:ext cx="4700176" cy="2983252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-221775" y="4143136"/>
            <a:ext cx="3912289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Policy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Iteration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(Итерация политики)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Прямоугольник 6"/>
              <p:cNvSpPr/>
              <p:nvPr/>
            </p:nvSpPr>
            <p:spPr>
              <a:xfrm>
                <a:off x="193022" y="4727870"/>
                <a:ext cx="11520442" cy="10698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Для очередной стратегии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посчитаем её оценочную функцию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u-RU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k</m:t>
                            </m:r>
                          </m:sub>
                        </m:sSub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а затем воспользуемся теоремой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Policy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Improvement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(улучшение политики) и построим стратегию лучше; например, жадно: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+1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):=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𝑎𝑟𝑔</m:t>
                      </m:r>
                      <m:func>
                        <m:func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𝑄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ru-RU" sz="16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k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022" y="4727870"/>
                <a:ext cx="11520442" cy="1069845"/>
              </a:xfrm>
              <a:prstGeom prst="rect">
                <a:avLst/>
              </a:prstGeom>
              <a:blipFill>
                <a:blip r:embed="rId5"/>
                <a:stretch>
                  <a:fillRect l="-317" r="-2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1415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118872" y="244810"/>
                <a:ext cx="11292840" cy="10698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Он работает сразу в классе детерминированных стратегий, и состоит из двух этапов: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•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Policy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Evaluation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(оценка политики): вычисление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для текущей стратегии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;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•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Policy Improvement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(улучшение политики): улучшение стратегии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)←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𝑎𝑟𝑔</m:t>
                    </m:r>
                    <m:func>
                      <m:func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𝜋</m:t>
                            </m:r>
                          </m:sup>
                        </m:s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,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;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2" y="244810"/>
                <a:ext cx="11292840" cy="10698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1314655"/>
            <a:ext cx="3465576" cy="242463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5321808" y="1441602"/>
                <a:ext cx="6583680" cy="21605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При этом у нас есть гарантии, что когда алгоритм «останавливается» (не может провести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Policy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Improvement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), то он находит оптимальную стратегию. Будем считать, что в такой момент остановки после проведения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Policy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Improvement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наша стратегия не меняется: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≡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Теорема: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 табличном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сеттинге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Policy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Iteration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завершает работу за конечное число итераций.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1808" y="1441602"/>
                <a:ext cx="6583680" cy="2160591"/>
              </a:xfrm>
              <a:prstGeom prst="rect">
                <a:avLst/>
              </a:prstGeom>
              <a:blipFill>
                <a:blip r:embed="rId4"/>
                <a:stretch>
                  <a:fillRect l="-463" r="-463" b="-14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0" y="3739289"/>
            <a:ext cx="4802469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Алгоритм: </a:t>
            </a:r>
            <a:r>
              <a:rPr lang="ru-RU" sz="1600" u="sng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Policy</a:t>
            </a:r>
            <a:r>
              <a:rPr lang="ru-RU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u="sng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Iteration</a:t>
            </a:r>
            <a:r>
              <a:rPr lang="ru-RU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(Итерация политики)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0722" y="4101310"/>
            <a:ext cx="6983682" cy="2555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783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190568" y="144608"/>
            <a:ext cx="6080895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Generalized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Policy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Iteration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(Обобщенная итерация политики)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Рисунок 2"/>
          <p:cNvPicPr/>
          <p:nvPr/>
        </p:nvPicPr>
        <p:blipFill rotWithShape="1">
          <a:blip r:embed="rId2"/>
          <a:srcRect l="57685" t="28191" r="26723" b="53322"/>
          <a:stretch/>
        </p:blipFill>
        <p:spPr bwMode="auto">
          <a:xfrm>
            <a:off x="1014985" y="506630"/>
            <a:ext cx="4256722" cy="251371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5498592" y="799225"/>
                <a:ext cx="6096000" cy="156966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Но рассмотрим такую, пока что, эвристику: давайте останавливать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Policy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Evaluation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после ровно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шагов, а после обновления стратегии не начинать оценивать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k</m:t>
                        </m:r>
                        <m: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 нуля, а использовать последнее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𝑉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)≈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u-RU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k</m:t>
                            </m:r>
                          </m:sub>
                        </m:sSub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 качестве инициализации. Тогда алгоритм примет следующий вид: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8592" y="799225"/>
                <a:ext cx="6096000" cy="1569660"/>
              </a:xfrm>
              <a:prstGeom prst="rect">
                <a:avLst/>
              </a:prstGeom>
              <a:blipFill>
                <a:blip r:embed="rId3"/>
                <a:stretch>
                  <a:fillRect l="-500" r="-500" b="-23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-106680" y="3020341"/>
            <a:ext cx="7933944" cy="387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Алгоритм: </a:t>
            </a:r>
            <a:r>
              <a:rPr lang="ru-RU" sz="1600" u="sng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Generalized</a:t>
            </a:r>
            <a:r>
              <a:rPr lang="ru-RU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u="sng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Policy</a:t>
            </a:r>
            <a:r>
              <a:rPr lang="ru-RU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u="sng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Iteration</a:t>
            </a:r>
            <a:r>
              <a:rPr lang="ru-RU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(Обобщенная итерация политики)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Рисунок 5"/>
          <p:cNvPicPr/>
          <p:nvPr/>
        </p:nvPicPr>
        <p:blipFill rotWithShape="1">
          <a:blip r:embed="rId4"/>
          <a:srcRect l="25594" t="8549" r="48808" b="65105"/>
          <a:stretch/>
        </p:blipFill>
        <p:spPr bwMode="auto">
          <a:xfrm>
            <a:off x="3688080" y="3539490"/>
            <a:ext cx="5218176" cy="311734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695971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237744" y="259556"/>
                <a:ext cx="11475720" cy="34495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Утверждение: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Generalized Policy Iteration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(обобщенная итерация политики) совпадает с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Value Iteration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(итерация значения) при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=1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с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Policy Iteration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(итерация политики) при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=∞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Итак,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Generalized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Policy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Iteration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при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=1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при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=∞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—это ранее разобранные алгоритмы, физический смысл которых нам ясен. В частности, теперь понятно, что в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Value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Iteration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очередное приближение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)≈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можно также рассматривать как приближение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)≈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π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для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):=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𝑎𝑟𝑔</m:t>
                    </m:r>
                    <m:func>
                      <m:func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ru-RU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max</m:t>
                            </m:r>
                          </m:e>
                          <m:lim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 </m:t>
                            </m:r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𝑘</m:t>
                            </m:r>
                          </m:sub>
                        </m:s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,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; то есть в алгоритме хоть и не потребовалось в явном виде хранить «текущую» стратегию, она всё равно неявно в нём присутствует. Попробуем понять, что происходит в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Generalized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Policy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Iteration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при промежуточных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Заметим, что повторение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раз шага метода простой итерации для решения уравнения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𝔅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эквивалентно одной итерации метода простой итерации для решения уравнения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N</m:t>
                        </m:r>
                      </m:sup>
                    </m:sSup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(где запись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N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означает повторное применение оператора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𝔅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раз), для которого, очевидно, искомая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также будет неподвижной точкой. Что это за оператор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N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? В уравнениях Беллмана мы «раскручивали» наше будущее на один шаг вперёд и дальше заменяли оставшийся «хвост» на определение V-функции. Понятно, что мы могли бы раскрутить не на один шаг, а на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шагов вперёд.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44" y="259556"/>
                <a:ext cx="11475720" cy="3449534"/>
              </a:xfrm>
              <a:prstGeom prst="rect">
                <a:avLst/>
              </a:prstGeom>
              <a:blipFill>
                <a:blip r:embed="rId2"/>
                <a:stretch>
                  <a:fillRect l="-266" r="-212" b="-7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-73152" y="3849247"/>
                <a:ext cx="11347704" cy="19231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Теорема — </a:t>
                </a:r>
                <a14:m>
                  <m:oMath xmlns:m="http://schemas.openxmlformats.org/officeDocument/2006/math">
                    <m:r>
                      <a:rPr lang="ru-RU" sz="1600" i="1" u="sng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-шаговое уравнение Беллмана: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Для любого состояния s0: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𝑉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𝒯</m:t>
                              </m:r>
                              <m: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: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N</m:t>
                              </m:r>
                              <m: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mbria Math" panose="02040503050406030204" pitchFamily="18" charset="0"/>
                                </a:rPr>
                                <m:t>∼</m:t>
                              </m:r>
                              <m:r>
                                <m:rPr>
                                  <m:sty m:val="p"/>
                                </m:rPr>
                                <a:rPr lang="ru-RU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π</m:t>
                              </m:r>
                              <m: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s</m:t>
                              </m:r>
                              <m: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t</m:t>
                              </m:r>
                              <m: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N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−</m:t>
                              </m:r>
                              <m: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1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sz="16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γ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𝑡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sz="16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γ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ru-RU" sz="16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N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𝔼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</m:sub>
                              </m:sSub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𝑉</m:t>
                                  </m:r>
                                </m:e>
                                <m:sup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𝜋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Тогда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N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оператор с коэффициентом сжатия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𝛾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N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3152" y="3849247"/>
                <a:ext cx="11347704" cy="1923155"/>
              </a:xfrm>
              <a:prstGeom prst="rect">
                <a:avLst/>
              </a:prstGeom>
              <a:blipFill>
                <a:blip r:embed="rId3"/>
                <a:stretch>
                  <a:fillRect b="-15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3217" y="3849247"/>
            <a:ext cx="3419975" cy="244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167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02336" y="463397"/>
            <a:ext cx="11000232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Теорема: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Алгоритм </a:t>
            </a:r>
            <a:r>
              <a:rPr lang="ru-RU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Generalized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Policy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Iteration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при любом N сходится к оптимальной стратегии и оптимальной оценочной функции.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338328" y="1309271"/>
                <a:ext cx="11475720" cy="2138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Интуитивно, такой алгоритм «стабилизируется», если оценочная функция будет удовлетворять уравнению Беллмана для текущей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(иначе оператор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N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изменит значение функции), и если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выбирает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arg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ru-RU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Q</m:t>
                        </m:r>
                        <m: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s</m:t>
                        </m:r>
                        <m: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из неё; а если аппроксимация V-функции удовлетворяет уравнению Беллмана, то она совпадает с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π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, и значит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)=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То есть, при сходимости стратегия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будет выбирать действие жадно по отношению к своей же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а мы помним, что это в точности критерий оптимальности. Все алгоритмы, которые мы будем обсуждать далее, так или иначе подпадают под обобщённую парадигму «оценивание-улучшение». У нас будет два процесса оптимизации: обучение актёра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actor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), политики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и критика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critic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), оценочной функции (Q или V). Критик обучается оценивать текущую стратегию, текущего актёра: сдвигаться в сторону решения какого-нибудь уравнения, для которого единственной неподвижной точкой является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π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или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</a:t>
                </a:r>
                <a:endParaRPr lang="ru-RU" sz="1600" dirty="0"/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28" y="1309271"/>
                <a:ext cx="11475720" cy="2138021"/>
              </a:xfrm>
              <a:prstGeom prst="rect">
                <a:avLst/>
              </a:prstGeom>
              <a:blipFill>
                <a:blip r:embed="rId2"/>
                <a:stretch>
                  <a:fillRect l="-319" t="-855" r="-638" b="-25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392" y="3609902"/>
            <a:ext cx="2950564" cy="51208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338328" y="4205031"/>
                <a:ext cx="11274552" cy="20473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Поэтому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Policy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Improvement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, тоже может выступать в разных формах: например, возможно, как в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Value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Iteration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, у нас будет приближение Q-функции, и мы будем просто всегда полагать, что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policy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improvement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проводится жадно, и текущей стратегией неявно будет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arg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ru-RU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Q</m:t>
                        </m:r>
                        <m: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s</m:t>
                        </m:r>
                        <m: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a</m:t>
                        </m:r>
                        <m: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Но главное, что эти два процесса, оценивание политики (обучение критика) и улучшение (обучение актёра) можно будет проводить стохастической оптимизацией. Достаточно, чтобы лишь в среднем модель оценочной функции сдвигалась в сторону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π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или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а актёр лишь в среднем двигался в сторону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arg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ru-RU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Q</m:t>
                        </m:r>
                        <m: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s</m:t>
                        </m:r>
                        <m: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a</m:t>
                        </m:r>
                        <m: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И такой «рецепт» алгоритма всегда будет работать: пока оба этих процесса проводятся корректно.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28" y="4205031"/>
                <a:ext cx="11274552" cy="2047355"/>
              </a:xfrm>
              <a:prstGeom prst="rect">
                <a:avLst/>
              </a:prstGeom>
              <a:blipFill>
                <a:blip r:embed="rId4"/>
                <a:stretch>
                  <a:fillRect l="-324" r="-270" b="-17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7075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8492" y="144608"/>
            <a:ext cx="2729850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Табличные алгоритмы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-194257" y="506630"/>
            <a:ext cx="2759858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Монте-Карло алгоритм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384048" y="894428"/>
                <a:ext cx="11558016" cy="39138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Value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iteration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(итерация значения) и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Policy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iteration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(итерация политики) имели два ограничения: 1) необходимо уметь хранить табличку размером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𝒮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 памяти и перебирать все состояния и действия за разумное время 2) должна быть известна динамика среды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Первое устраняется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нейронками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а сейчас будем устранять второе: в сложных средах проблема даже не столько в том, чтобы приблизить динамику среды, а в том, что интегралы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𝔼</m:t>
                        </m:r>
                      </m:e>
                      <m:sub>
                        <m:sSup>
                          <m:sSup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′</m:t>
                            </m:r>
                          </m:sup>
                        </m:s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∼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𝑝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мы не возьмём в силу огромного числа состояний и сможем только оценивать по Монте-Карло. Итак, мы хотим придумать табличный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model-free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(без модели) RL-алгоритм: мы можем отправить в среду пособирать траектории какую-то стратегию, и дальше должны проводить итерации алгоритма, используя лишь эти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сэмплы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траекторий. Иначе говоря, для данного s мы можем выбрать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получить ровно один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из очередного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причём на следующем шаге нам придётся проводить сбор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сэмплов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именно из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Как в таких условиях «решать» уравнения Беллмана — неясно. Рассмотрим самый простой способ превратить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Policy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Iteration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model-free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метод. Давайте очередную стратегию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отправим в среду, сыграем несколько эпизодов, и будем оценивать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u-RU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k</m:t>
                            </m:r>
                          </m:sub>
                        </m:sSub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 Монте-Карло: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p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ru-RU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k</m:t>
                              </m:r>
                            </m:sub>
                          </m:sSub>
                        </m:sup>
                      </m:sSup>
                      <m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s</m:t>
                      </m:r>
                      <m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a</m:t>
                      </m:r>
                      <m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)≈</m:t>
                      </m:r>
                      <m:f>
                        <m:f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𝑁</m:t>
                          </m:r>
                        </m:sup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𝒯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   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𝒯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mbria Math" panose="02040503050406030204" pitchFamily="18" charset="0"/>
                        </a:rPr>
                        <m:t>∼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k</m:t>
                          </m:r>
                        </m:sub>
                      </m:sSub>
                      <m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|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s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=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s</m:t>
                      </m:r>
                      <m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a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a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894428"/>
                <a:ext cx="11558016" cy="3913892"/>
              </a:xfrm>
              <a:prstGeom prst="rect">
                <a:avLst/>
              </a:prstGeom>
              <a:blipFill>
                <a:blip r:embed="rId2"/>
                <a:stretch>
                  <a:fillRect l="-264" r="-2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725" y="4593242"/>
            <a:ext cx="3773751" cy="217036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Прямоугольник 5"/>
              <p:cNvSpPr/>
              <p:nvPr/>
            </p:nvSpPr>
            <p:spPr>
              <a:xfrm>
                <a:off x="4600848" y="4898480"/>
                <a:ext cx="6984599" cy="18651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Ещё одна проблема алгоритма: если для некоторых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)=0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то мы ничего не узнали об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А, как было видно в алгоритмах динамического программирования, мы существенно опираемся в том числе и на значения Q-функции для тех действий, которые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никогда не выбирает; только за счёт этого мы умеем проводить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policy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improvement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(политику улучшения) для детерминированных стратегий.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848" y="4898480"/>
                <a:ext cx="6984599" cy="1865126"/>
              </a:xfrm>
              <a:prstGeom prst="rect">
                <a:avLst/>
              </a:prstGeom>
              <a:blipFill>
                <a:blip r:embed="rId4"/>
                <a:stretch>
                  <a:fillRect l="-524" r="-524" b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8666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164592" y="0"/>
                <a:ext cx="11594592" cy="71508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Экспоненциальное сглаживание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Рассмотрим такую задачу. Нам приходят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сэмплы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...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𝑛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Хотим по ходу получения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сэмплов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оценивать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мат.ожидание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случайной величины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Давайте хранить Монте-Карло оценку, усредняя все имеющиеся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сэмплы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; для этого достаточно пользоваться следующим рекурсивным соотношением: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:=</m:t>
                      </m:r>
                      <m:f>
                        <m:f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−1</m:t>
                          </m:r>
                        </m:num>
                        <m:den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den>
                      </m:f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</m:t>
                      </m:r>
                      <m:f>
                        <m:f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den>
                      </m:f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Обозначим за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𝛼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:= </m:t>
                    </m:r>
                    <m:f>
                      <m:f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Тогда формулу можно переписать так</a:t>
                </a:r>
                <a:r>
                  <a:rPr lang="ru-RU" sz="1600" dirty="0" smtClean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𝑚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:= (1−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𝛼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𝑚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+ 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𝛼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</m:oMath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Экспоненциальным сглаживанием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exponential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smoothing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для последовательности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.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.. будем называть следующую оценку: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:= (1−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+ 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𝑚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некоторое начальное приближение, последовательность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𝛼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[0,1]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гиперпараметр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называемый скоростью обучения.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Будем говорить, что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learning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rate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(скоростью обучения)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𝛼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[0,1]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удовлетворяет условиям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Роббинса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-Монро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Robbins-Monro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conditions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), если: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k</m:t>
                          </m:r>
                          <m: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≥0</m:t>
                          </m:r>
                        </m:sub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=+∞</m:t>
                          </m:r>
                        </m:e>
                      </m:nary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 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k</m:t>
                          </m:r>
                          <m: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≥0</m:t>
                          </m:r>
                        </m:sub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∞</m:t>
                          </m:r>
                        </m:sup>
                        <m:e>
                          <m:sSubSup>
                            <m:sSub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Sup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&lt;+∞</m:t>
                          </m:r>
                        </m:e>
                      </m:nary>
                    </m:oMath>
                  </m:oMathPara>
                </a14:m>
                <a:endParaRPr lang="ru-RU" sz="16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 smtClean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Теорема: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...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независимые случайные величины,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𝔼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𝑚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 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𝔻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≤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𝐶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&lt;+∞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𝐶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некоторая конечная константа. 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𝑚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произвольно, а последовательность чисел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𝛼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[0,1]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удовлетворяет условиям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Роббинса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-Монро. Тогда экспоненциальное сглаживание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:= (1−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+ 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сходится к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𝑚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 вероятностью 1.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92" y="0"/>
                <a:ext cx="11594592" cy="7150868"/>
              </a:xfrm>
              <a:prstGeom prst="rect">
                <a:avLst/>
              </a:prstGeom>
              <a:blipFill>
                <a:blip r:embed="rId2"/>
                <a:stretch>
                  <a:fillRect l="-263" r="-2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084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73152" y="0"/>
                <a:ext cx="11722608" cy="48482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Стохастическая аппроксимация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Можно считать, что мы научились решать уравнения такого вида: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𝑥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= 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𝜀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𝑓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𝜀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),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где справа стоит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мат.ожидание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 неизвестному распределению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𝜀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𝜀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от функции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которую для данного значения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сэмпла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𝜀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мы умеем считать. Это просто стандартная задача оценки среднего, для которой мы даже доказали теоретические гарантии сходимости следующего итеративного алгоритма: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:=(1−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𝑓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𝜀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),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𝜀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mbria Math" panose="02040503050406030204" pitchFamily="18" charset="0"/>
                        </a:rPr>
                        <m:t>∼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𝑝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𝜀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Аналогично у нас есть итеративный алгоритм для решения систем нелинейных уравнений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𝑥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𝑓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𝑥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где справа стоит, если угодно, «хорошая» функция — сжатие. Формула обновления в методе простой итерации выглядела вот так: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:=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𝑓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Стохастическая аппроксимация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Stochastic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approximation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— задача решения уравнения вида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𝑥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𝜀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∼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𝑝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𝜀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𝑓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𝑥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𝜀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),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где справа стоит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мат.ожидание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 неизвестному распределению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𝜀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из которого доступны лишь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сэмплы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от функции, которую при данном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сэмпле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𝜀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некотором значении неизвестной переменной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мы умеем считать.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" y="0"/>
                <a:ext cx="11722608" cy="4848250"/>
              </a:xfrm>
              <a:prstGeom prst="rect">
                <a:avLst/>
              </a:prstGeom>
              <a:blipFill>
                <a:blip r:embed="rId2"/>
                <a:stretch>
                  <a:fillRect l="-260" r="-260" b="-2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489204" y="4974283"/>
                <a:ext cx="10890504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Давайте запустим аналогичный итеративный алгоритм: на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𝑘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-ой итерации подставим текущее приближение неизвестной переменной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 правую часть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𝜀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для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𝜀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𝜀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но не будем «жёстко» заменять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 полученное значение, так как оно является лишь несмещённой оценкой правой части; вместо этого сгладим старое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полученный новый «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»: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𝑓</m:t>
                      </m:r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𝜀</m:t>
                          </m:r>
                        </m:e>
                      </m:d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 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𝜀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mbria Math" panose="02040503050406030204" pitchFamily="18" charset="0"/>
                        </a:rPr>
                        <m:t>∼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𝑝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𝜀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204" y="4974283"/>
                <a:ext cx="10890504" cy="1569660"/>
              </a:xfrm>
              <a:prstGeom prst="rect">
                <a:avLst/>
              </a:prstGeom>
              <a:blipFill>
                <a:blip r:embed="rId3"/>
                <a:stretch>
                  <a:fillRect l="-280" r="-280" b="-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1714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256032" y="98021"/>
                <a:ext cx="11585448" cy="45158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Поймём, почему задача стохастической аппроксимации тесно связана со стохастической оптимизацией. Для этого перепишем формулу  в альтернативной форме: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𝑘</m:t>
                                  </m:r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,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𝜀</m:t>
                              </m:r>
                            </m:e>
                          </m:d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 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𝜀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mbria Math" panose="02040503050406030204" pitchFamily="18" charset="0"/>
                        </a:rPr>
                        <m:t>∼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𝑝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𝜀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Видно, что это формула стохастического градиентного спуска. Действительно, оптимизируя некоторую функцию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прибавляем к очередному приближению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k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</m:t>
                        </m:r>
                        <m: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 некоторым скоростью обучения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𝛼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несмещённую оценку градиента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𝛻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которую можно обозначить как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𝛻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𝜀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mbria Math" panose="02040503050406030204" pitchFamily="18" charset="0"/>
                        </a:rPr>
                        <m:t>∇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𝑓</m:t>
                      </m:r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𝜀</m:t>
                          </m:r>
                        </m:e>
                      </m:d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 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𝜀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mbria Math" panose="02040503050406030204" pitchFamily="18" charset="0"/>
                        </a:rPr>
                        <m:t>∼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𝑝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𝜀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 стохастической оптимизации можно думать не как об оптимизации, а как о поиске решения уравнения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𝛻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)=0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Действительно, как и любая локальная оптимизация, может идти как к локальному оптимуму, так и к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седловым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точкам, но в них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𝔼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𝜀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𝛻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𝜀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)=0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Тогда можно понять, что, видимо, выражение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𝑘</m:t>
                            </m:r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−1</m:t>
                            </m:r>
                          </m:sub>
                        </m:s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,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𝜀</m:t>
                        </m:r>
                      </m:e>
                    </m:d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есть «стохастический градиент». Стохастический он потому, что это выражение случайно: мы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сэмплируем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𝜀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𝜀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; при этом это несмещённая оценка «градиента», поскольку она обладает следующим свойством: в точке решения, то есть в точке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являющейся решением уравнения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𝔼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𝜀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∼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𝑝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𝜀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𝜀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в среднем его значение равно нулю: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𝜀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𝑓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𝜀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)−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 = 0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32" y="98021"/>
                <a:ext cx="11585448" cy="4515852"/>
              </a:xfrm>
              <a:prstGeom prst="rect">
                <a:avLst/>
              </a:prstGeom>
              <a:blipFill>
                <a:blip r:embed="rId2"/>
                <a:stretch>
                  <a:fillRect l="-263" r="-210" b="-2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256032" y="4613873"/>
                <a:ext cx="11585448" cy="12775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И по аналогии можно предположить, что если стохастический градиентный спуск ищет решение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𝔼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𝜀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𝛻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𝜀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)=0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то процесс ищет решение уравнения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𝔼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𝜀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𝛻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,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𝜀</m:t>
                        </m:r>
                      </m:e>
                    </m:d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=0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Это наблюдение будет иметь для нас ключевое значение. В алгоритме без модели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model-free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режиме как при оценивании стратегии, когда мы решаем уравнение Беллмана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)=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[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𝑟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)+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𝛾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)]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32" y="4613873"/>
                <a:ext cx="11585448" cy="1277594"/>
              </a:xfrm>
              <a:prstGeom prst="rect">
                <a:avLst/>
              </a:prstGeom>
              <a:blipFill>
                <a:blip r:embed="rId3"/>
                <a:stretch>
                  <a:fillRect l="-263" r="-210" b="-4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73152" y="5894198"/>
                <a:ext cx="11768328" cy="7841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так и когда мы пытаемся реализовать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Value Iteration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напрямую решать уравнения оптимальности Беллмана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)=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[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𝑟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)+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𝛾</m:t>
                      </m:r>
                      <m:func>
                        <m:func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max</m:t>
                              </m:r>
                            </m:e>
                            <m:lim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e>
                      </m:func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]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" y="5894198"/>
                <a:ext cx="11768328" cy="7841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5975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256881" y="153752"/>
            <a:ext cx="4220130" cy="361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Temporal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Di</a:t>
            </a:r>
            <a:r>
              <a:rPr lang="ru-RU" sz="1600" i="1" dirty="0" err="1">
                <a:solidFill>
                  <a:srgbClr val="000000"/>
                </a:solidFill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ﬀ</a:t>
            </a: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erence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(Временная разница)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237744" y="608844"/>
                <a:ext cx="11475720" cy="18651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Попробуем применить идею стохастической аппроксимации для решения уравнений Беллмана. На очередном шаге после совершения действия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из состояния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мы получаем значение награды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:=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следующего состояния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генерируем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после чего сдвигаем с некоторой скоростью обучения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learning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rate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наше текущее приближение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𝑄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 сторону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сэмпла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𝑦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:=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𝑟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𝛾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𝑄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),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который также будем называть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таргетом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Bellman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target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подразумевается «догадка» какое будущее нас ждёт). Получаем следующую формулу обновления: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44" y="608844"/>
                <a:ext cx="11475720" cy="1865126"/>
              </a:xfrm>
              <a:prstGeom prst="rect">
                <a:avLst/>
              </a:prstGeom>
              <a:blipFill>
                <a:blip r:embed="rId2"/>
                <a:stretch>
                  <a:fillRect l="-266" r="-212" b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86" t="21598" r="22905" b="67881"/>
          <a:stretch/>
        </p:blipFill>
        <p:spPr bwMode="auto">
          <a:xfrm>
            <a:off x="3506049" y="2348740"/>
            <a:ext cx="5241925" cy="101923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509016" y="3504998"/>
                <a:ext cx="6096000" cy="97872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Выражение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)+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𝛾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)−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называется временной разностью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temporal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di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ﬀ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erence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): это отличие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сэмпла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который нам пришёл, от текущей оценки среднего.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016" y="3504998"/>
                <a:ext cx="6096000" cy="978729"/>
              </a:xfrm>
              <a:prstGeom prst="rect">
                <a:avLst/>
              </a:prstGeom>
              <a:blipFill>
                <a:blip r:embed="rId4"/>
                <a:stretch>
                  <a:fillRect l="-600" r="-500" b="-4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/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15" t="9747" r="3174" b="62469"/>
          <a:stretch/>
        </p:blipFill>
        <p:spPr bwMode="auto">
          <a:xfrm>
            <a:off x="7205472" y="3633014"/>
            <a:ext cx="4655375" cy="293237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Прямоугольник 6"/>
              <p:cNvSpPr/>
              <p:nvPr/>
            </p:nvSpPr>
            <p:spPr>
              <a:xfrm>
                <a:off x="370332" y="4710486"/>
                <a:ext cx="6096000" cy="95295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Этот ход позволяет учиться, не доигрывая эпизоды до конца: мы можем обновить одну ячейку нашей Q-функции сразу же после одного шага в среде, после сбора одного перехода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32" y="4710486"/>
                <a:ext cx="6096000" cy="952953"/>
              </a:xfrm>
              <a:prstGeom prst="rect">
                <a:avLst/>
              </a:prstGeom>
              <a:blipFill>
                <a:blip r:embed="rId6"/>
                <a:stretch>
                  <a:fillRect l="-600" r="-500" b="-76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0540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393192" y="152999"/>
                <a:ext cx="11320272" cy="30503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Обсудим следующий важный технический момент. Какие есть ограничения на переходы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которые мы можем использовать для обновлений по формуле разности? Пока мы говорили, что мы хотим заниматься оцениванием стратегии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и поэтому предлагается, видимо, ею и взаимодействовать со средой, собирая переходы. С точки же зрения стохастической аппроксимации, для корректности обновлений достаточно выполнения всего лишь двух требований: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20000"/>
                  </a:lnSpc>
                  <a:spcAft>
                    <a:spcPts val="0"/>
                  </a:spcAft>
                  <a:buFont typeface="Symbol" panose="05050102010706020507" pitchFamily="18" charset="2"/>
                  <a:buChar char="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; если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приходит из какой-то другой функции переходов, то мы учим Q-функцию для какого-то другого MDP.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20000"/>
                  </a:lnSpc>
                  <a:spcAft>
                    <a:spcPts val="0"/>
                  </a:spcAft>
                  <a:buFont typeface="Symbol" panose="05050102010706020507" pitchFamily="18" charset="2"/>
                  <a:buChar char="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; если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приходит из какой-то другой стратегии, то мы учим Q-функцию для вот этой другой стратегии.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Оба этих утверждения вытекают из того, что обновление временной разницы неявно ищет решение уравнения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𝑄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)=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𝑦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как схема стохастической аппроксимации.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2999"/>
                <a:ext cx="11320272" cy="3050387"/>
              </a:xfrm>
              <a:prstGeom prst="rect">
                <a:avLst/>
              </a:prstGeom>
              <a:blipFill>
                <a:blip r:embed="rId2"/>
                <a:stretch>
                  <a:fillRect l="-323" r="-269" b="-1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Прямоугольник 2"/>
          <p:cNvSpPr/>
          <p:nvPr/>
        </p:nvSpPr>
        <p:spPr>
          <a:xfrm>
            <a:off x="0" y="3326720"/>
            <a:ext cx="2735429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Q-</a:t>
            </a: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learning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(Q-обучение)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606552" y="3812076"/>
                <a:ext cx="6096000" cy="281686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Поскольку довести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𝑄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до точного значения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 гарантиями мы всё равно не сможем, однажды в алгоритме нам всё равно придётся сделать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policy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improvement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(политику улучшения). Что, если мы будем обновлять нашу стратегию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):=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𝑎𝑟𝑔</m:t>
                    </m:r>
                    <m:func>
                      <m:func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ru-RU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max</m:t>
                            </m:r>
                          </m:e>
                          <m:lim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𝑘</m:t>
                            </m:r>
                          </m:sub>
                        </m:s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,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после каждого шага в среде и каждого обновления Q-функции? Наше приближение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Policy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Iteration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(итерация политики) схемы, аналогично ситуации в динамическом программировании, превратится в приближение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Value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Iteration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(итерация значения) схемы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552" y="3812076"/>
                <a:ext cx="6096000" cy="2816861"/>
              </a:xfrm>
              <a:prstGeom prst="rect">
                <a:avLst/>
              </a:prstGeom>
              <a:blipFill>
                <a:blip r:embed="rId3"/>
                <a:stretch>
                  <a:fillRect l="-600" r="-500" b="-19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Прямоугольник 5"/>
              <p:cNvSpPr/>
              <p:nvPr/>
            </p:nvSpPr>
            <p:spPr>
              <a:xfrm>
                <a:off x="5855208" y="4315026"/>
                <a:ext cx="6096000" cy="141000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𝑦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𝑟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+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𝛾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)=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𝑟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𝛾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))=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𝑟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𝛾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𝑎𝑟𝑔</m:t>
                      </m:r>
                      <m:func>
                        <m:func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max</m:t>
                              </m:r>
                            </m:e>
                            <m:lim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e>
                      </m:func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)=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𝑟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𝛾</m:t>
                      </m:r>
                      <m:func>
                        <m:func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ru-RU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max</m:t>
                              </m:r>
                            </m:e>
                            <m:lim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ru-RU" sz="1600" dirty="0"/>
              </a:p>
            </p:txBody>
          </p:sp>
        </mc:Choice>
        <mc:Fallback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5208" y="4315026"/>
                <a:ext cx="6096000" cy="14100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13489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192024" y="232756"/>
                <a:ext cx="11420856" cy="45012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Мы получили в точности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таргет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для решения методом стохастической аппроксимации уравнения оптимальности Беллмана; поэтому для такого случая будем обозначать нашу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Q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-функцию как аппроксимацию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и тогда наше обновление принимает следующий вид: для перехода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обновляется только одна ячейка нашего приближения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Q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-функции: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</m:d>
                      <m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:=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</m:d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α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r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γ</m:t>
                          </m:r>
                          <m:func>
                            <m:func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sz="16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max</m:t>
                                  </m:r>
                                </m:e>
                                <m:lim>
                                  <m:sSup>
                                    <m:sSupPr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Теорема – Сходимость Q-</a:t>
                </a:r>
                <a:r>
                  <a:rPr lang="ru-RU" sz="1600" u="sng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learning</a:t>
                </a: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Пусть пространства состояний и действий конечны,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начальное приближение, на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𝑘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-ой итерации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для всех пар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строится по правилу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</m:d>
                      <m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:=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</m:d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α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</m:d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r</m:t>
                          </m:r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,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γ</m:t>
                          </m:r>
                          <m:func>
                            <m:func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sz="16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max</m:t>
                                  </m:r>
                                </m:e>
                                <m:lim>
                                  <m:sSup>
                                    <m:sSupPr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𝑠</m:t>
                                      </m:r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,</m:t>
                                      </m:r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 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где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,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</m:d>
                    <m: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p</m:t>
                    </m:r>
                    <m: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s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m:rPr>
                        <m:sty m:val="p"/>
                      </m:rP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s</m:t>
                    </m:r>
                    <m: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m:rPr>
                        <m:sty m:val="p"/>
                      </m:rP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a</m:t>
                    </m:r>
                    <m: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α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)∈[0,1]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случайные величины, с вероятностью один удовлетворяющие для каждой пары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условиям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Роббинса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-Монро: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k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≥0</m:t>
                          </m:r>
                        </m:sub>
                        <m:sup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ru-RU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α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,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</m:t>
                          </m:r>
                        </m:e>
                      </m:nary>
                      <m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+∞  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k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≥0</m:t>
                          </m:r>
                        </m:sub>
                        <m:sup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ru-RU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α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</m:t>
                              </m:r>
                            </m:sub>
                          </m:sSub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𝑠</m:t>
                                  </m:r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,</m:t>
                                  </m:r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&lt;</m:t>
                          </m:r>
                        </m:e>
                      </m:nary>
                      <m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+∞  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Тогда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сходится 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 вероятностью один.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4" y="232756"/>
                <a:ext cx="11420856" cy="4501297"/>
              </a:xfrm>
              <a:prstGeom prst="rect">
                <a:avLst/>
              </a:prstGeom>
              <a:blipFill>
                <a:blip r:embed="rId2"/>
                <a:stretch>
                  <a:fillRect l="-320" r="-267" b="-13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466344" y="4988483"/>
                <a:ext cx="11265408" cy="11401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Пусть сбор опыта проводится так, что пары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встречаются бесконечное число раз. Пусть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𝑛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счётчик количества выполнений действия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 состоянии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во время взаимодействия агента со средой. Тогда можно положить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α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,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</m:d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:= </m:t>
                    </m:r>
                    <m:f>
                      <m:f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𝑛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,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den>
                    </m:f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чтобы гарантировать сходимость алгоритма 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44" y="4988483"/>
                <a:ext cx="11265408" cy="1140184"/>
              </a:xfrm>
              <a:prstGeom prst="rect">
                <a:avLst/>
              </a:prstGeom>
              <a:blipFill>
                <a:blip r:embed="rId3"/>
                <a:stretch>
                  <a:fillRect l="-325" r="-271" b="-10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0958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864</Words>
  <Application>Microsoft Office PowerPoint</Application>
  <PresentationFormat>Широкоэкранный</PresentationFormat>
  <Paragraphs>147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Symbol</vt:lpstr>
      <vt:lpstr>Times New Roman</vt:lpstr>
      <vt:lpstr>Тема Office</vt:lpstr>
      <vt:lpstr>Классическая теория 2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ALEKSEY</dc:creator>
  <cp:lastModifiedBy>ALEKSEY</cp:lastModifiedBy>
  <cp:revision>55</cp:revision>
  <dcterms:created xsi:type="dcterms:W3CDTF">2020-10-06T14:10:24Z</dcterms:created>
  <dcterms:modified xsi:type="dcterms:W3CDTF">2023-10-07T07:28:23Z</dcterms:modified>
</cp:coreProperties>
</file>