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82" r:id="rId3"/>
    <p:sldId id="291" r:id="rId4"/>
    <p:sldId id="292" r:id="rId5"/>
    <p:sldId id="293" r:id="rId6"/>
    <p:sldId id="294" r:id="rId7"/>
    <p:sldId id="295" r:id="rId8"/>
    <p:sldId id="296" r:id="rId9"/>
    <p:sldId id="297" r:id="rId10"/>
    <p:sldId id="298" r:id="rId11"/>
    <p:sldId id="299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47" autoAdjust="0"/>
    <p:restoredTop sz="94660"/>
  </p:normalViewPr>
  <p:slideViewPr>
    <p:cSldViewPr snapToGrid="0">
      <p:cViewPr varScale="1">
        <p:scale>
          <a:sx n="84" d="100"/>
          <a:sy n="84" d="100"/>
        </p:scale>
        <p:origin x="533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14.09.2023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6607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14.09.2023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0330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14.09.2023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6579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14.09.2023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0559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14.09.2023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246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14.09.2023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1846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14.09.2023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7318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14.09.2023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825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14.09.2023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9832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14.09.2023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8215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14.09.2023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6418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85646-FAEB-4AB3-A326-0A08349E2827}" type="datetimeFigureOut">
              <a:rPr lang="ru-RU" smtClean="0"/>
              <a:t>14.09.2023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5316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77240" y="1581913"/>
            <a:ext cx="10515600" cy="1946284"/>
          </a:xfrm>
        </p:spPr>
        <p:txBody>
          <a:bodyPr>
            <a:normAutofit/>
          </a:bodyPr>
          <a:lstStyle/>
          <a:p>
            <a:pPr algn="ctr">
              <a:spcAft>
                <a:spcPts val="0"/>
              </a:spcAft>
              <a:tabLst>
                <a:tab pos="5832475" algn="l"/>
                <a:tab pos="6049010" algn="r"/>
              </a:tabLst>
            </a:pPr>
            <a:r>
              <a:rPr lang="ru-RU" b="1" cap="all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Системы когнитивного моделирования</a:t>
            </a:r>
            <a:br>
              <a:rPr lang="ru-RU" b="1" cap="all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8597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17192" y="226904"/>
            <a:ext cx="40572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Когнитивная карта ситуации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17192" y="972104"/>
            <a:ext cx="11439144" cy="21605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5565" marR="97155"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Когнитивная карта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(КК) ситуации представляет собой ориентированный взвешенный граф, </a:t>
            </a:r>
            <a:r>
              <a:rPr lang="en-US" sz="1600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G</a:t>
            </a:r>
            <a:r>
              <a:rPr lang="ru-RU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= (</a:t>
            </a:r>
            <a:r>
              <a:rPr lang="en-US" sz="1600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F</a:t>
            </a:r>
            <a:r>
              <a:rPr lang="ru-RU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600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V</a:t>
            </a:r>
            <a:r>
              <a:rPr lang="ru-RU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, в котором: </a:t>
            </a:r>
            <a:r>
              <a:rPr lang="en-US" sz="1600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F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— множество вершин, взаимно однозначно соответствующих базисным факторам ситуации, в терминах которых описываются процессы в ситуации; </a:t>
            </a:r>
            <a:r>
              <a:rPr lang="en-US" sz="1600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V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— дуги, соответствующие непосредственным взаимосвязям между факторами, т.е. причинно-следственные цепочки, описывающие влияние одного фактора на другие. При этом считается, что факторы </a:t>
            </a:r>
            <a:r>
              <a:rPr lang="en-US" sz="1600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F</a:t>
            </a:r>
            <a:r>
              <a:rPr lang="en-US" sz="1600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</a:t>
            </a: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,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входящие в посылку </a:t>
            </a:r>
            <a:r>
              <a:rPr lang="ru-RU" sz="1600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«если …»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цепочки </a:t>
            </a:r>
            <a:r>
              <a:rPr lang="ru-RU" sz="1600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«если …, то …»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, влияют на факторы следствия </a:t>
            </a:r>
            <a:r>
              <a:rPr lang="en-US" sz="1600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F</a:t>
            </a:r>
            <a:r>
              <a:rPr lang="en-US" sz="1600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j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— </a:t>
            </a:r>
            <a:r>
              <a:rPr lang="ru-RU" sz="1600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«то …»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этой цепочки (дуга </a:t>
            </a:r>
            <a:r>
              <a:rPr lang="en-US" sz="16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V</a:t>
            </a:r>
            <a:r>
              <a:rPr lang="en-US" sz="1600" b="1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ij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); причем это взаимовлияние может быть либо усиливающим (положительным), либо тормозящим (отрицательным), либо переменного знака — в зависимости от возможных дополнительных условий.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48" y="3416230"/>
            <a:ext cx="6725200" cy="3140017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7490304" y="3416230"/>
            <a:ext cx="3692808" cy="2456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5565" marR="97155"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Каждой 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дуге </a:t>
            </a:r>
            <a:r>
              <a:rPr lang="en-US" sz="16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V</a:t>
            </a:r>
            <a:r>
              <a:rPr lang="en-US" sz="1600" b="1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ij</a:t>
            </a:r>
            <a:r>
              <a:rPr lang="en-US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соответствует вес </a:t>
            </a:r>
            <a:r>
              <a:rPr lang="en-US" sz="1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W</a:t>
            </a:r>
            <a:r>
              <a:rPr lang="en-US" sz="1600" b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ij</a:t>
            </a: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sym typeface="Symbol" panose="05050102010706020507" pitchFamily="18" charset="2"/>
              </a:rPr>
              <a:t></a:t>
            </a:r>
            <a:r>
              <a:rPr lang="ru-RU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[0,1]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, который отображает степень воздействия фактора </a:t>
            </a:r>
            <a:r>
              <a:rPr lang="en-US" sz="1600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F</a:t>
            </a:r>
            <a:r>
              <a:rPr lang="en-US" sz="1600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j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на </a:t>
            </a:r>
            <a:r>
              <a:rPr lang="en-US" sz="1600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F</a:t>
            </a:r>
            <a:r>
              <a:rPr lang="en-US" sz="1600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j</a:t>
            </a:r>
            <a:r>
              <a:rPr lang="en-US" sz="1600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в выбранной шкале </a:t>
            </a:r>
            <a:r>
              <a:rPr lang="ru-RU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[0,1]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. Таким образом, каждой дуге приписывается определенный вес, являющийся числом из интервала </a:t>
            </a:r>
            <a:r>
              <a:rPr lang="ru-RU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[–1,1]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(</a:t>
            </a:r>
            <a:r>
              <a:rPr lang="ru-RU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–1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— для факторов, влияющих отрицательно).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9149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85446" y="109772"/>
            <a:ext cx="331860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Метод получения прогноза</a:t>
            </a:r>
            <a:endParaRPr lang="ru-RU" sz="2000" dirty="0"/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5274" y="509882"/>
            <a:ext cx="6529350" cy="6227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758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064" y="75107"/>
            <a:ext cx="6537960" cy="6648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966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324" y="740664"/>
            <a:ext cx="7101770" cy="547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056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1577" y="694944"/>
            <a:ext cx="7581329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134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68759" y="257592"/>
            <a:ext cx="387074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Методика выявления факторов</a:t>
            </a:r>
            <a:endParaRPr lang="ru-RU" sz="20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759" y="1536070"/>
            <a:ext cx="4444369" cy="2798307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1526364" y="927609"/>
            <a:ext cx="131016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PEST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-анализ</a:t>
            </a:r>
            <a:endParaRPr lang="ru-RU" sz="1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986868" y="4645712"/>
            <a:ext cx="6096000" cy="1248419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lvl="0" indent="-342900">
              <a:lnSpc>
                <a:spcPct val="120000"/>
              </a:lnSpc>
              <a:buFont typeface="Symbol" panose="05050102010706020507" pitchFamily="18" charset="2"/>
              <a:buChar char=""/>
            </a:pPr>
            <a:r>
              <a:rPr lang="en-US" sz="1600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P</a:t>
            </a:r>
            <a:r>
              <a:rPr lang="en-US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olicy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— политика;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ct val="120000"/>
              </a:lnSpc>
              <a:buFont typeface="Symbol" panose="05050102010706020507" pitchFamily="18" charset="2"/>
              <a:buChar char=""/>
            </a:pPr>
            <a:r>
              <a:rPr lang="en-US" sz="1600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E</a:t>
            </a:r>
            <a:r>
              <a:rPr lang="en-US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conomy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— экономика;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ct val="120000"/>
              </a:lnSpc>
              <a:buFont typeface="Symbol" panose="05050102010706020507" pitchFamily="18" charset="2"/>
              <a:buChar char=""/>
            </a:pPr>
            <a:r>
              <a:rPr lang="en-US" sz="1600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S</a:t>
            </a:r>
            <a:r>
              <a:rPr lang="en-US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ociety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— общество (социокультурный аспект);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ct val="120000"/>
              </a:lnSpc>
              <a:buFont typeface="Symbol" panose="05050102010706020507" pitchFamily="18" charset="2"/>
              <a:buChar char=""/>
            </a:pPr>
            <a:r>
              <a:rPr lang="en-US" sz="1600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T</a:t>
            </a:r>
            <a:r>
              <a:rPr lang="en-US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echnology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— технология.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7456847" y="1228293"/>
            <a:ext cx="142058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SWOT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-</a:t>
            </a: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анализ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endParaRPr lang="ru-RU" sz="16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6321552" y="2061097"/>
            <a:ext cx="6096000" cy="127419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lvl="0" indent="-342900">
              <a:lnSpc>
                <a:spcPct val="120000"/>
              </a:lnSpc>
              <a:buFont typeface="Symbol" panose="05050102010706020507" pitchFamily="18" charset="2"/>
              <a:buChar char=""/>
            </a:pPr>
            <a:r>
              <a:rPr lang="en-US" sz="1600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S</a:t>
            </a:r>
            <a:r>
              <a:rPr lang="en-US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trengths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— сильные стороны;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ct val="120000"/>
              </a:lnSpc>
              <a:buFont typeface="Symbol" panose="05050102010706020507" pitchFamily="18" charset="2"/>
              <a:buChar char=""/>
            </a:pPr>
            <a:r>
              <a:rPr lang="en-US" sz="1600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W</a:t>
            </a:r>
            <a:r>
              <a:rPr lang="en-US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eaknesses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— недостатки, слабые стороны;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ct val="120000"/>
              </a:lnSpc>
              <a:buFont typeface="Symbol" panose="05050102010706020507" pitchFamily="18" charset="2"/>
              <a:buChar char=""/>
            </a:pPr>
            <a:r>
              <a:rPr lang="en-US" sz="1600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O</a:t>
            </a:r>
            <a:r>
              <a:rPr lang="en-US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pportunities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— возможности;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ct val="120000"/>
              </a:lnSpc>
              <a:buFont typeface="Symbol" panose="05050102010706020507" pitchFamily="18" charset="2"/>
              <a:buChar char=""/>
            </a:pPr>
            <a:r>
              <a:rPr lang="en-US" sz="1600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T</a:t>
            </a:r>
            <a:r>
              <a:rPr lang="en-US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hreats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— угрозы.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3750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-713232" y="97637"/>
            <a:ext cx="1061618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5565" marR="97155" indent="226695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Методика анализа предметной области и выработки стратегии развития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400" y="567035"/>
            <a:ext cx="8456235" cy="3452518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667" y="3877056"/>
            <a:ext cx="9348197" cy="2920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976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2588" y="1593391"/>
            <a:ext cx="8603734" cy="3874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122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249" y="932689"/>
            <a:ext cx="9186571" cy="5166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5619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2042" y="669101"/>
            <a:ext cx="7745502" cy="4670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33241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</TotalTime>
  <Words>235</Words>
  <Application>Microsoft Office PowerPoint</Application>
  <PresentationFormat>Широкоэкранный</PresentationFormat>
  <Paragraphs>17</Paragraphs>
  <Slides>11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Symbol</vt:lpstr>
      <vt:lpstr>Times New Roman</vt:lpstr>
      <vt:lpstr>Тема Office</vt:lpstr>
      <vt:lpstr>Equation.DSMT4</vt:lpstr>
      <vt:lpstr>Системы когнитивного моделирования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ALEKSEY</dc:creator>
  <cp:lastModifiedBy>ALEKSEY</cp:lastModifiedBy>
  <cp:revision>36</cp:revision>
  <dcterms:created xsi:type="dcterms:W3CDTF">2020-10-06T14:10:24Z</dcterms:created>
  <dcterms:modified xsi:type="dcterms:W3CDTF">2023-09-14T17:08:26Z</dcterms:modified>
</cp:coreProperties>
</file>