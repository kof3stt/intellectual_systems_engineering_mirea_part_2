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8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Обучение с подкреплением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reinforcement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learning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RL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77390" y="190328"/>
            <a:ext cx="451931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Модель взаимодействия агента со средой.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2449" y="552350"/>
            <a:ext cx="392722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Связь с оптимальным управлением.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72449" y="962395"/>
                <a:ext cx="11567160" cy="4200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можно предположить, что скорости и ускорения всех атомов вселенной задают ее текущее состояние, а изменение состояния происходит согласно некоторым дифференциальным уравнением: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Коли агент может как-то взаимодействовать со средой или влиять на нее, мы можем промоделировать взаимодействие следующим образом: скажем, что в каждый момент времени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агент в зависимости от текущего состояния среды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выбирает некоторое действие («управление»)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моделирования награды положим, что в каждый момент времени агент получает наказание или штраф (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cost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расходы, тогда любой штраф можно переделать в награду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домножением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минус, и наоборот) в объёме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Итоговой наградой агента полагаем суммарную награду, то есть интеграл по времени: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nary>
                                  <m:naryPr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𝐿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𝑡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),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𝑡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)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𝑑𝑡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→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𝑚𝑎𝑥</m:t>
                                    </m:r>
                                  </m:e>
                                </m:nary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𝑓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9" y="962395"/>
                <a:ext cx="11567160" cy="4200509"/>
              </a:xfrm>
              <a:prstGeom prst="rect">
                <a:avLst/>
              </a:prstGeom>
              <a:blipFill>
                <a:blip r:embed="rId2"/>
                <a:stretch>
                  <a:fillRect l="-316" r="-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56032" y="5470559"/>
                <a:ext cx="11731752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Принципиально последнее: теория рассматривает способы для заданной системы дифференциальных уравнений поиска оптимальных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управлений аналитически. Проводя аналогию с задачей максимизации некоторой, например, дифференцируемой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→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теория оптимального управления ищет необходимые условия решения: например, что в экстремуме функции обязательно градиент равен нулю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/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5470559"/>
                <a:ext cx="11731752" cy="1077218"/>
              </a:xfrm>
              <a:prstGeom prst="rect">
                <a:avLst/>
              </a:prstGeom>
              <a:blipFill>
                <a:blip r:embed="rId3"/>
                <a:stretch>
                  <a:fillRect l="-260" t="-1695" r="-156" b="-5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29496" y="80600"/>
            <a:ext cx="2118272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Марковская цепь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64592" y="478667"/>
                <a:ext cx="1151229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Марковской цепью называется пара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множество состояний.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вероятности переходов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{0, 1, . . . },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дополнительно задать стартовое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можно рассмотреть процесс, заданный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марковской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цепью. В момент времени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мир находится в состоянии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формируется случайная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мир переходит в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формируется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так далее до бесконечности.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478667"/>
                <a:ext cx="11512296" cy="1865126"/>
              </a:xfrm>
              <a:prstGeom prst="rect">
                <a:avLst/>
              </a:prstGeom>
              <a:blipFill>
                <a:blip r:embed="rId2"/>
                <a:stretch>
                  <a:fillRect l="-265" r="-212" b="-22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10312" y="2401461"/>
                <a:ext cx="1146657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2: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Марковская цепь называется однородной или стационарной, если вероятности переходов не зависят от времени: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 определению, переходы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стационарных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марковских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цепей задаются единственным условным распределением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Апостроф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′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канонично используется для обозначения «следующих» моментов времени, будем активно пользоваться этим обозначением.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2401461"/>
                <a:ext cx="11466576" cy="1865126"/>
              </a:xfrm>
              <a:prstGeom prst="rect">
                <a:avLst/>
              </a:prstGeom>
              <a:blipFill>
                <a:blip r:embed="rId3"/>
                <a:stretch>
                  <a:fillRect l="-319" r="-266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-129496" y="4405699"/>
            <a:ext cx="1171154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Среда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0" y="4767721"/>
                <a:ext cx="11576304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3: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Средой  называется тройка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пространство состояний, некоторое множество.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пространство действий, некоторое множество.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функция переходов или динамика среды: вероятности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67721"/>
                <a:ext cx="11576304" cy="1274195"/>
              </a:xfrm>
              <a:prstGeom prst="rect">
                <a:avLst/>
              </a:prstGeom>
              <a:blipFill>
                <a:blip r:embed="rId4"/>
                <a:stretch>
                  <a:fillRect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88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37744" y="183220"/>
                <a:ext cx="11622024" cy="2751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таком определении среды заложена марковость (независимость переходов от истории) и стационарность (независимость от времени). Время при этом дискретно, в частности, нет понятия «времени принятия решения агентом»: среда, находясь в состоянии s, ожидает от агента действие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чего совершает шаг,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сэмплируя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(формируя выборки) следующее состояние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Если, среда также предполагается полностью наблюдаемой: агенту при выборе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доступно всё текущее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качестве входа. Иными словами, в рамках данного предположения понятия состояния и наблюдения для нас будут эквивалентны. Будем строить теорию в рамках этого упрощения; если среда не является полностью наблюдаемой, задача существенно усложняется, и необходимо переходить к формализму частично наблюдаемых Марковских процессов принятия решений MDP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Markov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Decision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Process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183220"/>
                <a:ext cx="11622024" cy="2751522"/>
              </a:xfrm>
              <a:prstGeom prst="rect">
                <a:avLst/>
              </a:prstGeom>
              <a:blipFill>
                <a:blip r:embed="rId2"/>
                <a:stretch>
                  <a:fillRect l="-262" r="-210" b="-11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37744" y="2999179"/>
                <a:ext cx="11622024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Пространство состояний – пространство конфигураций Кубика-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Рубика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Пространство действий состоит из 12 элементов (нужно выбрать одну из 6 граней, каждую из которых можно повернуть двумя способами). Следующая конфигурация однозначно определяется текущей конфигурацией и действием, соответственно среда Кубика-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Рубика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детерминирована: задаётся вырожденным распределением, или, что тоже самое, обычной детерминированной функцией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2999179"/>
                <a:ext cx="11622024" cy="1274195"/>
              </a:xfrm>
              <a:prstGeom prst="rect">
                <a:avLst/>
              </a:prstGeom>
              <a:blipFill>
                <a:blip r:embed="rId3"/>
                <a:stretch>
                  <a:fillRect l="-262" r="-210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37744" y="4453075"/>
                <a:ext cx="1151229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Нас будут интересовать два вида пространства действий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а) конечное, или дискретное пространство действий: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|&lt;+∞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Также будем предполагать, что число действий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достаточно мало.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б) непрерывное пространство действий: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[−1,1]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Выбор именно отрезков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[−1, 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является не ограничивающем общности распространённым соглашением. Задачи с таким пространством действий также называют задачами непрерывного управления.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4453075"/>
                <a:ext cx="11512296" cy="1865126"/>
              </a:xfrm>
              <a:prstGeom prst="rect">
                <a:avLst/>
              </a:prstGeom>
              <a:blipFill>
                <a:blip r:embed="rId4"/>
                <a:stretch>
                  <a:fillRect l="-265" r="-212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74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10312" y="215884"/>
                <a:ext cx="1175004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общем случае процесс выбора агентом действия в текущем состоянии может быть стохастичен. Таким образом, объектом поиска будет являться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𝒮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215884"/>
                <a:ext cx="11750040" cy="584775"/>
              </a:xfrm>
              <a:prstGeom prst="rect">
                <a:avLst/>
              </a:prstGeom>
              <a:blipFill>
                <a:blip r:embed="rId2"/>
                <a:stretch>
                  <a:fillRect l="-311" t="-3125" b="-114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72571" y="800659"/>
            <a:ext cx="1695849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Траектории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10312" y="1188457"/>
                <a:ext cx="11622024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в среде состояния описываются одним вещественным числом,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≡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 агента есть два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={+1,−1}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следующее состояние определяется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a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+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(0,1)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Начальное состояние полагается равным нулю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Сгенерируем пример траектории для случайной стратегии (вероятность выбора каждого действия равна 0.5):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1188457"/>
                <a:ext cx="11622024" cy="978729"/>
              </a:xfrm>
              <a:prstGeom prst="rect">
                <a:avLst/>
              </a:prstGeom>
              <a:blipFill>
                <a:blip r:embed="rId3"/>
                <a:stretch>
                  <a:fillRect l="-52" r="-262"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52" y="2554984"/>
            <a:ext cx="6508038" cy="37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8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448056" y="320698"/>
                <a:ext cx="11375136" cy="3524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5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Для данной среды,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начального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распределение, из которого приходят траектории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называется распределение траекторий: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𝒯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...)=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Математические ожидания по траекториям, которые будем обозначать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Под этим подразумевается бесконечная цепочка вложенных математических ожиданий: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(·):=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...(·)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(1.1)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Поскольку часто придётся раскладывать эту цепочку, договоримся о следующем сокращении: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(·):=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...(·)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Однако в такой записи стоит помнить, что действия приходят из некоторой зафиксированной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которая неявно присутствует в выражении. Для напоминания об этом будет, где уместно, использоваться запись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b>
                    </m:sSub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20698"/>
                <a:ext cx="11375136" cy="3524235"/>
              </a:xfrm>
              <a:prstGeom prst="rect">
                <a:avLst/>
              </a:prstGeom>
              <a:blipFill>
                <a:blip r:embed="rId2"/>
                <a:stretch>
                  <a:fillRect l="-322" r="-268" b="-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109728" y="4020988"/>
            <a:ext cx="9095232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Марковский процесс принятия решений (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Markov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Decision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Process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MDP)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29184" y="4584841"/>
                <a:ext cx="11027664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6: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Марковский процесс принятия решений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Markov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Decision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Process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MDP) — это четвёрка (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где: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среда.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×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функция награды.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" y="4584841"/>
                <a:ext cx="11027664" cy="1274195"/>
              </a:xfrm>
              <a:prstGeom prst="rect">
                <a:avLst/>
              </a:prstGeom>
              <a:blipFill>
                <a:blip r:embed="rId3"/>
                <a:stretch>
                  <a:fillRect l="-276" r="-276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54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28600" y="265123"/>
                <a:ext cx="11320272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Сам процесс выглядит следующим образом. Для момента времени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начальное состояние мира полагается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будем считать, оно дано дополнительно и фиксировано. Агент наблюдает всё состояние целиком и выбирает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Среда отвечает генерацией награды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формирует следующее состояние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Агент выбирает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получает награду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так далее до бесконечности.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65123"/>
                <a:ext cx="11320272" cy="1274195"/>
              </a:xfrm>
              <a:prstGeom prst="rect">
                <a:avLst/>
              </a:prstGeom>
              <a:blipFill>
                <a:blip r:embed="rId2"/>
                <a:stretch>
                  <a:fillRect l="-323" r="-269" b="-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960" y="1658190"/>
            <a:ext cx="5995815" cy="24657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65760" y="4242816"/>
                <a:ext cx="11183112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1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Эквивалентные определения MDP: Эквивалентно рассматривать MDP, где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функция награды зависит только от текущего состояния;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функция награды является стохастической;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функция награды зависит от тройки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переходы и генерация награды задаётся распределением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начальное состояние стохастично и генерируется из некоторого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4242816"/>
                <a:ext cx="11183112" cy="1865126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780476" y="6226814"/>
                <a:ext cx="453438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Всю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стохастику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можно «засовывать»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6" y="6226814"/>
                <a:ext cx="4534383" cy="338554"/>
              </a:xfrm>
              <a:prstGeom prst="rect">
                <a:avLst/>
              </a:prstGeom>
              <a:blipFill>
                <a:blip r:embed="rId5"/>
                <a:stretch>
                  <a:fillRect l="-672" t="-7143" b="-19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37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28600" y="180326"/>
                <a:ext cx="1137513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Покажем, что от самого общего случая (генерации награды и состояний из распределения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можно перейти к детерминированной функции награды только от текущего состояния. Добавим в описание состояний информацию о последнем действии и последней полученной агентом награде, то есть для каждого возможного (имеющего ненулевую вероятность) перехода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размножим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числу возможных исходов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по числу действий. Тогда можно считать, что на очередном шаге вместо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агенту выдаётся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вся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стохастика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процесса формально заложена только в функции переходов.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80326"/>
                <a:ext cx="11375136" cy="1865126"/>
              </a:xfrm>
              <a:prstGeom prst="rect">
                <a:avLst/>
              </a:prstGeom>
              <a:blipFill>
                <a:blip r:embed="rId2"/>
                <a:stretch>
                  <a:fillRect l="-322" r="-268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46304" y="2045452"/>
                <a:ext cx="1153972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7: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MDP называется конечным или табличным, если пространства состояний и действий конечны: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|&lt;∞, 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|&lt;∞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2045452"/>
                <a:ext cx="11539728" cy="683264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37744" y="2728716"/>
            <a:ext cx="199804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Эпизодичность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28600" y="3292412"/>
                <a:ext cx="11622024" cy="14711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8: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Состояние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терминальным в MDP,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 1    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 есть с вероятностью 1 агент не сможет покинуть состояние.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Считается, что на каждом шаге взаимодействия агент дополнительно получает для очередного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значение предиката (соответствующий)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)∈{0,1}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</a:t>
                </a:r>
                <a:endParaRPr lang="ru-RU" sz="1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292412"/>
                <a:ext cx="11622024" cy="1471172"/>
              </a:xfrm>
              <a:prstGeom prst="rect">
                <a:avLst/>
              </a:prstGeom>
              <a:blipFill>
                <a:blip r:embed="rId4"/>
                <a:stretch>
                  <a:fillRect l="-315" b="-4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59518" y="5007965"/>
            <a:ext cx="11114449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9: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Один цикл процесса от стартового состояния до терминального называется эпизодом.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457200" y="5729091"/>
                <a:ext cx="11393424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10: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Среда называется эпизодичной, если для любой стратегии процесс взаимодействия гарантированно завершается не более чем за некоторое конечное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𝑚𝑎𝑥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число шагов.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729091"/>
                <a:ext cx="11393424" cy="683264"/>
              </a:xfrm>
              <a:prstGeom prst="rect">
                <a:avLst/>
              </a:prstGeom>
              <a:blipFill>
                <a:blip r:embed="rId5"/>
                <a:stretch>
                  <a:fillRect l="-268" r="-268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470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92024" y="245585"/>
                <a:ext cx="1167688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2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Граф эпизодичных сред есть дерево: В эпизодичных средах вероятность оказаться в одном и том же состоянии дважды в течение одного эпизода равна нулю.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Доказательство. Если для некоторого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некоторой комбинации действий через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агент с вероятностью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вернётся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при повторении такой же комбинации действий в силу марковости с вероятностью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эпизод будет длиться не менее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𝑛𝑇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для любого натурального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Иначе говоря, эпизоды могут быть неограниченно долгими.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245585"/>
                <a:ext cx="11676888" cy="1569660"/>
              </a:xfrm>
              <a:prstGeom prst="rect">
                <a:avLst/>
              </a:prstGeom>
              <a:blipFill>
                <a:blip r:embed="rId2"/>
                <a:stretch>
                  <a:fillRect l="-313" r="-261" b="-2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269177" y="1815245"/>
            <a:ext cx="17960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Дисконтирование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24028" y="2110710"/>
                <a:ext cx="11612880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Задача заключается в том, чтобы найти стратегию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максимизирующую среднюю суммарную награду. Формально, явно задан функционал для оптимизации: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→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𝑚𝑎𝑥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	(1.2)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награда на шаге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28" y="2110710"/>
                <a:ext cx="11612880" cy="1274195"/>
              </a:xfrm>
              <a:prstGeom prst="rect">
                <a:avLst/>
              </a:prstGeom>
              <a:blipFill>
                <a:blip r:embed="rId3"/>
                <a:stretch>
                  <a:fillRect l="-315" r="-262" b="-200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0" y="3461772"/>
                <a:ext cx="11676888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Во-первых, введём ограничение на модуль награды за шаг, подразумевая, что среда не может поощрять или наказывать агента бесконечно сильно: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)|≤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𝑚𝑎𝑥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	(1.3)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Чтобы избежать парадоксов, этого условия нам не хватит. Могут возникнуть ситуации, где суммарной награды просто не существует (например, если агент в бесконечном процессе всегда получает +1 на чётных шагах и -1 на нечётных)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Введём дисконтирование, коэффициент которого традиционно обозначают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61772"/>
                <a:ext cx="11676888" cy="1865126"/>
              </a:xfrm>
              <a:prstGeom prst="rect">
                <a:avLst/>
              </a:prstGeom>
              <a:blipFill>
                <a:blip r:embed="rId4"/>
                <a:stretch>
                  <a:fillRect l="-261" r="-209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813816" y="5403765"/>
                <a:ext cx="1004925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11: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Дисконтированной кумулятивной наградой или общий доход для траектории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коэффициентом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𝑅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(1.4)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" y="5403765"/>
                <a:ext cx="10049256" cy="978729"/>
              </a:xfrm>
              <a:prstGeom prst="rect">
                <a:avLst/>
              </a:prstGeom>
              <a:blipFill>
                <a:blip r:embed="rId5"/>
                <a:stretch>
                  <a:fillRect l="-364" r="-303" b="-55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08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786384" y="1206712"/>
                <a:ext cx="10945368" cy="4425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12: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Счет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score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скор)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данном MDP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𝑅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		(1.5)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задачей обучения с подкреплением является оптимизация для заданного MDP средней дисконтированной кумулятивной награды: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→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𝑚𝑎𝑥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Таким образом, везде подразумевается выполнение требования ограниченности награды (1.3), а также или дисконтирования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или эпизодичности среды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 1: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сделанных предположениях скор (счет) ограничен.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Доказательство.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по свойству геометрической прогрессии для любых траекторий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𝑅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𝒯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)=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≥0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≤ 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1−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𝛾</m:t>
                          </m:r>
                        </m:den>
                      </m:f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же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эпизоды гарантированно заканчиваются не более чем 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𝑚𝑎𝑥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шагов, то суммарная награда не превосходит по модулю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𝑚𝑎𝑥</m:t>
                        </m:r>
                      </m:sup>
                    </m:sSup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𝑚𝑎𝑥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Следовательно, скор (счет) как математическое ожидание от ограниченной величины также удовлетворяет этим ограничениям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" y="1206712"/>
                <a:ext cx="10945368" cy="4425122"/>
              </a:xfrm>
              <a:prstGeom prst="rect">
                <a:avLst/>
              </a:prstGeom>
              <a:blipFill>
                <a:blip r:embed="rId2"/>
                <a:stretch>
                  <a:fillRect l="-278" r="-223" b="-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43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70649" y="162717"/>
            <a:ext cx="406431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54000" algn="ctr">
              <a:lnSpc>
                <a:spcPct val="120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Алгоритмы обучения с подкреплением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67236" y="550515"/>
            <a:ext cx="473578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Условия задачи RL (обучение с подкреплением)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46888" y="1080806"/>
                <a:ext cx="11283696" cy="2165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означает, что алгоритму обучения изначально доступно только: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вид пространства состояний – количество состояний в нём в случае конечного числа, или размерность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случае признакового описания состояний.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вид пространства действий — непрерывное или дискретное. Некоторые алгоритмы будут принципиально способны работать только с одним из этих двух видов.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взаимодействие со средой, то есть возможность для предоставленной алгоритмом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генерировать траектории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иными словами, принципиально доступны только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(единицы выборки) из распределение траекторий.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1080806"/>
                <a:ext cx="11283696" cy="2165914"/>
              </a:xfrm>
              <a:prstGeom prst="rect">
                <a:avLst/>
              </a:prstGeom>
              <a:blipFill>
                <a:blip r:embed="rId2"/>
                <a:stretch>
                  <a:fillRect l="-324" r="-270" b="-14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8" y="3777011"/>
            <a:ext cx="2914589" cy="24500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3670649" y="3777011"/>
                <a:ext cx="832713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в отличие от обучения с учителем, где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датасет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«дан алгоритму на вход», здесь агент должен сам собрать данные. Находясь в некотором состоянии, обучающийся агент обязан выбрать ровно одно действие, получить ровно один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продолжить взаимодействие (накопление опыта — сбор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из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Собираемые в ходе взаимодействия данные и представляют собой всю доступную агенту информацию для улучшения стратегии.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649" y="3777011"/>
                <a:ext cx="8327136" cy="1865126"/>
              </a:xfrm>
              <a:prstGeom prst="rect">
                <a:avLst/>
              </a:prstGeom>
              <a:blipFill>
                <a:blip r:embed="rId4"/>
                <a:stretch>
                  <a:fillRect l="-366" r="-439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52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56032" y="262229"/>
                <a:ext cx="1126540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13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Пятёрки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,называются переходами (</a:t>
                </a:r>
                <a14:m>
                  <m:oMath xmlns:m="http://schemas.openxmlformats.org/officeDocument/2006/math"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где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done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– сделанный).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262229"/>
                <a:ext cx="11265408" cy="683264"/>
              </a:xfrm>
              <a:prstGeom prst="rect">
                <a:avLst/>
              </a:prstGeom>
              <a:blipFill>
                <a:blip r:embed="rId2"/>
                <a:stretch>
                  <a:fillRect l="-271" r="-271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-129065" y="945493"/>
            <a:ext cx="369017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Сравнение с обучением с учителем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00584" y="1285838"/>
                <a:ext cx="11000232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 2: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Задача обучения с учителем (с заданной функцией потерь) является частным случаем задачи RL.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Доказательство.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дана обучающая выборка в виде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входной объект,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целевая переменная. Скажем, что начальное состояние есть описание объекта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случайно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сэмплированного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обучающей выборки (начальное состояние будет случайно). Агент выбирает метку класса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После этого он получает награду за шаг в размере −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𝐿𝑜𝑠𝑠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игра завершается. Оптимизация такой функции награды в среднем будет эквивалентно минимизации функции потерь в обучении с учителем.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" y="1285838"/>
                <a:ext cx="11000232" cy="1865126"/>
              </a:xfrm>
              <a:prstGeom prst="rect">
                <a:avLst/>
              </a:prstGeom>
              <a:blipFill>
                <a:blip r:embed="rId3"/>
                <a:stretch>
                  <a:fillRect l="-333" r="-277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28016" y="3137340"/>
                <a:ext cx="11521440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Алгоритм RL, возможно, сможет эти данные как-то использовать, или хотя бы как-либо на них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предобучиться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В простейшем случае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предобучение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выглядит так: если в алгоритме присутствует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параметрически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заданная стратегия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можно клонировать поведение, т.е. восстанавливать по парам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всех собранных экспертом траекторий функцию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𝒜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(это обычная задача обучения с учителем), учиться воспроизводить действия эксперта.</a:t>
                </a:r>
                <a:endParaRPr lang="ru-RU" sz="1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" y="3137340"/>
                <a:ext cx="11521440" cy="1077218"/>
              </a:xfrm>
              <a:prstGeom prst="rect">
                <a:avLst/>
              </a:prstGeom>
              <a:blipFill>
                <a:blip r:embed="rId4"/>
                <a:stretch>
                  <a:fillRect l="-265" t="-1705"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-249420" y="4318892"/>
            <a:ext cx="4787144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Концепция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model-free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(без модели) алгоритмов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256032" y="4680914"/>
                <a:ext cx="11667744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14: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говорить, что у агента есть симулятор или «доступ к функции переходов», если он знает функцию награды и может в любой момент процесса обучения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произвольное число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любого набора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4680914"/>
                <a:ext cx="11667744" cy="978729"/>
              </a:xfrm>
              <a:prstGeom prst="rect">
                <a:avLst/>
              </a:prstGeom>
              <a:blipFill>
                <a:blip r:embed="rId5"/>
                <a:stretch>
                  <a:fillRect l="-261" r="-261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128016" y="5848842"/>
                <a:ext cx="1167688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15: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Алгоритм RL классифицируется как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если он не использует и не пытается выучить модель динамики среды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" y="5848842"/>
                <a:ext cx="11676888" cy="683264"/>
              </a:xfrm>
              <a:prstGeom prst="rect">
                <a:avLst/>
              </a:prstGeom>
              <a:blipFill>
                <a:blip r:embed="rId6"/>
                <a:stretch>
                  <a:fillRect l="-261" r="-209" b="-6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39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2131" y="221016"/>
            <a:ext cx="6117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On-policy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vs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Off-policy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(включенная политика против выключенной)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2131" y="559570"/>
            <a:ext cx="11529621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16: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Алгоритм RL называется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off-policy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если он может использовать для обучения опыт взаимодействия произвольной стратегии.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17: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Алгоритм RL называется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on-policy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если для очередной итерации алгоритма ему требуется опыт взаимодействия некоторой конкретной, предоставляемой самим алгоритмом, стратегии.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148735" y="1833765"/>
            <a:ext cx="340984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Классификация RL-алгоритмов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64971" y="2379030"/>
                <a:ext cx="11529621" cy="2751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 рассмотрении алгоритмов RL мы начнём с рассмотрения именно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алгоритмов. Их часто делят на следующие подходы: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мета-эвристики никак не используют внутреннюю структуру взаимодействия среды и агента, и рассматривают задачу максимизации счета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(1.5) как задачу «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black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box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(черного ящика) оптимизации»: можно примерно оценивать, чему равно значение функционала для разных стратегий, а структура задачи — формализм MDP — не используется;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value-based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(основанные на цене) алгоритмы получают оптимальную стратегию неявно через теорию оценочных функций.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gradient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(градиент политики) алгоритмы максимизируют счет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используя оценки градиента функционала по параметрам стратегии; можем помочь процессу оптимизации, правильно воспользовавшись оценочными функциями.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1" y="2379030"/>
                <a:ext cx="11529621" cy="2751522"/>
              </a:xfrm>
              <a:prstGeom prst="rect">
                <a:avLst/>
              </a:prstGeom>
              <a:blipFill>
                <a:blip r:embed="rId2"/>
                <a:stretch>
                  <a:fillRect l="-317" r="-264" b="-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300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6320"/>
            <a:ext cx="359233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Критерии оценки RL-алгоритмов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55448" y="607594"/>
                <a:ext cx="11622024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 оценивании алгоритмов принципиально соотношение трёх критериев: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производительность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performance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 Монте-Карло оценка значения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реальное время работы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wall-clock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time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потребовавшееся алгоритму для достижения такого результата (в полной аналогии с классическими методами оптимизации);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эффективность выборки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sample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efficiency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 количество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(или шагов) взаимодействия со средой, потребовавшихся алгоритму. Этот фактор может быть ключевым, если взаимодействие со средой дорого (например, обучается реальный робот);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607594"/>
                <a:ext cx="11622024" cy="1865126"/>
              </a:xfrm>
              <a:prstGeom prst="rect">
                <a:avLst/>
              </a:prstGeom>
              <a:blipFill>
                <a:blip r:embed="rId2"/>
                <a:stretch>
                  <a:fillRect l="-315" r="-262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212" y="4407338"/>
            <a:ext cx="7253454" cy="18837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4028" y="2655199"/>
            <a:ext cx="114848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value-based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(основанные на цене) подходе за счёт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off-policy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режима работа можно будет контролировать соотношение числа собираемых переходов к количеству обновлений весов, но по умолчанию обычно полагают, что алгоритм собирает 1 переход и проводит 1 итерацию обучения.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Наконец,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model-based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(основанный на модели) вычислительно страшно тяжеловесные алгоритмы, но за счёт этого можно попытаться добиться максимальной эффективности по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сэмплам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25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90328"/>
            <a:ext cx="2833404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Дизайн функции награды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83464" y="629227"/>
                <a:ext cx="11091672" cy="431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Есть, однако, один способ, как можно функцию награды модифицировать, не изменяя решаемую задачу, то есть эквивалентным образом. К сигналу «из среды» можно что-то добавлять при условии, что на следующем шаге это что-то обязательно будет вычтено. Другими словами, можно применять трюк, который называется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телескопирующая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сумма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telescoping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sums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): для любой последовательности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т. ч.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t</m:t>
                            </m:r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=0</m:t>
                        </m:r>
                      </m:e>
                    </m:func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=−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		(1.6)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19: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дана некоторая функция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𝛷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𝑅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которую назовём потенциалом, и которая удовлетворяет двум требованиям: она ограничена и равна нулю в терминальных состояниях. Будем говорить, что мы проводим формирование вознаграждения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shaping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при помощи потенциала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𝛷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если мы заменяем функцию награды по следующей формуле: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new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r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γΦ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Φ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Формирование вознаграждения позволяет поменять награду, «не ломая» задачу. Это может быть способом борьбы с разреженной функцией (имеют нулевые значения) награды, если удаётся придумать какой-нибудь хороший потенциал. Конечно, для этого нужно что-то знать о самой задаче, и на практике формирование вознаграждения – это инструмент внесения каких-то априорных знаний, дизайна функции награды.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629227"/>
                <a:ext cx="11091672" cy="4318105"/>
              </a:xfrm>
              <a:prstGeom prst="rect">
                <a:avLst/>
              </a:prstGeom>
              <a:blipFill>
                <a:blip r:embed="rId2"/>
                <a:stretch>
                  <a:fillRect l="-330" r="-275" b="-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0744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1517</Words>
  <Application>Microsoft Office PowerPoint</Application>
  <PresentationFormat>Широкоэкранный</PresentationFormat>
  <Paragraphs>117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Тема Office</vt:lpstr>
      <vt:lpstr>Обучение с подкреплением  (reinforcement learning - RL)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43</cp:revision>
  <dcterms:created xsi:type="dcterms:W3CDTF">2020-10-06T14:10:24Z</dcterms:created>
  <dcterms:modified xsi:type="dcterms:W3CDTF">2023-09-28T16:57:43Z</dcterms:modified>
</cp:coreProperties>
</file>