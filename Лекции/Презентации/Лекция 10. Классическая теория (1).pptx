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2" r:id="rId3"/>
    <p:sldId id="283" r:id="rId4"/>
    <p:sldId id="284" r:id="rId5"/>
    <p:sldId id="285" r:id="rId6"/>
    <p:sldId id="287" r:id="rId7"/>
    <p:sldId id="288" r:id="rId8"/>
    <p:sldId id="289" r:id="rId9"/>
    <p:sldId id="290" r:id="rId10"/>
    <p:sldId id="291" r:id="rId11"/>
    <p:sldId id="292" r:id="rId12"/>
    <p:sldId id="286" r:id="rId13"/>
    <p:sldId id="293" r:id="rId14"/>
    <p:sldId id="294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47" autoAdjust="0"/>
    <p:restoredTop sz="94660"/>
  </p:normalViewPr>
  <p:slideViewPr>
    <p:cSldViewPr snapToGrid="0">
      <p:cViewPr varScale="1">
        <p:scale>
          <a:sx n="84" d="100"/>
          <a:sy n="84" d="100"/>
        </p:scale>
        <p:origin x="53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60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0330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579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559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46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846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7318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25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832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21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418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5646-FAEB-4AB3-A326-0A08349E2827}" type="datetimeFigureOut">
              <a:rPr lang="ru-RU" smtClean="0"/>
              <a:t>07.10.2023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31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7240" y="1581913"/>
            <a:ext cx="10515600" cy="1946284"/>
          </a:xfrm>
        </p:spPr>
        <p:txBody>
          <a:bodyPr>
            <a:normAutofit/>
          </a:bodyPr>
          <a:lstStyle/>
          <a:p>
            <a:pPr algn="ctr">
              <a:spcAft>
                <a:spcPts val="0"/>
              </a:spcAft>
              <a:tabLst>
                <a:tab pos="5832475" algn="l"/>
                <a:tab pos="6049010" algn="r"/>
              </a:tabLst>
            </a:pP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Классическая теория 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8597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-230193" y="144608"/>
            <a:ext cx="2502545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Оценочные функции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-301046" y="532406"/>
            <a:ext cx="2644250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Свойства траекторий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Прямоугольник 9"/>
              <p:cNvSpPr/>
              <p:nvPr/>
            </p:nvSpPr>
            <p:spPr>
              <a:xfrm>
                <a:off x="91440" y="988749"/>
                <a:ext cx="11320272" cy="12741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Независимость прошлого и будущего при известном настоящем: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𝒯</m:t>
                        </m:r>
                      </m:e>
                      <m:sub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t</m:t>
                        </m:r>
                      </m:sub>
                    </m:sSub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:= {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s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a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...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t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t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«прошлое»,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«настоящее»,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𝒯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t</m:t>
                        </m:r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:</m:t>
                        </m:r>
                      </m:sub>
                    </m:sSub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:= {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а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t</m:t>
                        </m:r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</m:sSub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t</m:t>
                        </m:r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…</m:t>
                        </m:r>
                      </m:sub>
                    </m:sSub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«будущее».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Тогда: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ct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𝑝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𝒯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: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𝒯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: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| 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 =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𝑝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𝒯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: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| 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𝑝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𝒯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: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| 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" y="988749"/>
                <a:ext cx="11320272" cy="1274195"/>
              </a:xfrm>
              <a:prstGeom prst="rect">
                <a:avLst/>
              </a:prstGeom>
              <a:blipFill>
                <a:blip r:embed="rId2"/>
                <a:stretch>
                  <a:fillRect b="-4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Рисунок 10"/>
          <p:cNvPicPr/>
          <p:nvPr/>
        </p:nvPicPr>
        <p:blipFill rotWithShape="1">
          <a:blip r:embed="rId3"/>
          <a:srcRect l="17415" t="42550" r="8790" b="45385"/>
          <a:stretch/>
        </p:blipFill>
        <p:spPr bwMode="auto">
          <a:xfrm>
            <a:off x="2039112" y="2224643"/>
            <a:ext cx="7175817" cy="8348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Прямоугольник 11"/>
              <p:cNvSpPr/>
              <p:nvPr/>
            </p:nvSpPr>
            <p:spPr>
              <a:xfrm>
                <a:off x="313944" y="3346704"/>
                <a:ext cx="11417808" cy="11175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траектории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𝒯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величина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≔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𝑅</m:t>
                      </m:r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𝒯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: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acc>
                            <m:accPr>
                              <m:chr m:val="̂"/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e>
                          </m:acc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≥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γ</m:t>
                              </m:r>
                            </m:e>
                            <m:sup>
                              <m:acc>
                                <m:accPr>
                                  <m:chr m:val="̂"/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𝑡</m:t>
                                  </m:r>
                                </m:e>
                              </m:acc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−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r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e>
                          </m:acc>
                        </m:sub>
                      </m:sSub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944" y="3346704"/>
                <a:ext cx="11417808" cy="1117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Прямоугольник 12"/>
              <p:cNvSpPr/>
              <p:nvPr/>
            </p:nvSpPr>
            <p:spPr>
              <a:xfrm>
                <a:off x="576072" y="4684484"/>
                <a:ext cx="11311128" cy="13392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Будущее определено текущим состоянием: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𝑝</m:t>
                      </m:r>
                      <m:d>
                        <m:dPr>
                          <m:endChr m:val="|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𝒯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:</m:t>
                              </m:r>
                            </m:sub>
                          </m:s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)≡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𝑝</m:t>
                      </m:r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d>
                            <m:dPr>
                              <m:endChr m:val="|"/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𝒯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 </m:t>
                              </m:r>
                            </m:e>
                          </m:d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Для любого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𝑡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любой функции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от траекторий: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𝒯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𝑇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 = 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𝒯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𝑓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𝒯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: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72" y="4684484"/>
                <a:ext cx="11311128" cy="13392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9149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175782" y="108032"/>
            <a:ext cx="1552476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V-функция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600456" y="404968"/>
                <a:ext cx="10844784" cy="10057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данного MDP V-функцией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value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function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функции цены) или оценочной функцией состояний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state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value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function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для данной стратегии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называется величина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 := 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𝔼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𝒯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∼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|</m:t>
                        </m:r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0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=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𝑅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𝒯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		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		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(3.1)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56" y="404968"/>
                <a:ext cx="10844784" cy="1005725"/>
              </a:xfrm>
              <a:prstGeom prst="rect">
                <a:avLst/>
              </a:prstGeom>
              <a:blipFill>
                <a:blip r:embed="rId2"/>
                <a:stretch>
                  <a:fillRect l="-337" r="-731" b="-30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155448" y="1314298"/>
                <a:ext cx="11503152" cy="13011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любого t верно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 = 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𝒯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∼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ограничено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терминальных состояний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d>
                      <m:d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</m:d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=0</m:t>
                    </m:r>
                  </m:oMath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" y="1314298"/>
                <a:ext cx="11503152" cy="1301125"/>
              </a:xfrm>
              <a:prstGeom prst="rect">
                <a:avLst/>
              </a:prstGeom>
              <a:blipFill>
                <a:blip r:embed="rId3"/>
                <a:stretch>
                  <a:fillRect b="-32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470" y="2876156"/>
            <a:ext cx="4182018" cy="36558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9075" y="2048952"/>
            <a:ext cx="5053533" cy="2925384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 rotWithShape="1">
          <a:blip r:embed="rId6"/>
          <a:srcRect l="33015" t="52689" r="32773" b="40137"/>
          <a:stretch/>
        </p:blipFill>
        <p:spPr bwMode="auto">
          <a:xfrm>
            <a:off x="5678424" y="5096850"/>
            <a:ext cx="5848096" cy="7553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9507" y="5852160"/>
            <a:ext cx="6585930" cy="557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856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08032"/>
            <a:ext cx="2437334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Уравнения Беллмана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-73152" y="495830"/>
                <a:ext cx="12060936" cy="686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</a:t>
                </a:r>
                <a:r>
                  <a:rPr lang="en-US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</a:t>
                </a: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Уравнение Беллмана</a:t>
                </a:r>
                <a:r>
                  <a:rPr lang="en-US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(Bellman expectation equation) </a:t>
                </a: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для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 u="sng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 u="sng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600" i="1" u="sng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</m:oMath>
                </a14:m>
                <a:r>
                  <a:rPr lang="en-US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</m:t>
                      </m:r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</m:d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= 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[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 +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ru-RU" sz="1600" i="1" u="sng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 u="sng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ru-RU" sz="1600" i="1" u="sng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)]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152" y="495830"/>
                <a:ext cx="12060936" cy="686663"/>
              </a:xfrm>
              <a:prstGeom prst="rect">
                <a:avLst/>
              </a:prstGeom>
              <a:blipFill>
                <a:blip r:embed="rId2"/>
                <a:stretch>
                  <a:fillRect b="-8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25" y="1319758"/>
            <a:ext cx="5242760" cy="677824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528" y="2134847"/>
            <a:ext cx="5733415" cy="2051431"/>
          </a:xfrm>
          <a:prstGeom prst="rect">
            <a:avLst/>
          </a:prstGeom>
          <a:noFill/>
        </p:spPr>
      </p:pic>
      <p:pic>
        <p:nvPicPr>
          <p:cNvPr id="6" name="Рисунок 5"/>
          <p:cNvPicPr/>
          <p:nvPr/>
        </p:nvPicPr>
        <p:blipFill rotWithShape="1">
          <a:blip r:embed="rId5"/>
          <a:srcRect l="25541" t="40056" r="47730" b="44500"/>
          <a:stretch/>
        </p:blipFill>
        <p:spPr bwMode="auto">
          <a:xfrm>
            <a:off x="3520440" y="4209679"/>
            <a:ext cx="5480177" cy="185790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6539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85065" y="89744"/>
            <a:ext cx="2870658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Оптимальная стратегия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192024" y="622009"/>
                <a:ext cx="11411712" cy="19064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У нас есть конкретный функционал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𝐽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)=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d>
                      <m:d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который мы хотим оптимизировать. Казалось бы, понятие оптимальной политики очевидно как вводить: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Политика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оптимальна, если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sSup>
                          <m:sSup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d>
                      <m:d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≥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d>
                      <m:d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Введём альтернативное определение: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Политика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оптимальна, если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sSup>
                          <m:sSup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)≥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Определения не эквивалентны.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622009"/>
                <a:ext cx="11411712" cy="1906419"/>
              </a:xfrm>
              <a:prstGeom prst="rect">
                <a:avLst/>
              </a:prstGeom>
              <a:blipFill>
                <a:blip r:embed="rId2"/>
                <a:stretch>
                  <a:fillRect l="-321" r="-267" b="-19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365760" y="4089789"/>
                <a:ext cx="11521440" cy="7099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Оптимальные стратегии будем обозначать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а соответствующую им оптимальную V-функцию –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π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sup>
                          </m:s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ru-RU" sz="1600" dirty="0"/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4089789"/>
                <a:ext cx="11521440" cy="7099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365760" y="5020003"/>
                <a:ext cx="10927080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Пока нет никаких обоснований, что найдётся стратегия, которая максимизирует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d>
                      <m:d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сразу для всех состояний. Если в одних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макисмум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 достигается на одной стратегии, а в другом — на другой? Тогда оптимальных стратегий в сильном смысле вообще не существует, хотя формальная величина  существует. Заметим лишь, что для ситуации, когда MDP — дерево, существование оптимальной стратегии в смысле второго определения можно опять показать «от листьев к корню».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5020003"/>
                <a:ext cx="10927080" cy="1569660"/>
              </a:xfrm>
              <a:prstGeom prst="rect">
                <a:avLst/>
              </a:prstGeom>
              <a:blipFill>
                <a:blip r:embed="rId4"/>
                <a:stretch>
                  <a:fillRect l="-279" r="-279" b="-23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365760" y="2654866"/>
            <a:ext cx="11594592" cy="127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Интуиция подсказывает, что различие между определениями проявляется только в состояниях, которые оптимальный агент будет избегать с вероятностью 1. Задавая оптимальность вторым определением, мы усложняем задачу, но упрощаем теоретический анализ: если бы мы оставили первое определение, у оптимальных политик могли бы быть разные V-функции; согласно второму определению, V-функция всех оптимальных политик совпадает.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412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256686" y="108032"/>
            <a:ext cx="1586268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Q-функция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256031" y="406801"/>
                <a:ext cx="11430000" cy="32051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данного MDP Q-функцией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state-action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value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function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action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quality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function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для данной стратегии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называется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 := 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𝒯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∼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≥0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γ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 – Связь оценочных функций: V-функции и Q-функции взаимозависимы, а именно: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 =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 +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</m:t>
                      </m:r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</m:d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∼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|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b>
                      </m:sSub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Итак, если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V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-функция — это сколько получит агент из некоторого состояния, то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Q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-функция — это сколько получит агент после выполнения данного действия из данного состояния. Как и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V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-функция,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Q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-функция не зависит от времени, ограничена по модулю при рассматриваемых требованиях к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MDP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и, аналогично, для неё существует уравнение Беллмана: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1" y="406801"/>
                <a:ext cx="11430000" cy="3205173"/>
              </a:xfrm>
              <a:prstGeom prst="rect">
                <a:avLst/>
              </a:prstGeom>
              <a:blipFill>
                <a:blip r:embed="rId2"/>
                <a:stretch>
                  <a:fillRect l="-267" r="-267" b="-7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-100584" y="3557204"/>
            <a:ext cx="8641080" cy="387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Теорема – Уравнение Беллмана (</a:t>
            </a:r>
            <a:r>
              <a:rPr lang="ru-RU" sz="1600" u="sng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Bellman</a:t>
            </a: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u="sng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expectation</a:t>
            </a: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u="sng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equation</a:t>
            </a: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 для Q-функции: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3872764" y="3945002"/>
                <a:ext cx="4196533" cy="3725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ru-RU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) = 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) + 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764" y="3945002"/>
                <a:ext cx="4196533" cy="372538"/>
              </a:xfrm>
              <a:prstGeom prst="rect">
                <a:avLst/>
              </a:prstGeom>
              <a:blipFill>
                <a:blip r:embed="rId3"/>
                <a:stretch>
                  <a:fillRect t="-118033" r="-11756" b="-1852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35" t="40699" r="6073" b="24148"/>
          <a:stretch/>
        </p:blipFill>
        <p:spPr bwMode="auto">
          <a:xfrm>
            <a:off x="256031" y="4425696"/>
            <a:ext cx="3506217" cy="228253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9956" y="4378138"/>
            <a:ext cx="6224555" cy="118882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5926" y="5627559"/>
            <a:ext cx="4834547" cy="932769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0496" y="6550158"/>
            <a:ext cx="3418205" cy="2463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57079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530352" y="1076450"/>
                <a:ext cx="10780776" cy="40245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Принцип оптимальности Беллмана: жадный выбор действия в предположении оптимальности дальнейшего поведения оптимален.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Догадку несложно доказать для случая, когда MDP является деревом: принятие решения в текущем состоянии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никак не связано с выбором действий в «поддеревьях». Если в поддереве, соответствующему одному действию, можно получить больше, чем в другом поддереве, то понятно, что выбирать нужно его. В общем случае, однако, нужно показать, что жадный выбор в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«позволит» в будущем набрать 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которое мы выбрали — вдруг для того, чтобы получить в будущем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нужно будет при попадании в то же состояние s выбирать действие как-то по-другому? Если бы это было так, было бы оптимально искать стратегию в классе нестационарных стратегий.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Тогда приходим к отказу от однородности, которая заключается в том, что будем искать максимум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u-RU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max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ru-RU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π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𝜋</m:t>
                            </m:r>
                          </m:sup>
                        </m:s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 </m:t>
                        </m:r>
                        <m:d>
                          <m:d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𝑠</m:t>
                            </m:r>
                          </m:e>
                        </m:d>
                      </m:e>
                    </m:fun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 не только среди стационарных, но и нестационарных стратегий. Мотивация в отказе от однородности заключается в том, что наше MDP теперь стало деревом: эквивалентно было бы сказать, что мы добавили в описание состояний время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𝑡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Теперь мы не оказываемся в одном состоянии несколько раз за эпизод; максимизация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требует оптимальных выборов «в поддереве», то есть настройки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+2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так далее, а для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будет выгодно выбрать действие жадно.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" y="1076450"/>
                <a:ext cx="10780776" cy="4024500"/>
              </a:xfrm>
              <a:prstGeom prst="rect">
                <a:avLst/>
              </a:prstGeom>
              <a:blipFill>
                <a:blip r:embed="rId2"/>
                <a:stretch>
                  <a:fillRect l="-283" r="-226" b="-4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0661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155448" y="171899"/>
                <a:ext cx="11795760" cy="43208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Уравнения оптимальности Беллмана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 – Связь оптимальных оценочных функций: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</m:d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a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=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 +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Теперь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выражено через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наоборот. Значит, можно получить выражение для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через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через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 – Уравнения оптимальности Беллмана (</a:t>
                </a:r>
                <a:r>
                  <a:rPr lang="ru-RU" sz="1600" u="sng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Bellman</a:t>
                </a: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u="sng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optimality</a:t>
                </a: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u="sng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equation</a:t>
                </a: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=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𝑟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 +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𝛾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func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</m:d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[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𝑟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 +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𝔼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)]</m:t>
                          </m:r>
                        </m:e>
                      </m:func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Уравнения оптимальности Беллмана крайне интуитивны. Для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например, можно рассудить так: что даст оптимальное поведение из состояния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после совершения действия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? Что с нами случится дальше: мы получим награду за этот выбор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на что уже повлиять не можем. Остальная награда будет дисконтирована. Затем среда переведёт нас в какое-то следующее состояние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нужно рассчитать мат. ожидание по функции переходов. После этого мы, пользуясь принципом Беллмана, просто выберем то действие, которое позволит в будущем набрать наибольшую награду, и тогда сможем получить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′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func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" y="171899"/>
                <a:ext cx="11795760" cy="4320863"/>
              </a:xfrm>
              <a:prstGeom prst="rect">
                <a:avLst/>
              </a:prstGeom>
              <a:blipFill>
                <a:blip r:embed="rId2"/>
                <a:stretch>
                  <a:fillRect l="-310" r="-2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967"/>
          <a:stretch/>
        </p:blipFill>
        <p:spPr bwMode="auto">
          <a:xfrm>
            <a:off x="795528" y="4687761"/>
            <a:ext cx="2935224" cy="19873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735" y="4617634"/>
            <a:ext cx="4993057" cy="197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872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157678" y="144608"/>
            <a:ext cx="3875420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Критерий оптимальности Беллмана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155448" y="571494"/>
                <a:ext cx="11192256" cy="16607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Теперь сформулируем критерий оптимальности стратегий в общей форме, описывающей вид всего множества оптимальных стратегий. Для доказательства нам понадобится факт: для данного MDP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единственная функция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𝒮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×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𝒜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→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ℝ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удовлетворяющая уравнениям оптимальности Беллмана.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 – Критерий оптимальности Беллмана: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оптимальна тогда и только тогда, когда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)&gt;0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верно: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mbria Math" panose="02040503050406030204" pitchFamily="18" charset="0"/>
                        </a:rPr>
                        <m:t>∈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𝐴𝑟𝑔</m:t>
                      </m:r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sup>
                          </m:s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" y="571494"/>
                <a:ext cx="11192256" cy="1660776"/>
              </a:xfrm>
              <a:prstGeom prst="rect">
                <a:avLst/>
              </a:prstGeom>
              <a:blipFill>
                <a:blip r:embed="rId2"/>
                <a:stretch>
                  <a:fillRect l="-327" r="-27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283464" y="2297134"/>
                <a:ext cx="11384280" cy="18651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 Если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𝒜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|&lt;+∞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всегда существует оптимальная стратегия.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 Оптимальной стратегии может не существовать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 Если существует хотя бы две различные оптимальные стратегии, то существует континуум (множество вещественных чисел) оптимальных стратегий.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 Если существует хотя бы одна оптимальная стратегия, то существует детерминированная оптимальная стратегия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64" y="2297134"/>
                <a:ext cx="11384280" cy="1865126"/>
              </a:xfrm>
              <a:prstGeom prst="rect">
                <a:avLst/>
              </a:prstGeom>
              <a:blipFill>
                <a:blip r:embed="rId3"/>
                <a:stretch>
                  <a:fillRect l="-321" r="-321" b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155448" y="4349990"/>
                <a:ext cx="11786616" cy="18651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Пример. 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Найдём все оптимальные стратегии в 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MDP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=0.5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Мы могли бы составить уравнения оптимальности Беллмана для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решать их, но сделаем чуть умнее и воспользуемся критерием оптимальности Беллмана. Например, в состоянии B (рис. 3.4) оптимально или выбирать какое-то одно из двух действий с вероятностью 1, или действия эквивалентны, и тогда оптимально любое поведение. Допустим, мы будем выбирать всегда синий, тогда мы получим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2 /(1−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 = 4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; если же будем выбирать красный, то получим +4. Значит, действия эквивалентны, оптимально любое поведение, 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=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𝐵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 = 4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" y="4349990"/>
                <a:ext cx="11786616" cy="1865126"/>
              </a:xfrm>
              <a:prstGeom prst="rect">
                <a:avLst/>
              </a:prstGeom>
              <a:blipFill>
                <a:blip r:embed="rId4"/>
                <a:stretch>
                  <a:fillRect l="-310" r="-259" b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7993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280517"/>
            <a:ext cx="12006072" cy="387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Проведём аналогичное рассуждение для состояния C. Если оптимально действие синее, то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Рисунок 2"/>
          <p:cNvPicPr/>
          <p:nvPr/>
        </p:nvPicPr>
        <p:blipFill rotWithShape="1">
          <a:blip r:embed="rId2"/>
          <a:srcRect l="36859" t="52915" r="36980" b="42603"/>
          <a:stretch/>
        </p:blipFill>
        <p:spPr bwMode="auto">
          <a:xfrm>
            <a:off x="3630168" y="768413"/>
            <a:ext cx="4892103" cy="49345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Рисунок 3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9923" r="38588" b="49349"/>
          <a:stretch/>
        </p:blipFill>
        <p:spPr bwMode="auto">
          <a:xfrm>
            <a:off x="497395" y="1361970"/>
            <a:ext cx="6497765" cy="43939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361970"/>
            <a:ext cx="5018581" cy="448088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" y="2003713"/>
            <a:ext cx="6830631" cy="5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Прямоугольник 6"/>
          <p:cNvSpPr/>
          <p:nvPr/>
        </p:nvSpPr>
        <p:spPr>
          <a:xfrm>
            <a:off x="65252" y="2495023"/>
            <a:ext cx="3761543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54000" algn="just">
              <a:lnSpc>
                <a:spcPct val="120000"/>
              </a:lnSpc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Для состояния A достаточно сравнить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8" name="Рисунок 7"/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402" b="21988"/>
          <a:stretch/>
        </p:blipFill>
        <p:spPr bwMode="auto">
          <a:xfrm>
            <a:off x="576072" y="2942271"/>
            <a:ext cx="4727447" cy="4318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8091" y="2942271"/>
            <a:ext cx="4219952" cy="58731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0" y="3451313"/>
            <a:ext cx="6237798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54000" algn="just">
              <a:lnSpc>
                <a:spcPct val="120000"/>
              </a:lnSpc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определив, что оптимальная стратегия должна выбирать красный.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1231" y="3942623"/>
            <a:ext cx="3916836" cy="272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373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256032" y="340049"/>
                <a:ext cx="11448288" cy="31454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Улучшение политики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i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Advantage</a:t>
                </a:r>
                <a:r>
                  <a:rPr lang="ru-RU" sz="16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(выгода)-функция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Допустим, мы находились в некотором состоянии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засэмплировали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такое,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 &gt;&gt; 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Что можно сказать о таком действии? Мы знаем, что вообще в среднем политика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набирает из данного состояния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но какой-то выбор действий даст в итоге награду больше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а какой-то меньше. Если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 &gt; 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то после того, как мы выбрали действие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«приняли решение», наша средняя будущая награда вдруг увеличилась. Эта проблема обучения с подкреплением, как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credit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assingment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(выделение кредита), которая звучит примерно так: допустим, мы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засэмплировали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траекторию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...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до конца эпизода, и в конце в финальном состоянии через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шагов получили сигнал (награду) +1. Мы приняли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решений, но какое из всех этих действий повлекло получение этого +1? «За что нас наградили?» Повлияло ли на получение +1 именно то действие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которое мы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засэмплировали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стартовом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? Вопрос нетривиальный, потому что в RL есть отложенный сигнал: возможно, именно действие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состоянии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запустило какую-нибудь цепочку действий, которая дальше при любом выборе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,··· приводит к награде +1. </a:t>
                </a:r>
                <a:endParaRPr lang="ru-RU" sz="1600" dirty="0"/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2" y="340049"/>
                <a:ext cx="11448288" cy="3145476"/>
              </a:xfrm>
              <a:prstGeom prst="rect">
                <a:avLst/>
              </a:prstGeom>
              <a:blipFill>
                <a:blip r:embed="rId2"/>
                <a:stretch>
                  <a:fillRect l="-266" r="-319" b="-13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256032" y="3616333"/>
                <a:ext cx="11713464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Так, если в некотором состоянии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засэмплировалось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такое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)=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то мы можем заключить, что выбор действия на этом шаге не привёл ни к какой «неожиданной» награде. Если же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&gt;&gt;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то мы приняли удачное решение,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&lt;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менее удачное, чем обычно. Если, например,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)+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)&gt;</m:t>
                    </m:r>
                    <m:r>
                      <a:rPr lang="ru-RU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то мы можем заключить, что имело место везение: среда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засэмплировала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такое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что теперь мы получим больше награды, чем ожидали после выбора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состоянии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</a:t>
                </a:r>
                <a:endParaRPr lang="ru-RU" sz="1600" dirty="0"/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2" y="3616333"/>
                <a:ext cx="11713464" cy="1077218"/>
              </a:xfrm>
              <a:prstGeom prst="rect">
                <a:avLst/>
              </a:prstGeom>
              <a:blipFill>
                <a:blip r:embed="rId3"/>
                <a:stretch>
                  <a:fillRect l="-260" t="-1695" r="-468" b="-56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484632" y="5004447"/>
                <a:ext cx="10991088" cy="12741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Таким образом, идеальный «кредит» влияния действия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выбранного в состоянии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на будущую награду равен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)−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),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и именно эта величина на самом деле будет для нас ключевой. Поэтому из соображений удобства вводится ещё одно обозначение: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32" y="5004447"/>
                <a:ext cx="10991088" cy="1274195"/>
              </a:xfrm>
              <a:prstGeom prst="rect">
                <a:avLst/>
              </a:prstGeom>
              <a:blipFill>
                <a:blip r:embed="rId4"/>
                <a:stretch>
                  <a:fillRect l="-333" r="-277" b="-33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1801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420624" y="208457"/>
                <a:ext cx="11631168" cy="27726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 Для данного MDP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Advantage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-функцией политики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называется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 := 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)−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Отсюда выводятся ряд утверждений.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 Для любой политики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любого состояния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|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b>
                      </m:sSub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𝐴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 = 0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 Для любой политики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любого состояния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a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sup>
                          </m:s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,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 ≥ 0</m:t>
                          </m:r>
                        </m:e>
                      </m:func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Advantage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(выгода) — это, если угодно, «центрированная» Q-функция. Если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 ≥ 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действие a «лучше среднего» для нашей текущей политики в состоянии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меньше нуля — хуже.</a:t>
                </a:r>
                <a:endParaRPr lang="ru-RU" sz="1600" dirty="0"/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24" y="208457"/>
                <a:ext cx="11631168" cy="2772618"/>
              </a:xfrm>
              <a:prstGeom prst="rect">
                <a:avLst/>
              </a:prstGeom>
              <a:blipFill>
                <a:blip r:embed="rId2"/>
                <a:stretch>
                  <a:fillRect l="-262" b="-17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109728" y="3127195"/>
                <a:ext cx="11567160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Policy</a:t>
                </a:r>
                <a:r>
                  <a:rPr lang="ru-RU" sz="16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Improvement</a:t>
                </a:r>
                <a:r>
                  <a:rPr lang="ru-RU" sz="16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(Улучшение политики)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 Будем говорить, что стратегия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«не хуже»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(запись: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≽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), если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ct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</m:e>
                        <m:sup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)≥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),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и лучше (запись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≻ 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), если также найдётся s, для которого неравенство выполнено строго: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ct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</m:e>
                        <m:sup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)&gt;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),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" y="3127195"/>
                <a:ext cx="11567160" cy="1569660"/>
              </a:xfrm>
              <a:prstGeom prst="rect">
                <a:avLst/>
              </a:prstGeom>
              <a:blipFill>
                <a:blip r:embed="rId3"/>
                <a:stretch>
                  <a:fillRect b="-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530352" y="4842975"/>
                <a:ext cx="11521440" cy="12741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Зададимся следующим вопросом. Пусть для стратегии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мы знаем оценочную функцию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; тогда мы знаем 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𝑉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 </m:t>
                        </m:r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из VQ уравнения 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𝐴</m:t>
                        </m:r>
                      </m:e>
                      <m:sup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 определению. Давайте попробуем построить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≻ 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Для этого покажем более «классическим» способом, что стратегии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достаточно лишь в среднем выбирать действия, дающие неотрицательный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Advantage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(выбор) стратегии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чтобы быть не хуже.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" y="4842975"/>
                <a:ext cx="11521440" cy="1274195"/>
              </a:xfrm>
              <a:prstGeom prst="rect">
                <a:avLst/>
              </a:prstGeom>
              <a:blipFill>
                <a:blip r:embed="rId4"/>
                <a:stretch>
                  <a:fillRect l="-265" r="-265" b="-33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1639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283464" y="267676"/>
                <a:ext cx="10981944" cy="16265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 – </a:t>
                </a:r>
                <a:r>
                  <a:rPr lang="ru-RU" sz="1600" u="sng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Policy</a:t>
                </a: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u="sng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Improvement</a:t>
                </a: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: 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Пусть стратегии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таковы, что для всех состояний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выполняется: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ct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|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b>
                      </m:sSub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p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 ≥ </m:t>
                      </m:r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𝑉</m:t>
                          </m:r>
                        </m:e>
                        <m:sup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),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или, в эквивалентной форме: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|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b>
                      </m:sSub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𝐴</m:t>
                          </m:r>
                        </m:e>
                        <m:sup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 ≥ 0. 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Тогда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≽ 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; если хотя бы для одного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неравенство выполнено строго, 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≻ 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64" y="267676"/>
                <a:ext cx="10981944" cy="1626599"/>
              </a:xfrm>
              <a:prstGeom prst="rect">
                <a:avLst/>
              </a:prstGeom>
              <a:blipFill>
                <a:blip r:embed="rId2"/>
                <a:stretch>
                  <a:fillRect b="-22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283464" y="1894275"/>
                <a:ext cx="11558016" cy="19220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Улучшать стратегию можно прямо в отдельных состояниях, например, выбрав некоторое состояние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сказав: неважно, как это повлияет на частоты посещения состояний, но будем конкретно в этом состоянии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выбирать действия так, что значение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𝑎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|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sub>
                      </m:sSub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𝑄</m:t>
                          </m:r>
                        </m:e>
                        <m:sup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𝑎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как можно больше. Тогда, если в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действие выбирается «новой» стратегией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а в будущем агент будет вести себя не хуже, чем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то и наберёт он в будущем не меньше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Теорема показывает, что выражение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𝑎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|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sub>
                    </m:sSub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𝑄</m:t>
                        </m:r>
                      </m:e>
                      <m:sup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 является нижней оценкой на награду, которую соберёт «новый» агент со стратегией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64" y="1894275"/>
                <a:ext cx="11558016" cy="1922065"/>
              </a:xfrm>
              <a:prstGeom prst="rect">
                <a:avLst/>
              </a:prstGeom>
              <a:blipFill>
                <a:blip r:embed="rId3"/>
                <a:stretch>
                  <a:fillRect l="-316" r="-264" b="-19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-105325" y="3816340"/>
            <a:ext cx="6012672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Для этого мы формально решаем такую задачу оптимизации: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270" y="4178362"/>
            <a:ext cx="2539429" cy="503111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Прямоугольник 5"/>
              <p:cNvSpPr/>
              <p:nvPr/>
            </p:nvSpPr>
            <p:spPr>
              <a:xfrm>
                <a:off x="438912" y="4681473"/>
                <a:ext cx="11503152" cy="13653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и понятно, что решение находится в детерминированной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𝜋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𝑠</m:t>
                          </m:r>
                        </m:e>
                      </m:d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arg</m:t>
                      </m:r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𝑄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p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</m:t>
                          </m:r>
                        </m:e>
                      </m:func>
                      <m:r>
                        <m:rPr>
                          <m:sty m:val="p"/>
                        </m:rP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arg</m:t>
                      </m:r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𝐴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p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𝑠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,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𝑎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Конечно, мы так не получим «за один ход» сразу оптимальную стратегию, поскольку выбор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сколь угодно хитро может изменить распределение траекторий, но тем не менее.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4681473"/>
                <a:ext cx="11503152" cy="1365310"/>
              </a:xfrm>
              <a:prstGeom prst="rect">
                <a:avLst/>
              </a:prstGeom>
              <a:blipFill>
                <a:blip r:embed="rId5"/>
                <a:stretch>
                  <a:fillRect l="-265" r="-265" b="-31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12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0" y="234797"/>
                <a:ext cx="11091672" cy="3877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Пример: Попробуем улучшить стратегию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из рассмотренного примера, γ = 0.8.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4797"/>
                <a:ext cx="11091672" cy="387798"/>
              </a:xfrm>
              <a:prstGeom prst="rect">
                <a:avLst/>
              </a:prstGeom>
              <a:blipFill>
                <a:blip r:embed="rId2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/>
          <p:cNvPicPr/>
          <p:nvPr/>
        </p:nvPicPr>
        <p:blipFill rotWithShape="1">
          <a:blip r:embed="rId3"/>
          <a:srcRect l="21567" t="27497" r="21515" b="61871"/>
          <a:stretch/>
        </p:blipFill>
        <p:spPr bwMode="auto">
          <a:xfrm>
            <a:off x="592899" y="940226"/>
            <a:ext cx="5387784" cy="66109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Рисунок 3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872" y="1834410"/>
            <a:ext cx="3718941" cy="363919"/>
          </a:xfrm>
          <a:prstGeom prst="rect">
            <a:avLst/>
          </a:prstGeom>
          <a:noFill/>
        </p:spPr>
      </p:pic>
      <p:pic>
        <p:nvPicPr>
          <p:cNvPr id="5" name="Рисунок 4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6" t="3485" b="71578"/>
          <a:stretch/>
        </p:blipFill>
        <p:spPr bwMode="auto">
          <a:xfrm>
            <a:off x="512064" y="2431414"/>
            <a:ext cx="5549455" cy="115303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3449" y="940226"/>
            <a:ext cx="4572168" cy="399077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3" y="3817532"/>
            <a:ext cx="5687613" cy="276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6653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603</Words>
  <Application>Microsoft Office PowerPoint</Application>
  <PresentationFormat>Широкоэкранный</PresentationFormat>
  <Paragraphs>101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Times New Roman</vt:lpstr>
      <vt:lpstr>Тема Office</vt:lpstr>
      <vt:lpstr>Классическая теория 1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ALEKSEY</dc:creator>
  <cp:lastModifiedBy>ALEKSEY</cp:lastModifiedBy>
  <cp:revision>51</cp:revision>
  <dcterms:created xsi:type="dcterms:W3CDTF">2020-10-06T14:10:24Z</dcterms:created>
  <dcterms:modified xsi:type="dcterms:W3CDTF">2023-10-07T06:46:12Z</dcterms:modified>
</cp:coreProperties>
</file>